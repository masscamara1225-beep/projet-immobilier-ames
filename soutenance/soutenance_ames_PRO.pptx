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Bonjour. Nous présentons notre enquête sur le prix des maisons à Ames, Iowa.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temps : le jeu de données, la démarche complète, et des conclusions utiles aux acteurs du marché.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Premier temps : le contexte de la ville et le problème posé.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Ames : ville universitaire de l'Iowa. Notre échantillon : 1 460 transactions entre 2006 et 2010, en pleine crise des subprimes.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maison peut valoir 21 fois plus qu'une autre, dans la même ville. Les deux cercles sont à l'échelle : c'est cette dispersion qui justifie l'enquête.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Notre question centrale, à laquelle chaque acte de l'enquête apporte un élément de réponse.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Deuxième temps : le jeu de données lui-même.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dataset de référence publié par Dean De Cock en 2011, support de la compétition Kaggle. 80 variables explicatives plus le prix de vente.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repères : prix médian 163 000 dollars, Northridge Heights à 315 000, surface médiane 1 515 pieds carrés, qualité 6,1, amplitude fois 21.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principe : le vide n'est pas toujours un manque. Deux variables créées, deux outliers retirés pour la modélisation.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Troisième temps : nos choix de visualisation et la modélisation.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forme visuelle a été choisie pour la nature de la donnée. Le principe directeur : minimiser la charge cognitive.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L'enquête en cinq actes : quoi se vend, où, le rôle de l'environnement, les vrais facteurs, et l'évolution dans le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modèles comparés — en barres, à l'échelle : le Random Forest domine avec 28 324 dollars d'erreur. 87,8 % de variance expliquée. Pour Kaggle, XGBoost obtient 0,12714.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 recommandations, une par profil d'acteur — chacune ancrée dans un chiffre de l'analyse.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Limites assumées : la fenêtre 2006-2010, l'année 2010 partielle. Perspective : actualiser avec des données récentes.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vers la démonstration en direct du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77724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" y="77724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5" name="Shape 3"/>
          <p:cNvSpPr/>
          <p:nvPr/>
        </p:nvSpPr>
        <p:spPr>
          <a:xfrm>
            <a:off x="1243584" y="77724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6" name="Shape 4"/>
          <p:cNvSpPr/>
          <p:nvPr/>
        </p:nvSpPr>
        <p:spPr>
          <a:xfrm>
            <a:off x="1399032" y="77724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77724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93268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93268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93268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11" name="Shape 9"/>
          <p:cNvSpPr/>
          <p:nvPr/>
        </p:nvSpPr>
        <p:spPr>
          <a:xfrm>
            <a:off x="1243584" y="93268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12" name="Shape 10"/>
          <p:cNvSpPr/>
          <p:nvPr/>
        </p:nvSpPr>
        <p:spPr>
          <a:xfrm>
            <a:off x="1399032" y="93268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93268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08813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108813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8136" y="108813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17" name="Shape 15"/>
          <p:cNvSpPr/>
          <p:nvPr/>
        </p:nvSpPr>
        <p:spPr>
          <a:xfrm>
            <a:off x="1243584" y="108813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18" name="Shape 16"/>
          <p:cNvSpPr/>
          <p:nvPr/>
        </p:nvSpPr>
        <p:spPr>
          <a:xfrm>
            <a:off x="1399032" y="108813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108813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97312" y="539496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52760" y="539496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08208" y="539496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63656" y="539496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19104" y="539496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74552" y="539496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97312" y="555040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52760" y="555040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08208" y="555040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63656" y="555040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19104" y="555040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74552" y="555040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97312" y="570585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52760" y="570585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4" name="Shape 32"/>
          <p:cNvSpPr/>
          <p:nvPr/>
        </p:nvSpPr>
        <p:spPr>
          <a:xfrm>
            <a:off x="10808208" y="570585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63656" y="570585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6" name="Shape 34"/>
          <p:cNvSpPr/>
          <p:nvPr/>
        </p:nvSpPr>
        <p:spPr>
          <a:xfrm>
            <a:off x="11119104" y="570585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74552" y="5705856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18288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UFRMI · MODULE VISUALISATION DE DONNÉES · 2025-2026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31520" y="2212848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 Ames</a:t>
            </a:r>
            <a:pPr indent="0" marL="0">
              <a:buNone/>
            </a:pPr>
            <a:r>
              <a:rPr lang="en-US" sz="74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400" dirty="0"/>
          </a:p>
        </p:txBody>
      </p:sp>
      <p:sp>
        <p:nvSpPr>
          <p:cNvPr id="40" name="Text 38"/>
          <p:cNvSpPr/>
          <p:nvPr/>
        </p:nvSpPr>
        <p:spPr>
          <a:xfrm>
            <a:off x="777240" y="363931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sur le prix des maisons</a:t>
            </a:r>
            <a:endParaRPr lang="en-US" sz="2100" dirty="0"/>
          </a:p>
        </p:txBody>
      </p:sp>
      <p:sp>
        <p:nvSpPr>
          <p:cNvPr id="41" name="Shape 39"/>
          <p:cNvSpPr/>
          <p:nvPr/>
        </p:nvSpPr>
        <p:spPr>
          <a:xfrm>
            <a:off x="777240" y="4526280"/>
            <a:ext cx="4754880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CAMARA Massaram</a:t>
            </a:r>
            <a:pPr indent="0" marL="0">
              <a:buNone/>
            </a:pPr>
            <a:r>
              <a:rPr lang="en-US" sz="15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 Axelle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77240" y="5120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4 · Sous l'encadrement du Dr. Kacoutchy Jean Ayikpa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GÉNÉRAL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2258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D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777240" y="2880360"/>
            <a:ext cx="329184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0083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 Housing Dataset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77240" y="3429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Enquête statistique approfondie sur le marché immobilier de l'Iowa.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48556" y="2258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D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4448556" y="2880360"/>
            <a:ext cx="329184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8556" y="30083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piliers clés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448556" y="3429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rigoureux, exploration visuelle et modélisation prédictive.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119872" y="22585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3D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8119872" y="2880360"/>
            <a:ext cx="329184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19872" y="30083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final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8119872" y="3429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Dégager des conclusions claires et d'intérêt stratégique.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_r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8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 AMES · ENQUÊTE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22376" y="169164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0" dirty="0"/>
          </a:p>
        </p:txBody>
      </p:sp>
      <p:sp>
        <p:nvSpPr>
          <p:cNvPr id="5" name="Shape 2"/>
          <p:cNvSpPr/>
          <p:nvPr/>
        </p:nvSpPr>
        <p:spPr>
          <a:xfrm>
            <a:off x="795528" y="3977640"/>
            <a:ext cx="1463040" cy="0"/>
          </a:xfrm>
          <a:prstGeom prst="line">
            <a:avLst/>
          </a:prstGeom>
          <a:noFill/>
          <a:ln w="31750">
            <a:solidFill>
              <a:srgbClr val="E872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16052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problème</a:t>
            </a:r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777240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8" name="Shape 5"/>
          <p:cNvSpPr/>
          <p:nvPr/>
        </p:nvSpPr>
        <p:spPr>
          <a:xfrm>
            <a:off x="932688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9" name="Shape 6"/>
          <p:cNvSpPr/>
          <p:nvPr/>
        </p:nvSpPr>
        <p:spPr>
          <a:xfrm>
            <a:off x="1088136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0" name="Shape 7"/>
          <p:cNvSpPr/>
          <p:nvPr/>
        </p:nvSpPr>
        <p:spPr>
          <a:xfrm>
            <a:off x="1243584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1" name="Shape 8"/>
          <p:cNvSpPr/>
          <p:nvPr/>
        </p:nvSpPr>
        <p:spPr>
          <a:xfrm>
            <a:off x="1399032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2" name="Shape 9"/>
          <p:cNvSpPr/>
          <p:nvPr/>
        </p:nvSpPr>
        <p:spPr>
          <a:xfrm>
            <a:off x="1554480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3" name="Shape 10"/>
          <p:cNvSpPr/>
          <p:nvPr/>
        </p:nvSpPr>
        <p:spPr>
          <a:xfrm>
            <a:off x="1709928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4" name="Shape 11"/>
          <p:cNvSpPr/>
          <p:nvPr/>
        </p:nvSpPr>
        <p:spPr>
          <a:xfrm>
            <a:off x="1865376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6" name="Shape 13"/>
          <p:cNvSpPr/>
          <p:nvPr/>
        </p:nvSpPr>
        <p:spPr>
          <a:xfrm>
            <a:off x="932688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7" name="Shape 14"/>
          <p:cNvSpPr/>
          <p:nvPr/>
        </p:nvSpPr>
        <p:spPr>
          <a:xfrm>
            <a:off x="1088136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8" name="Shape 15"/>
          <p:cNvSpPr/>
          <p:nvPr/>
        </p:nvSpPr>
        <p:spPr>
          <a:xfrm>
            <a:off x="1243584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9" name="Shape 16"/>
          <p:cNvSpPr/>
          <p:nvPr/>
        </p:nvSpPr>
        <p:spPr>
          <a:xfrm>
            <a:off x="1399032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0" name="Shape 17"/>
          <p:cNvSpPr/>
          <p:nvPr/>
        </p:nvSpPr>
        <p:spPr>
          <a:xfrm>
            <a:off x="1554480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1" name="Shape 18"/>
          <p:cNvSpPr/>
          <p:nvPr/>
        </p:nvSpPr>
        <p:spPr>
          <a:xfrm>
            <a:off x="1709928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2" name="Shape 19"/>
          <p:cNvSpPr/>
          <p:nvPr/>
        </p:nvSpPr>
        <p:spPr>
          <a:xfrm>
            <a:off x="1865376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3" name="Shape 20"/>
          <p:cNvSpPr/>
          <p:nvPr/>
        </p:nvSpPr>
        <p:spPr>
          <a:xfrm>
            <a:off x="128016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4" name="Shape 21"/>
          <p:cNvSpPr/>
          <p:nvPr/>
        </p:nvSpPr>
        <p:spPr>
          <a:xfrm>
            <a:off x="138531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5" name="Shape 22"/>
          <p:cNvSpPr/>
          <p:nvPr/>
        </p:nvSpPr>
        <p:spPr>
          <a:xfrm>
            <a:off x="1490472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26" name="Shape 23"/>
          <p:cNvSpPr/>
          <p:nvPr/>
        </p:nvSpPr>
        <p:spPr>
          <a:xfrm>
            <a:off x="159562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7" name="Shape 24"/>
          <p:cNvSpPr/>
          <p:nvPr/>
        </p:nvSpPr>
        <p:spPr>
          <a:xfrm>
            <a:off x="170078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8" name="Shape 25"/>
          <p:cNvSpPr/>
          <p:nvPr/>
        </p:nvSpPr>
        <p:spPr>
          <a:xfrm>
            <a:off x="180594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9" name="Shape 26"/>
          <p:cNvSpPr/>
          <p:nvPr/>
        </p:nvSpPr>
        <p:spPr>
          <a:xfrm>
            <a:off x="191109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0" name="Shape 27"/>
          <p:cNvSpPr/>
          <p:nvPr/>
        </p:nvSpPr>
        <p:spPr>
          <a:xfrm>
            <a:off x="2016252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1" name="Shape 28"/>
          <p:cNvSpPr/>
          <p:nvPr/>
        </p:nvSpPr>
        <p:spPr>
          <a:xfrm>
            <a:off x="212140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2" name="Shape 29"/>
          <p:cNvSpPr/>
          <p:nvPr/>
        </p:nvSpPr>
        <p:spPr>
          <a:xfrm>
            <a:off x="222656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3" name="Shape 30"/>
          <p:cNvSpPr/>
          <p:nvPr/>
        </p:nvSpPr>
        <p:spPr>
          <a:xfrm>
            <a:off x="233172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4" name="Shape 31"/>
          <p:cNvSpPr/>
          <p:nvPr/>
        </p:nvSpPr>
        <p:spPr>
          <a:xfrm>
            <a:off x="243687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5" name="Shape 32"/>
          <p:cNvSpPr/>
          <p:nvPr/>
        </p:nvSpPr>
        <p:spPr>
          <a:xfrm>
            <a:off x="2542032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6" name="Shape 33"/>
          <p:cNvSpPr/>
          <p:nvPr/>
        </p:nvSpPr>
        <p:spPr>
          <a:xfrm>
            <a:off x="264718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7" name="Shape 34"/>
          <p:cNvSpPr/>
          <p:nvPr/>
        </p:nvSpPr>
        <p:spPr>
          <a:xfrm>
            <a:off x="275234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8" name="Shape 35"/>
          <p:cNvSpPr/>
          <p:nvPr/>
        </p:nvSpPr>
        <p:spPr>
          <a:xfrm>
            <a:off x="285750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9" name="Shape 36"/>
          <p:cNvSpPr/>
          <p:nvPr/>
        </p:nvSpPr>
        <p:spPr>
          <a:xfrm>
            <a:off x="296265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0" name="Text 37"/>
          <p:cNvSpPr/>
          <p:nvPr/>
        </p:nvSpPr>
        <p:spPr>
          <a:xfrm>
            <a:off x="777240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TERRITOIRE D'ÉTUDE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 &amp; Échantillon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237744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25054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Ames, Iowa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77240" y="2926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 universitaire du Midwest, centrée sur l'Iowa State University.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82512" y="237744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25054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~65 000 habitants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382512" y="2926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ville moyenne, 25 quartiers aux profils très contrastés.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77240" y="420624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3342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 – 2010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77240" y="47548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marquée par la crise des subprimes.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82512" y="420624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43342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1 460 transactions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6382512" y="47548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 de ventes exhaustif du dataset Kaggle House Prices.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DISPERSION DES PRIX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Étendue du Marché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1874520"/>
            <a:ext cx="10360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×21</a:t>
            </a:r>
            <a:endParaRPr lang="en-US" sz="9600" dirty="0"/>
          </a:p>
        </p:txBody>
      </p:sp>
      <p:sp>
        <p:nvSpPr>
          <p:cNvPr id="26" name="Text 24"/>
          <p:cNvSpPr/>
          <p:nvPr/>
        </p:nvSpPr>
        <p:spPr>
          <a:xfrm>
            <a:off x="914400" y="33832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la maison la moins chère et la plus chère de la même ville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108960" y="4709160"/>
            <a:ext cx="5669280" cy="0"/>
          </a:xfrm>
          <a:prstGeom prst="line">
            <a:avLst/>
          </a:prstGeom>
          <a:noFill/>
          <a:ln w="19050">
            <a:solidFill>
              <a:srgbClr val="E7E2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08376" y="4608576"/>
            <a:ext cx="201168" cy="201168"/>
          </a:xfrm>
          <a:prstGeom prst="ellipse">
            <a:avLst/>
          </a:prstGeom>
          <a:solidFill>
            <a:srgbClr val="18181E"/>
          </a:solidFill>
          <a:ln/>
        </p:spPr>
      </p:sp>
      <p:sp>
        <p:nvSpPr>
          <p:cNvPr id="29" name="Shape 27"/>
          <p:cNvSpPr/>
          <p:nvPr/>
        </p:nvSpPr>
        <p:spPr>
          <a:xfrm>
            <a:off x="8311077" y="4241997"/>
            <a:ext cx="934326" cy="934326"/>
          </a:xfrm>
          <a:prstGeom prst="ellipse">
            <a:avLst/>
          </a:prstGeom>
          <a:solidFill>
            <a:srgbClr val="E8721C"/>
          </a:solidFill>
          <a:ln/>
        </p:spPr>
      </p:sp>
      <p:sp>
        <p:nvSpPr>
          <p:cNvPr id="30" name="Text 28"/>
          <p:cNvSpPr/>
          <p:nvPr/>
        </p:nvSpPr>
        <p:spPr>
          <a:xfrm>
            <a:off x="2194560" y="4965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35 000 $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63840" y="5286051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755 000 $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4400" y="5806440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à l'échelle : chaque cercle est proportionnel au prix.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INTERROGATION CLÉ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Majeure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2743200"/>
            <a:ext cx="9994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qui détermine réellement</a:t>
            </a:r>
            <a:endParaRPr lang="en-US" sz="34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d'une maison</a:t>
            </a:r>
            <a:endParaRPr lang="en-US" sz="3400" dirty="0"/>
          </a:p>
          <a:p>
            <a:pPr algn="ctr"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?</a:t>
            </a:r>
            <a:endParaRPr lang="en-US" sz="3400" dirty="0"/>
          </a:p>
        </p:txBody>
      </p:sp>
      <p:sp>
        <p:nvSpPr>
          <p:cNvPr id="26" name="Shape 24"/>
          <p:cNvSpPr/>
          <p:nvPr/>
        </p:nvSpPr>
        <p:spPr>
          <a:xfrm>
            <a:off x="777240" y="525780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7" name="Shape 25"/>
          <p:cNvSpPr/>
          <p:nvPr/>
        </p:nvSpPr>
        <p:spPr>
          <a:xfrm>
            <a:off x="932688" y="525780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8136" y="525780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29" name="Shape 27"/>
          <p:cNvSpPr/>
          <p:nvPr/>
        </p:nvSpPr>
        <p:spPr>
          <a:xfrm>
            <a:off x="1243584" y="525780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0" name="Shape 28"/>
          <p:cNvSpPr/>
          <p:nvPr/>
        </p:nvSpPr>
        <p:spPr>
          <a:xfrm>
            <a:off x="1399032" y="525780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1" name="Shape 29"/>
          <p:cNvSpPr/>
          <p:nvPr/>
        </p:nvSpPr>
        <p:spPr>
          <a:xfrm>
            <a:off x="1554480" y="525780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2" name="Shape 30"/>
          <p:cNvSpPr/>
          <p:nvPr/>
        </p:nvSpPr>
        <p:spPr>
          <a:xfrm>
            <a:off x="1709928" y="525780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3" name="Shape 31"/>
          <p:cNvSpPr/>
          <p:nvPr/>
        </p:nvSpPr>
        <p:spPr>
          <a:xfrm>
            <a:off x="1865376" y="5257800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4" name="Shape 32"/>
          <p:cNvSpPr/>
          <p:nvPr/>
        </p:nvSpPr>
        <p:spPr>
          <a:xfrm>
            <a:off x="777240" y="541324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5" name="Shape 33"/>
          <p:cNvSpPr/>
          <p:nvPr/>
        </p:nvSpPr>
        <p:spPr>
          <a:xfrm>
            <a:off x="932688" y="541324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6" name="Shape 34"/>
          <p:cNvSpPr/>
          <p:nvPr/>
        </p:nvSpPr>
        <p:spPr>
          <a:xfrm>
            <a:off x="1088136" y="541324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7" name="Shape 35"/>
          <p:cNvSpPr/>
          <p:nvPr/>
        </p:nvSpPr>
        <p:spPr>
          <a:xfrm>
            <a:off x="1243584" y="541324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8" name="Shape 36"/>
          <p:cNvSpPr/>
          <p:nvPr/>
        </p:nvSpPr>
        <p:spPr>
          <a:xfrm>
            <a:off x="1399032" y="541324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39" name="Shape 37"/>
          <p:cNvSpPr/>
          <p:nvPr/>
        </p:nvSpPr>
        <p:spPr>
          <a:xfrm>
            <a:off x="1554480" y="541324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40" name="Shape 38"/>
          <p:cNvSpPr/>
          <p:nvPr/>
        </p:nvSpPr>
        <p:spPr>
          <a:xfrm>
            <a:off x="1709928" y="541324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  <p:sp>
        <p:nvSpPr>
          <p:cNvPr id="41" name="Shape 39"/>
          <p:cNvSpPr/>
          <p:nvPr/>
        </p:nvSpPr>
        <p:spPr>
          <a:xfrm>
            <a:off x="1865376" y="5413248"/>
            <a:ext cx="41148" cy="41148"/>
          </a:xfrm>
          <a:prstGeom prst="ellipse">
            <a:avLst/>
          </a:prstGeom>
          <a:solidFill>
            <a:srgbClr val="F3DEC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_d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8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 AMES · ENQUÊTE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22376" y="169164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0" dirty="0"/>
          </a:p>
        </p:txBody>
      </p:sp>
      <p:sp>
        <p:nvSpPr>
          <p:cNvPr id="5" name="Shape 2"/>
          <p:cNvSpPr/>
          <p:nvPr/>
        </p:nvSpPr>
        <p:spPr>
          <a:xfrm>
            <a:off x="795528" y="3977640"/>
            <a:ext cx="1463040" cy="0"/>
          </a:xfrm>
          <a:prstGeom prst="line">
            <a:avLst/>
          </a:prstGeom>
          <a:noFill/>
          <a:ln w="31750">
            <a:solidFill>
              <a:srgbClr val="E872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16052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données</a:t>
            </a:r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777240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8" name="Shape 5"/>
          <p:cNvSpPr/>
          <p:nvPr/>
        </p:nvSpPr>
        <p:spPr>
          <a:xfrm>
            <a:off x="932688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9" name="Shape 6"/>
          <p:cNvSpPr/>
          <p:nvPr/>
        </p:nvSpPr>
        <p:spPr>
          <a:xfrm>
            <a:off x="1088136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0" name="Shape 7"/>
          <p:cNvSpPr/>
          <p:nvPr/>
        </p:nvSpPr>
        <p:spPr>
          <a:xfrm>
            <a:off x="1243584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1" name="Shape 8"/>
          <p:cNvSpPr/>
          <p:nvPr/>
        </p:nvSpPr>
        <p:spPr>
          <a:xfrm>
            <a:off x="1399032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2" name="Shape 9"/>
          <p:cNvSpPr/>
          <p:nvPr/>
        </p:nvSpPr>
        <p:spPr>
          <a:xfrm>
            <a:off x="1554480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3" name="Shape 10"/>
          <p:cNvSpPr/>
          <p:nvPr/>
        </p:nvSpPr>
        <p:spPr>
          <a:xfrm>
            <a:off x="1709928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4" name="Shape 11"/>
          <p:cNvSpPr/>
          <p:nvPr/>
        </p:nvSpPr>
        <p:spPr>
          <a:xfrm>
            <a:off x="1865376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6" name="Shape 13"/>
          <p:cNvSpPr/>
          <p:nvPr/>
        </p:nvSpPr>
        <p:spPr>
          <a:xfrm>
            <a:off x="932688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7" name="Shape 14"/>
          <p:cNvSpPr/>
          <p:nvPr/>
        </p:nvSpPr>
        <p:spPr>
          <a:xfrm>
            <a:off x="1088136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8" name="Shape 15"/>
          <p:cNvSpPr/>
          <p:nvPr/>
        </p:nvSpPr>
        <p:spPr>
          <a:xfrm>
            <a:off x="1243584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9" name="Shape 16"/>
          <p:cNvSpPr/>
          <p:nvPr/>
        </p:nvSpPr>
        <p:spPr>
          <a:xfrm>
            <a:off x="1399032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0" name="Shape 17"/>
          <p:cNvSpPr/>
          <p:nvPr/>
        </p:nvSpPr>
        <p:spPr>
          <a:xfrm>
            <a:off x="1554480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1" name="Shape 18"/>
          <p:cNvSpPr/>
          <p:nvPr/>
        </p:nvSpPr>
        <p:spPr>
          <a:xfrm>
            <a:off x="1709928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2" name="Shape 19"/>
          <p:cNvSpPr/>
          <p:nvPr/>
        </p:nvSpPr>
        <p:spPr>
          <a:xfrm>
            <a:off x="1865376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3" name="Shape 20"/>
          <p:cNvSpPr/>
          <p:nvPr/>
        </p:nvSpPr>
        <p:spPr>
          <a:xfrm>
            <a:off x="128016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4" name="Shape 21"/>
          <p:cNvSpPr/>
          <p:nvPr/>
        </p:nvSpPr>
        <p:spPr>
          <a:xfrm>
            <a:off x="138531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5" name="Shape 22"/>
          <p:cNvSpPr/>
          <p:nvPr/>
        </p:nvSpPr>
        <p:spPr>
          <a:xfrm>
            <a:off x="1490472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6" name="Shape 23"/>
          <p:cNvSpPr/>
          <p:nvPr/>
        </p:nvSpPr>
        <p:spPr>
          <a:xfrm>
            <a:off x="159562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7" name="Shape 24"/>
          <p:cNvSpPr/>
          <p:nvPr/>
        </p:nvSpPr>
        <p:spPr>
          <a:xfrm>
            <a:off x="170078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8" name="Shape 25"/>
          <p:cNvSpPr/>
          <p:nvPr/>
        </p:nvSpPr>
        <p:spPr>
          <a:xfrm>
            <a:off x="180594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9" name="Shape 26"/>
          <p:cNvSpPr/>
          <p:nvPr/>
        </p:nvSpPr>
        <p:spPr>
          <a:xfrm>
            <a:off x="1911096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30" name="Shape 27"/>
          <p:cNvSpPr/>
          <p:nvPr/>
        </p:nvSpPr>
        <p:spPr>
          <a:xfrm>
            <a:off x="2016252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1" name="Shape 28"/>
          <p:cNvSpPr/>
          <p:nvPr/>
        </p:nvSpPr>
        <p:spPr>
          <a:xfrm>
            <a:off x="212140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2" name="Shape 29"/>
          <p:cNvSpPr/>
          <p:nvPr/>
        </p:nvSpPr>
        <p:spPr>
          <a:xfrm>
            <a:off x="222656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3" name="Shape 30"/>
          <p:cNvSpPr/>
          <p:nvPr/>
        </p:nvSpPr>
        <p:spPr>
          <a:xfrm>
            <a:off x="233172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4" name="Shape 31"/>
          <p:cNvSpPr/>
          <p:nvPr/>
        </p:nvSpPr>
        <p:spPr>
          <a:xfrm>
            <a:off x="243687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5" name="Shape 32"/>
          <p:cNvSpPr/>
          <p:nvPr/>
        </p:nvSpPr>
        <p:spPr>
          <a:xfrm>
            <a:off x="2542032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6" name="Shape 33"/>
          <p:cNvSpPr/>
          <p:nvPr/>
        </p:nvSpPr>
        <p:spPr>
          <a:xfrm>
            <a:off x="264718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7" name="Shape 34"/>
          <p:cNvSpPr/>
          <p:nvPr/>
        </p:nvSpPr>
        <p:spPr>
          <a:xfrm>
            <a:off x="275234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8" name="Shape 35"/>
          <p:cNvSpPr/>
          <p:nvPr/>
        </p:nvSpPr>
        <p:spPr>
          <a:xfrm>
            <a:off x="285750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9" name="Shape 36"/>
          <p:cNvSpPr/>
          <p:nvPr/>
        </p:nvSpPr>
        <p:spPr>
          <a:xfrm>
            <a:off x="296265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0" name="Text 37"/>
          <p:cNvSpPr/>
          <p:nvPr/>
        </p:nvSpPr>
        <p:spPr>
          <a:xfrm>
            <a:off x="777240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SOURCES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Anatomie du Dataset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ORIGINES DE L'ENQUÊTE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251460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6426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 De Cock (2011)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77240" y="3063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académique devenue référence.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" y="406908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1970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House Prices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77240" y="4617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Compétition de régression de premier plan.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82512" y="2148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INTERNE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82512" y="251460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264261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variables + 1 cible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382512" y="30632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Descriptif complet de chaque bien, plus SalePrice.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82512" y="406908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82512" y="41970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quantitatives · 43 qualitatives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382512" y="4617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typologie équilibrée, traitée selon sa nature.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GLOBALES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Référence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2926080"/>
            <a:ext cx="196596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0540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163 000 $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77240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MÉDIAN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44368" y="2926080"/>
            <a:ext cx="196596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44368" y="30540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315 000 $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2944368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QUARTIER MAX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111496" y="2926080"/>
            <a:ext cx="196596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11496" y="30540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1 515 ft²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5111496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MÉDIANE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278624" y="2926080"/>
            <a:ext cx="196596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78624" y="30540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 / 10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7278624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MOYENNE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445752" y="2926080"/>
            <a:ext cx="196596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45752" y="305409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×21</a:t>
            </a:r>
            <a:endParaRPr lang="en-US" sz="2100" dirty="0"/>
          </a:p>
        </p:txBody>
      </p:sp>
      <p:sp>
        <p:nvSpPr>
          <p:cNvPr id="39" name="Text 37"/>
          <p:cNvSpPr/>
          <p:nvPr/>
        </p:nvSpPr>
        <p:spPr>
          <a:xfrm>
            <a:off x="9445752" y="3611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des Données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RIGOUREUX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260604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7340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vide n'est pas un manque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77240" y="3154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Recodage en catégorie « Absent » pour l'absence d'équipements.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82512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INGÉNIERIE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82512" y="260604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82512" y="27340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créées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382512" y="3154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nouveaux indices créés et 2 valeurs aberrantes retirées.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7240" y="5440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complet dans le dashboard · Acte 0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_d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0"/>
            <a:ext cx="57881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502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8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IMMOBILIER AMES · ENQUÊTE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22376" y="169164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0" dirty="0"/>
          </a:p>
        </p:txBody>
      </p:sp>
      <p:sp>
        <p:nvSpPr>
          <p:cNvPr id="5" name="Shape 2"/>
          <p:cNvSpPr/>
          <p:nvPr/>
        </p:nvSpPr>
        <p:spPr>
          <a:xfrm>
            <a:off x="795528" y="3977640"/>
            <a:ext cx="1463040" cy="0"/>
          </a:xfrm>
          <a:prstGeom prst="line">
            <a:avLst/>
          </a:prstGeom>
          <a:noFill/>
          <a:ln w="31750">
            <a:solidFill>
              <a:srgbClr val="E8721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4160520"/>
            <a:ext cx="4480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et modèles</a:t>
            </a:r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777240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8" name="Shape 5"/>
          <p:cNvSpPr/>
          <p:nvPr/>
        </p:nvSpPr>
        <p:spPr>
          <a:xfrm>
            <a:off x="932688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9" name="Shape 6"/>
          <p:cNvSpPr/>
          <p:nvPr/>
        </p:nvSpPr>
        <p:spPr>
          <a:xfrm>
            <a:off x="1088136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0" name="Shape 7"/>
          <p:cNvSpPr/>
          <p:nvPr/>
        </p:nvSpPr>
        <p:spPr>
          <a:xfrm>
            <a:off x="1243584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1" name="Shape 8"/>
          <p:cNvSpPr/>
          <p:nvPr/>
        </p:nvSpPr>
        <p:spPr>
          <a:xfrm>
            <a:off x="1399032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2" name="Shape 9"/>
          <p:cNvSpPr/>
          <p:nvPr/>
        </p:nvSpPr>
        <p:spPr>
          <a:xfrm>
            <a:off x="1554480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3" name="Shape 10"/>
          <p:cNvSpPr/>
          <p:nvPr/>
        </p:nvSpPr>
        <p:spPr>
          <a:xfrm>
            <a:off x="1709928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4" name="Shape 11"/>
          <p:cNvSpPr/>
          <p:nvPr/>
        </p:nvSpPr>
        <p:spPr>
          <a:xfrm>
            <a:off x="1865376" y="58064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5" name="Shape 12"/>
          <p:cNvSpPr/>
          <p:nvPr/>
        </p:nvSpPr>
        <p:spPr>
          <a:xfrm>
            <a:off x="777240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6" name="Shape 13"/>
          <p:cNvSpPr/>
          <p:nvPr/>
        </p:nvSpPr>
        <p:spPr>
          <a:xfrm>
            <a:off x="932688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7" name="Shape 14"/>
          <p:cNvSpPr/>
          <p:nvPr/>
        </p:nvSpPr>
        <p:spPr>
          <a:xfrm>
            <a:off x="1088136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8" name="Shape 15"/>
          <p:cNvSpPr/>
          <p:nvPr/>
        </p:nvSpPr>
        <p:spPr>
          <a:xfrm>
            <a:off x="1243584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9" name="Shape 16"/>
          <p:cNvSpPr/>
          <p:nvPr/>
        </p:nvSpPr>
        <p:spPr>
          <a:xfrm>
            <a:off x="1399032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0" name="Shape 17"/>
          <p:cNvSpPr/>
          <p:nvPr/>
        </p:nvSpPr>
        <p:spPr>
          <a:xfrm>
            <a:off x="1554480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1" name="Shape 18"/>
          <p:cNvSpPr/>
          <p:nvPr/>
        </p:nvSpPr>
        <p:spPr>
          <a:xfrm>
            <a:off x="1709928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2" name="Shape 19"/>
          <p:cNvSpPr/>
          <p:nvPr/>
        </p:nvSpPr>
        <p:spPr>
          <a:xfrm>
            <a:off x="1865376" y="59618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3" name="Shape 20"/>
          <p:cNvSpPr/>
          <p:nvPr/>
        </p:nvSpPr>
        <p:spPr>
          <a:xfrm>
            <a:off x="128016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4" name="Shape 21"/>
          <p:cNvSpPr/>
          <p:nvPr/>
        </p:nvSpPr>
        <p:spPr>
          <a:xfrm>
            <a:off x="138531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5" name="Shape 22"/>
          <p:cNvSpPr/>
          <p:nvPr/>
        </p:nvSpPr>
        <p:spPr>
          <a:xfrm>
            <a:off x="1490472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6" name="Shape 23"/>
          <p:cNvSpPr/>
          <p:nvPr/>
        </p:nvSpPr>
        <p:spPr>
          <a:xfrm>
            <a:off x="159562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7" name="Shape 24"/>
          <p:cNvSpPr/>
          <p:nvPr/>
        </p:nvSpPr>
        <p:spPr>
          <a:xfrm>
            <a:off x="170078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8" name="Shape 25"/>
          <p:cNvSpPr/>
          <p:nvPr/>
        </p:nvSpPr>
        <p:spPr>
          <a:xfrm>
            <a:off x="180594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29" name="Shape 26"/>
          <p:cNvSpPr/>
          <p:nvPr/>
        </p:nvSpPr>
        <p:spPr>
          <a:xfrm>
            <a:off x="191109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0" name="Shape 27"/>
          <p:cNvSpPr/>
          <p:nvPr/>
        </p:nvSpPr>
        <p:spPr>
          <a:xfrm>
            <a:off x="2016252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1" name="Shape 28"/>
          <p:cNvSpPr/>
          <p:nvPr/>
        </p:nvSpPr>
        <p:spPr>
          <a:xfrm>
            <a:off x="212140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2" name="Shape 29"/>
          <p:cNvSpPr/>
          <p:nvPr/>
        </p:nvSpPr>
        <p:spPr>
          <a:xfrm>
            <a:off x="222656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3" name="Shape 30"/>
          <p:cNvSpPr/>
          <p:nvPr/>
        </p:nvSpPr>
        <p:spPr>
          <a:xfrm>
            <a:off x="2331720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34" name="Shape 31"/>
          <p:cNvSpPr/>
          <p:nvPr/>
        </p:nvSpPr>
        <p:spPr>
          <a:xfrm>
            <a:off x="243687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5" name="Shape 32"/>
          <p:cNvSpPr/>
          <p:nvPr/>
        </p:nvSpPr>
        <p:spPr>
          <a:xfrm>
            <a:off x="2542032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6" name="Shape 33"/>
          <p:cNvSpPr/>
          <p:nvPr/>
        </p:nvSpPr>
        <p:spPr>
          <a:xfrm>
            <a:off x="264718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7" name="Shape 34"/>
          <p:cNvSpPr/>
          <p:nvPr/>
        </p:nvSpPr>
        <p:spPr>
          <a:xfrm>
            <a:off x="275234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8" name="Shape 35"/>
          <p:cNvSpPr/>
          <p:nvPr/>
        </p:nvSpPr>
        <p:spPr>
          <a:xfrm>
            <a:off x="285750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39" name="Shape 36"/>
          <p:cNvSpPr/>
          <p:nvPr/>
        </p:nvSpPr>
        <p:spPr>
          <a:xfrm>
            <a:off x="296265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0" name="Text 37"/>
          <p:cNvSpPr/>
          <p:nvPr/>
        </p:nvSpPr>
        <p:spPr>
          <a:xfrm>
            <a:off x="777240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 ET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Graphique ?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7240" y="2221992"/>
            <a:ext cx="118872" cy="118872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26" name="Text 24"/>
          <p:cNvSpPr/>
          <p:nvPr/>
        </p:nvSpPr>
        <p:spPr>
          <a:xfrm>
            <a:off x="1078992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Histogramme</a:t>
            </a:r>
            <a:pPr indent="0" marL="0">
              <a:buNone/>
            </a:pPr>
            <a:r>
              <a:rPr lang="en-US" sz="13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forme d'une distribution globale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77240" y="2898648"/>
            <a:ext cx="118872" cy="118872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28" name="Text 26"/>
          <p:cNvSpPr/>
          <p:nvPr/>
        </p:nvSpPr>
        <p:spPr>
          <a:xfrm>
            <a:off x="1078992" y="27797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Violon</a:t>
            </a:r>
            <a:pPr indent="0" marL="0">
              <a:buNone/>
            </a:pPr>
            <a:r>
              <a:rPr lang="en-US" sz="13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comparaison de distributions par catégories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777240" y="3575304"/>
            <a:ext cx="118872" cy="118872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30" name="Text 28"/>
          <p:cNvSpPr/>
          <p:nvPr/>
        </p:nvSpPr>
        <p:spPr>
          <a:xfrm>
            <a:off x="1078992" y="34564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Sucette</a:t>
            </a:r>
            <a:pPr indent="0" marL="0">
              <a:buNone/>
            </a:pPr>
            <a:r>
              <a:rPr lang="en-US" sz="13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classement ordonné sans encombrement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77240" y="4251960"/>
            <a:ext cx="118872" cy="118872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32" name="Text 30"/>
          <p:cNvSpPr/>
          <p:nvPr/>
        </p:nvSpPr>
        <p:spPr>
          <a:xfrm>
            <a:off x="1078992" y="41330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Circulaire / gaufre</a:t>
            </a:r>
            <a:pPr indent="0" marL="0">
              <a:buNone/>
            </a:pPr>
            <a:r>
              <a:rPr lang="en-US" sz="13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affichage de proportions simples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77240" y="4928616"/>
            <a:ext cx="118872" cy="118872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34" name="Text 32"/>
          <p:cNvSpPr/>
          <p:nvPr/>
        </p:nvSpPr>
        <p:spPr>
          <a:xfrm>
            <a:off x="1078992" y="48097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Nuage de points</a:t>
            </a:r>
            <a:pPr indent="0" marL="0">
              <a:buNone/>
            </a:pPr>
            <a:r>
              <a:rPr lang="en-US" sz="13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mise en valeur d'une corrélation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217920" y="2221992"/>
            <a:ext cx="118872" cy="118872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36" name="Text 34"/>
          <p:cNvSpPr/>
          <p:nvPr/>
        </p:nvSpPr>
        <p:spPr>
          <a:xfrm>
            <a:off x="6519672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pPr indent="0" marL="0">
              <a:buNone/>
            </a:pPr>
            <a:r>
              <a:rPr lang="en-US" sz="13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cartographie des structures de corrélation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17920" y="2898648"/>
            <a:ext cx="118872" cy="118872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38" name="Text 36"/>
          <p:cNvSpPr/>
          <p:nvPr/>
        </p:nvSpPr>
        <p:spPr>
          <a:xfrm>
            <a:off x="6519672" y="277977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Dendrogramme</a:t>
            </a:r>
            <a:pPr indent="0" marL="0">
              <a:buNone/>
            </a:pPr>
            <a:r>
              <a:rPr lang="en-US" sz="13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visualisation de regroupements naturels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217920" y="3575304"/>
            <a:ext cx="118872" cy="118872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40" name="Text 38"/>
          <p:cNvSpPr/>
          <p:nvPr/>
        </p:nvSpPr>
        <p:spPr>
          <a:xfrm>
            <a:off x="6519672" y="345643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géographique</a:t>
            </a:r>
            <a:pPr indent="0" marL="0">
              <a:buNone/>
            </a:pPr>
            <a:r>
              <a:rPr lang="en-US" sz="13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localisation réelle des transactions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217920" y="4251960"/>
            <a:ext cx="118872" cy="118872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42" name="Text 40"/>
          <p:cNvSpPr/>
          <p:nvPr/>
        </p:nvSpPr>
        <p:spPr>
          <a:xfrm>
            <a:off x="6519672" y="41330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/ crêtes</a:t>
            </a:r>
            <a:pPr indent="0" marL="0">
              <a:buNone/>
            </a:pPr>
            <a:r>
              <a:rPr lang="en-US" sz="13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évolution temporelle et saisonnalité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77240" y="5532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principe : minimiser la charge cognitive du lecteur.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RÉCIT EN 5 ACTES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Trame Narrative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37360" y="3657600"/>
            <a:ext cx="8714232" cy="0"/>
          </a:xfrm>
          <a:prstGeom prst="line">
            <a:avLst/>
          </a:prstGeom>
          <a:noFill/>
          <a:ln w="25400">
            <a:solidFill>
              <a:srgbClr val="E7E2D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08176" y="3328416"/>
            <a:ext cx="658368" cy="658368"/>
          </a:xfrm>
          <a:prstGeom prst="ellipse">
            <a:avLst/>
          </a:prstGeom>
          <a:solidFill>
            <a:srgbClr val="E8721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8176" y="3328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31520" y="2606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586734" y="3328416"/>
            <a:ext cx="658368" cy="658368"/>
          </a:xfrm>
          <a:prstGeom prst="ellipse">
            <a:avLst/>
          </a:prstGeom>
          <a:solidFill>
            <a:srgbClr val="E8721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6734" y="3328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2910078" y="2606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2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10078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65292" y="3328416"/>
            <a:ext cx="658368" cy="658368"/>
          </a:xfrm>
          <a:prstGeom prst="ellipse">
            <a:avLst/>
          </a:prstGeom>
          <a:solidFill>
            <a:srgbClr val="E8721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5292" y="3328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088636" y="2606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3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88636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943850" y="3328416"/>
            <a:ext cx="658368" cy="658368"/>
          </a:xfrm>
          <a:prstGeom prst="ellipse">
            <a:avLst/>
          </a:prstGeom>
          <a:solidFill>
            <a:srgbClr val="E8721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43850" y="3328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7267194" y="2606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4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67194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122408" y="3328416"/>
            <a:ext cx="658368" cy="658368"/>
          </a:xfrm>
          <a:prstGeom prst="ellipse">
            <a:avLst/>
          </a:prstGeom>
          <a:solidFill>
            <a:srgbClr val="E8721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122408" y="332841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445752" y="26060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5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445752" y="4160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7240" y="55321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complet dans le dashboard.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PRÉDICTIVE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Modèles &amp; Performances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SUR DONNÉES DE VALIDATION — PLUS BAS = MEILLEUR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2240280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0" y="2286000"/>
            <a:ext cx="2639540" cy="329184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28" name="Text 26"/>
          <p:cNvSpPr/>
          <p:nvPr/>
        </p:nvSpPr>
        <p:spPr>
          <a:xfrm>
            <a:off x="5474180" y="22402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28 324 $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" y="2898648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Stepwise (AIC)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0" y="2944368"/>
            <a:ext cx="3042591" cy="329184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31" name="Text 29"/>
          <p:cNvSpPr/>
          <p:nvPr/>
        </p:nvSpPr>
        <p:spPr>
          <a:xfrm>
            <a:off x="5877231" y="28986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32 649 $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77240" y="3557016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0" y="3602736"/>
            <a:ext cx="3122549" cy="329184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34" name="Text 32"/>
          <p:cNvSpPr/>
          <p:nvPr/>
        </p:nvSpPr>
        <p:spPr>
          <a:xfrm>
            <a:off x="5957189" y="355701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33 507 $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77240" y="4215384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4261104"/>
            <a:ext cx="3222915" cy="329184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37" name="Text 35"/>
          <p:cNvSpPr/>
          <p:nvPr/>
        </p:nvSpPr>
        <p:spPr>
          <a:xfrm>
            <a:off x="6057555" y="421538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34 584 $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77240" y="48737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2743200" y="4919472"/>
            <a:ext cx="3246120" cy="329184"/>
          </a:xfrm>
          <a:prstGeom prst="rect">
            <a:avLst/>
          </a:prstGeom>
          <a:solidFill>
            <a:srgbClr val="D9D2C5"/>
          </a:solidFill>
          <a:ln/>
        </p:spPr>
      </p:sp>
      <p:sp>
        <p:nvSpPr>
          <p:cNvPr id="40" name="Text 38"/>
          <p:cNvSpPr/>
          <p:nvPr/>
        </p:nvSpPr>
        <p:spPr>
          <a:xfrm>
            <a:off x="6080760" y="487375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34 833 $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743200" y="2194560"/>
            <a:ext cx="0" cy="329184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35240" y="2331720"/>
            <a:ext cx="374904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35240" y="245973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87,8 %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763524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EXPLIQUÉE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635240" y="35021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des données jamais vues par le modèle.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635240" y="4160520"/>
            <a:ext cx="374904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4288536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0,12714</a:t>
            </a:r>
            <a:endParaRPr lang="en-US" sz="3400" dirty="0"/>
          </a:p>
        </p:txBody>
      </p:sp>
      <p:sp>
        <p:nvSpPr>
          <p:cNvPr id="48" name="Text 46"/>
          <p:cNvSpPr/>
          <p:nvPr/>
        </p:nvSpPr>
        <p:spPr>
          <a:xfrm>
            <a:off x="7635240" y="5029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KAGGLE (XGBOOST)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635240" y="53309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externe sur 1 459 biens du fichier test.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 À LA DÉCISION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2103120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2103120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Acheteur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520440" y="2103120"/>
            <a:ext cx="5852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Cibler les sous-évaluations : profils similaires à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400032" y="2103120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−30 %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77240" y="2770632"/>
            <a:ext cx="10634472" cy="0"/>
          </a:xfrm>
          <a:prstGeom prst="line">
            <a:avLst/>
          </a:prstGeom>
          <a:noFill/>
          <a:ln w="9525">
            <a:solidFill>
              <a:srgbClr val="E7E2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2770632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371600" y="2770632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Vendeur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20440" y="2770632"/>
            <a:ext cx="5852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Rénovation cuisine et extérieur : plus-value de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00032" y="2770632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+20 000 $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777240" y="3438144"/>
            <a:ext cx="10634472" cy="0"/>
          </a:xfrm>
          <a:prstGeom prst="line">
            <a:avLst/>
          </a:prstGeom>
          <a:noFill/>
          <a:ln w="9525">
            <a:solidFill>
              <a:srgbClr val="E7E2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3438144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371600" y="3438144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Investisseur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520440" y="3438144"/>
            <a:ext cx="5852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Saisir les ventes en condition anormale : décote de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400032" y="3438144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−18 %</a:t>
            </a:r>
            <a:endParaRPr lang="en-US" sz="1900" dirty="0"/>
          </a:p>
        </p:txBody>
      </p:sp>
      <p:sp>
        <p:nvSpPr>
          <p:cNvPr id="39" name="Shape 37"/>
          <p:cNvSpPr/>
          <p:nvPr/>
        </p:nvSpPr>
        <p:spPr>
          <a:xfrm>
            <a:off x="777240" y="4105656"/>
            <a:ext cx="10634472" cy="0"/>
          </a:xfrm>
          <a:prstGeom prst="line">
            <a:avLst/>
          </a:prstGeom>
          <a:noFill/>
          <a:ln w="9525">
            <a:solidFill>
              <a:srgbClr val="E7E2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4105656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371600" y="4105656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520440" y="4105656"/>
            <a:ext cx="5852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avec espaces verts intégrés : prime de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400032" y="4105656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+41 %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777240" y="4773168"/>
            <a:ext cx="10634472" cy="0"/>
          </a:xfrm>
          <a:prstGeom prst="line">
            <a:avLst/>
          </a:prstGeom>
          <a:noFill/>
          <a:ln w="9525">
            <a:solidFill>
              <a:srgbClr val="E7E2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4773168"/>
            <a:ext cx="5486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371600" y="4773168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Urbaniste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520440" y="4773168"/>
            <a:ext cx="58521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Valoriser le parc public : impact de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9400032" y="4773168"/>
            <a:ext cx="20116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M$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75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&amp; HORIZON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58952" y="768096"/>
            <a:ext cx="10607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pPr indent="0" marL="0">
              <a:buNone/>
            </a:pPr>
            <a:r>
              <a:rPr lang="en-US" sz="35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777240" y="1664208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6199632"/>
            <a:ext cx="10634472" cy="0"/>
          </a:xfrm>
          <a:prstGeom prst="line">
            <a:avLst/>
          </a:prstGeom>
          <a:noFill/>
          <a:ln w="12700">
            <a:solidFill>
              <a:srgbClr val="E7E2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UFHB · Master 1 Data Science &amp; IA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8" name="Shape 6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9" name="Shape 7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0" name="Shape 8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1" name="Shape 9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7" name="Shape 15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8" name="Shape 16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23" name="Shape 21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7E2D8"/>
          </a:solidFill>
          <a:ln/>
        </p:spPr>
      </p:sp>
      <p:sp>
        <p:nvSpPr>
          <p:cNvPr id="24" name="Text 22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260604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7340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2006-2010 uniquement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77240" y="3154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directe au marché passé.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77240" y="406908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19709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2010 incomplète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777240" y="4617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arrêté en juillet 2010.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82512" y="22402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82512" y="2606040"/>
            <a:ext cx="5029200" cy="0"/>
          </a:xfrm>
          <a:prstGeom prst="line">
            <a:avLst/>
          </a:prstGeom>
          <a:noFill/>
          <a:ln w="25400">
            <a:solidFill>
              <a:srgbClr val="E872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273405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1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récentes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6382512" y="3154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6F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Étalonnage à l'aide de transactions actuelles.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" y="7772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4" name="Shape 2"/>
          <p:cNvSpPr/>
          <p:nvPr/>
        </p:nvSpPr>
        <p:spPr>
          <a:xfrm>
            <a:off x="1088136" y="7772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5" name="Shape 3"/>
          <p:cNvSpPr/>
          <p:nvPr/>
        </p:nvSpPr>
        <p:spPr>
          <a:xfrm>
            <a:off x="1243584" y="7772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6" name="Shape 4"/>
          <p:cNvSpPr/>
          <p:nvPr/>
        </p:nvSpPr>
        <p:spPr>
          <a:xfrm>
            <a:off x="1399032" y="7772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7" name="Shape 5"/>
          <p:cNvSpPr/>
          <p:nvPr/>
        </p:nvSpPr>
        <p:spPr>
          <a:xfrm>
            <a:off x="1554480" y="77724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9326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9326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0" name="Shape 8"/>
          <p:cNvSpPr/>
          <p:nvPr/>
        </p:nvSpPr>
        <p:spPr>
          <a:xfrm>
            <a:off x="1088136" y="9326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1" name="Shape 9"/>
          <p:cNvSpPr/>
          <p:nvPr/>
        </p:nvSpPr>
        <p:spPr>
          <a:xfrm>
            <a:off x="1243584" y="9326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2" name="Shape 10"/>
          <p:cNvSpPr/>
          <p:nvPr/>
        </p:nvSpPr>
        <p:spPr>
          <a:xfrm>
            <a:off x="1399032" y="9326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3" name="Shape 11"/>
          <p:cNvSpPr/>
          <p:nvPr/>
        </p:nvSpPr>
        <p:spPr>
          <a:xfrm>
            <a:off x="1554480" y="93268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08813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108813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8136" y="108813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1243584" y="108813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8" name="Shape 16"/>
          <p:cNvSpPr/>
          <p:nvPr/>
        </p:nvSpPr>
        <p:spPr>
          <a:xfrm>
            <a:off x="1399032" y="108813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108813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97312" y="539496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52760" y="539496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08208" y="539496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63656" y="539496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4" name="Shape 22"/>
          <p:cNvSpPr/>
          <p:nvPr/>
        </p:nvSpPr>
        <p:spPr>
          <a:xfrm>
            <a:off x="11119104" y="539496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5" name="Shape 23"/>
          <p:cNvSpPr/>
          <p:nvPr/>
        </p:nvSpPr>
        <p:spPr>
          <a:xfrm>
            <a:off x="11274552" y="5394960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497312" y="555040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52760" y="555040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08208" y="555040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29" name="Shape 27"/>
          <p:cNvSpPr/>
          <p:nvPr/>
        </p:nvSpPr>
        <p:spPr>
          <a:xfrm>
            <a:off x="10963656" y="555040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19104" y="555040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74552" y="5550408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97312" y="570585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52760" y="570585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34" name="Shape 32"/>
          <p:cNvSpPr/>
          <p:nvPr/>
        </p:nvSpPr>
        <p:spPr>
          <a:xfrm>
            <a:off x="10808208" y="570585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35" name="Shape 33"/>
          <p:cNvSpPr/>
          <p:nvPr/>
        </p:nvSpPr>
        <p:spPr>
          <a:xfrm>
            <a:off x="10963656" y="570585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36" name="Shape 34"/>
          <p:cNvSpPr/>
          <p:nvPr/>
        </p:nvSpPr>
        <p:spPr>
          <a:xfrm>
            <a:off x="11119104" y="570585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74552" y="5705856"/>
            <a:ext cx="41148" cy="41148"/>
          </a:xfrm>
          <a:prstGeom prst="ellipse">
            <a:avLst/>
          </a:prstGeom>
          <a:solidFill>
            <a:srgbClr val="2C4A6B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2331720"/>
            <a:ext cx="1036015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suite se raconte</a:t>
            </a:r>
            <a:endParaRPr lang="en-US" sz="4400" dirty="0"/>
          </a:p>
          <a:p>
            <a:pPr algn="ctr"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dashboard</a:t>
            </a:r>
            <a:endParaRPr lang="en-US" sz="4400" dirty="0"/>
          </a:p>
          <a:p>
            <a:pPr algn="ctr"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400" dirty="0"/>
          </a:p>
        </p:txBody>
      </p:sp>
      <p:sp>
        <p:nvSpPr>
          <p:cNvPr id="39" name="Text 37"/>
          <p:cNvSpPr/>
          <p:nvPr/>
        </p:nvSpPr>
        <p:spPr>
          <a:xfrm>
            <a:off x="914400" y="45720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00" kern="0" dirty="0">
                <a:solidFill>
                  <a:srgbClr val="D8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cam-s.shinyapps.io/ames-immobilier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66520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1" name="Shape 39"/>
          <p:cNvSpPr/>
          <p:nvPr/>
        </p:nvSpPr>
        <p:spPr>
          <a:xfrm>
            <a:off x="977036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2" name="Shape 40"/>
          <p:cNvSpPr/>
          <p:nvPr/>
        </p:nvSpPr>
        <p:spPr>
          <a:xfrm>
            <a:off x="987552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3" name="Shape 41"/>
          <p:cNvSpPr/>
          <p:nvPr/>
        </p:nvSpPr>
        <p:spPr>
          <a:xfrm>
            <a:off x="998067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85832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5" name="Shape 43"/>
          <p:cNvSpPr/>
          <p:nvPr/>
        </p:nvSpPr>
        <p:spPr>
          <a:xfrm>
            <a:off x="1019098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29614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7" name="Shape 45"/>
          <p:cNvSpPr/>
          <p:nvPr/>
        </p:nvSpPr>
        <p:spPr>
          <a:xfrm>
            <a:off x="1040130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8" name="Shape 46"/>
          <p:cNvSpPr/>
          <p:nvPr/>
        </p:nvSpPr>
        <p:spPr>
          <a:xfrm>
            <a:off x="1050645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49" name="Shape 47"/>
          <p:cNvSpPr/>
          <p:nvPr/>
        </p:nvSpPr>
        <p:spPr>
          <a:xfrm>
            <a:off x="10611612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50" name="Shape 48"/>
          <p:cNvSpPr/>
          <p:nvPr/>
        </p:nvSpPr>
        <p:spPr>
          <a:xfrm>
            <a:off x="1071676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51" name="Shape 49"/>
          <p:cNvSpPr/>
          <p:nvPr/>
        </p:nvSpPr>
        <p:spPr>
          <a:xfrm>
            <a:off x="10821924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52" name="Shape 50"/>
          <p:cNvSpPr/>
          <p:nvPr/>
        </p:nvSpPr>
        <p:spPr>
          <a:xfrm>
            <a:off x="10927080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53" name="Shape 51"/>
          <p:cNvSpPr/>
          <p:nvPr/>
        </p:nvSpPr>
        <p:spPr>
          <a:xfrm>
            <a:off x="11032236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54" name="Shape 52"/>
          <p:cNvSpPr/>
          <p:nvPr/>
        </p:nvSpPr>
        <p:spPr>
          <a:xfrm>
            <a:off x="11137392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55" name="Shape 53"/>
          <p:cNvSpPr/>
          <p:nvPr/>
        </p:nvSpPr>
        <p:spPr>
          <a:xfrm>
            <a:off x="11242548" y="6355080"/>
            <a:ext cx="64008" cy="45720"/>
          </a:xfrm>
          <a:prstGeom prst="rect">
            <a:avLst/>
          </a:prstGeom>
          <a:solidFill>
            <a:srgbClr val="2C4A6B"/>
          </a:solidFill>
          <a:ln/>
        </p:spPr>
      </p:sp>
      <p:sp>
        <p:nvSpPr>
          <p:cNvPr id="56" name="Shape 54"/>
          <p:cNvSpPr/>
          <p:nvPr/>
        </p:nvSpPr>
        <p:spPr>
          <a:xfrm>
            <a:off x="11347704" y="6355080"/>
            <a:ext cx="64008" cy="45720"/>
          </a:xfrm>
          <a:prstGeom prst="rect">
            <a:avLst/>
          </a:prstGeom>
          <a:solidFill>
            <a:srgbClr val="E8721C"/>
          </a:solidFill>
          <a:ln/>
        </p:spPr>
      </p:sp>
      <p:sp>
        <p:nvSpPr>
          <p:cNvPr id="57" name="Text 55"/>
          <p:cNvSpPr/>
          <p:nvPr/>
        </p:nvSpPr>
        <p:spPr>
          <a:xfrm>
            <a:off x="9162288" y="623620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87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2026-07-10T20:33:44Z</dcterms:created>
  <dcterms:modified xsi:type="dcterms:W3CDTF">2026-07-10T20:33:44Z</dcterms:modified>
</cp:coreProperties>
</file>