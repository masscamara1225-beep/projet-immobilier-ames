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.jpeg" ContentType="image/jpe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Bonjour. Nous présentons notre enquête sur le prix des maisons à Ames, Iowa.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1" name="Shape 1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Trois temps : le jeu de données, la démarche complète, et des conclusions utiles aux acteurs du marché.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Premier temps : le contexte de la ville et le problème posé.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Ames : ville universitaire de l'Iowa. Notre échantillon : 1 460 transactions entre 2006 et 2010, en pleine crise des subprimes.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6" name="Shape 2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Une maison peut valoir 21 fois plus qu'une autre, dans la même ville. Les deux cercles sont à l'échelle : c'est cette dispersion qui justifie l'enquête.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0" name="Shape 2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Notre question centrale, à laquelle chaque acte de l'enquête apporte un élément de réponse.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2" name="Shape 3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Deuxième temps : le jeu de données lui-même.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3" name="Shape 3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 dataset de référence publié par Dean De Cock en 2011, support de la compétition Kaggle. 80 variables explicatives plus le prix de vente.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4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9" name="Shape 4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Cinq repères : prix médian 163 000 dollars, Northridge Heights à 315 000, surface médiane 1 515 pieds carrés, qualité 6,1, amplitude fois 21.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1" name="Shape 5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 principe : le vide n'est pas toujours un manque. Deux variables créées, deux outliers retirés pour la modélisation.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3" name="Shape 5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Troisième temps : nos choix de visualisation et la modélisation.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6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9" name="Shape 6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Chaque forme visuelle a été choisie pour la nature de la donnée. Le principe directeur : minimiser la charge cognitive.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Shape 6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93" name="Shape 6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L'enquête en cinq actes : quoi se vend, où, le rôle de l'environnement, les vrais facteurs, et l'évolution dans le temps.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Shape 7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4" name="Shape 7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Cinq modèles comparés — en barres, à l'échelle : le Random Forest domine avec 28 324 dollars d'erreur. 87,8 % de variance expliquée. Pour Kaggle, XGBoost obtient 0,12714.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Shape 8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9" name="Shape 8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Cinq recommandations, une par profil d'acteur — chacune ancrée dans un chiffre de l'analyse.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2" name="Shape 8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Limites assumées : la fenêtre 2006-2010, l'année 2010 partielle. Perspective : actualiser avec des données récentes.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Shape 9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2" name="Shape 9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Transition vers la démonstration en direct du dashboard.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99;p39"/>
          <p:cNvSpPr/>
          <p:nvPr/>
        </p:nvSpPr>
        <p:spPr>
          <a:xfrm>
            <a:off x="-3905289" y="1151914"/>
            <a:ext cx="10960686" cy="5133370"/>
          </a:xfrm>
          <a:prstGeom prst="ellipse">
            <a:avLst/>
          </a:prstGeom>
          <a:solidFill>
            <a:srgbClr val="10274D">
              <a:alpha val="13454"/>
            </a:srgbClr>
          </a:solidFill>
          <a:ln w="6350">
            <a:solidFill>
              <a:schemeClr val="accent5">
                <a:alpha val="13454"/>
              </a:schemeClr>
            </a:solidFill>
            <a:miter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Shape 0"/>
          <p:cNvSpPr/>
          <p:nvPr/>
        </p:nvSpPr>
        <p:spPr>
          <a:xfrm>
            <a:off x="231140" y="33274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1"/>
          <p:cNvSpPr/>
          <p:nvPr/>
        </p:nvSpPr>
        <p:spPr>
          <a:xfrm>
            <a:off x="386588" y="33274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2"/>
          <p:cNvSpPr/>
          <p:nvPr/>
        </p:nvSpPr>
        <p:spPr>
          <a:xfrm>
            <a:off x="542036" y="33274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3"/>
          <p:cNvSpPr/>
          <p:nvPr/>
        </p:nvSpPr>
        <p:spPr>
          <a:xfrm>
            <a:off x="697483" y="33274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4"/>
          <p:cNvSpPr/>
          <p:nvPr/>
        </p:nvSpPr>
        <p:spPr>
          <a:xfrm>
            <a:off x="852932" y="33274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5"/>
          <p:cNvSpPr/>
          <p:nvPr/>
        </p:nvSpPr>
        <p:spPr>
          <a:xfrm>
            <a:off x="1554480" y="77724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6"/>
          <p:cNvSpPr/>
          <p:nvPr/>
        </p:nvSpPr>
        <p:spPr>
          <a:xfrm>
            <a:off x="231140" y="48818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7"/>
          <p:cNvSpPr/>
          <p:nvPr/>
        </p:nvSpPr>
        <p:spPr>
          <a:xfrm>
            <a:off x="386588" y="48818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8"/>
          <p:cNvSpPr/>
          <p:nvPr/>
        </p:nvSpPr>
        <p:spPr>
          <a:xfrm>
            <a:off x="542036" y="48818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9"/>
          <p:cNvSpPr/>
          <p:nvPr/>
        </p:nvSpPr>
        <p:spPr>
          <a:xfrm>
            <a:off x="697483" y="48818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0"/>
          <p:cNvSpPr/>
          <p:nvPr/>
        </p:nvSpPr>
        <p:spPr>
          <a:xfrm>
            <a:off x="852932" y="48818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11"/>
          <p:cNvSpPr/>
          <p:nvPr/>
        </p:nvSpPr>
        <p:spPr>
          <a:xfrm>
            <a:off x="1554480" y="93268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2"/>
          <p:cNvSpPr/>
          <p:nvPr/>
        </p:nvSpPr>
        <p:spPr>
          <a:xfrm>
            <a:off x="231140" y="643636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13"/>
          <p:cNvSpPr/>
          <p:nvPr/>
        </p:nvSpPr>
        <p:spPr>
          <a:xfrm>
            <a:off x="386588" y="643636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14"/>
          <p:cNvSpPr/>
          <p:nvPr/>
        </p:nvSpPr>
        <p:spPr>
          <a:xfrm>
            <a:off x="542036" y="643636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15"/>
          <p:cNvSpPr/>
          <p:nvPr/>
        </p:nvSpPr>
        <p:spPr>
          <a:xfrm>
            <a:off x="697483" y="643636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6"/>
          <p:cNvSpPr/>
          <p:nvPr/>
        </p:nvSpPr>
        <p:spPr>
          <a:xfrm>
            <a:off x="852932" y="643636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17"/>
          <p:cNvSpPr/>
          <p:nvPr/>
        </p:nvSpPr>
        <p:spPr>
          <a:xfrm>
            <a:off x="1554480" y="1088136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8"/>
          <p:cNvSpPr/>
          <p:nvPr/>
        </p:nvSpPr>
        <p:spPr>
          <a:xfrm>
            <a:off x="10497311" y="5394959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19"/>
          <p:cNvSpPr/>
          <p:nvPr/>
        </p:nvSpPr>
        <p:spPr>
          <a:xfrm>
            <a:off x="10652759" y="5394959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Shape 20"/>
          <p:cNvSpPr/>
          <p:nvPr/>
        </p:nvSpPr>
        <p:spPr>
          <a:xfrm>
            <a:off x="10808207" y="5394959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Shape 21"/>
          <p:cNvSpPr/>
          <p:nvPr/>
        </p:nvSpPr>
        <p:spPr>
          <a:xfrm>
            <a:off x="10963656" y="5394959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22"/>
          <p:cNvSpPr/>
          <p:nvPr/>
        </p:nvSpPr>
        <p:spPr>
          <a:xfrm>
            <a:off x="11119104" y="5394959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23"/>
          <p:cNvSpPr/>
          <p:nvPr/>
        </p:nvSpPr>
        <p:spPr>
          <a:xfrm>
            <a:off x="11274552" y="5394959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24"/>
          <p:cNvSpPr/>
          <p:nvPr/>
        </p:nvSpPr>
        <p:spPr>
          <a:xfrm>
            <a:off x="10497311" y="555040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25"/>
          <p:cNvSpPr/>
          <p:nvPr/>
        </p:nvSpPr>
        <p:spPr>
          <a:xfrm>
            <a:off x="10652759" y="555040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26"/>
          <p:cNvSpPr/>
          <p:nvPr/>
        </p:nvSpPr>
        <p:spPr>
          <a:xfrm>
            <a:off x="10808207" y="555040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27"/>
          <p:cNvSpPr/>
          <p:nvPr/>
        </p:nvSpPr>
        <p:spPr>
          <a:xfrm>
            <a:off x="10963656" y="555040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28"/>
          <p:cNvSpPr/>
          <p:nvPr/>
        </p:nvSpPr>
        <p:spPr>
          <a:xfrm>
            <a:off x="11119104" y="555040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29"/>
          <p:cNvSpPr/>
          <p:nvPr/>
        </p:nvSpPr>
        <p:spPr>
          <a:xfrm>
            <a:off x="11274552" y="5550408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30"/>
          <p:cNvSpPr/>
          <p:nvPr/>
        </p:nvSpPr>
        <p:spPr>
          <a:xfrm>
            <a:off x="10497311" y="5705855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31"/>
          <p:cNvSpPr/>
          <p:nvPr/>
        </p:nvSpPr>
        <p:spPr>
          <a:xfrm>
            <a:off x="10652759" y="5705855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32"/>
          <p:cNvSpPr/>
          <p:nvPr/>
        </p:nvSpPr>
        <p:spPr>
          <a:xfrm>
            <a:off x="10808207" y="5705855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33"/>
          <p:cNvSpPr/>
          <p:nvPr/>
        </p:nvSpPr>
        <p:spPr>
          <a:xfrm>
            <a:off x="10963656" y="5705855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34"/>
          <p:cNvSpPr/>
          <p:nvPr/>
        </p:nvSpPr>
        <p:spPr>
          <a:xfrm>
            <a:off x="11119104" y="5705855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35"/>
          <p:cNvSpPr/>
          <p:nvPr/>
        </p:nvSpPr>
        <p:spPr>
          <a:xfrm>
            <a:off x="11274552" y="5705855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36"/>
          <p:cNvSpPr txBox="1"/>
          <p:nvPr/>
        </p:nvSpPr>
        <p:spPr>
          <a:xfrm>
            <a:off x="320040" y="900182"/>
            <a:ext cx="100584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5" sz="1300">
                <a:solidFill>
                  <a:srgbClr val="7A6F60"/>
                </a:solidFill>
              </a:defRPr>
            </a:lvl1pPr>
          </a:lstStyle>
          <a:p>
            <a:pPr/>
            <a:r>
              <a:t>UFHB · UFRMI · MODULE VISUALISATION DE DONNÉES · 2025-2026</a:t>
            </a:r>
          </a:p>
        </p:txBody>
      </p:sp>
      <p:sp>
        <p:nvSpPr>
          <p:cNvPr id="58" name="Text 37"/>
          <p:cNvSpPr txBox="1"/>
          <p:nvPr/>
        </p:nvSpPr>
        <p:spPr>
          <a:xfrm>
            <a:off x="731519" y="2424506"/>
            <a:ext cx="11155682" cy="94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400">
                <a:solidFill>
                  <a:srgbClr val="18181E"/>
                </a:solidFill>
              </a:defRPr>
            </a:pPr>
            <a:r>
              <a:t>Immobilier Ames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59" name="Text 38"/>
          <p:cNvSpPr txBox="1"/>
          <p:nvPr/>
        </p:nvSpPr>
        <p:spPr>
          <a:xfrm>
            <a:off x="777240" y="3745205"/>
            <a:ext cx="9144001" cy="291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/>
            </a:lvl1pPr>
          </a:lstStyle>
          <a:p>
            <a:pPr/>
            <a:r>
              <a:t>Enquête sur le prix des maisons</a:t>
            </a:r>
          </a:p>
        </p:txBody>
      </p:sp>
      <p:sp>
        <p:nvSpPr>
          <p:cNvPr id="60" name="Shape 39"/>
          <p:cNvSpPr/>
          <p:nvPr/>
        </p:nvSpPr>
        <p:spPr>
          <a:xfrm>
            <a:off x="777240" y="4526279"/>
            <a:ext cx="4754880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40"/>
          <p:cNvSpPr txBox="1"/>
          <p:nvPr/>
        </p:nvSpPr>
        <p:spPr>
          <a:xfrm>
            <a:off x="777240" y="4787463"/>
            <a:ext cx="7315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8181E"/>
                </a:solidFill>
              </a:defRPr>
            </a:pPr>
            <a:r>
              <a:t>CAMARA Massaram</a:t>
            </a:r>
            <a:r>
              <a:rPr b="0">
                <a:solidFill>
                  <a:srgbClr val="7A6F60"/>
                </a:solidFill>
              </a:rPr>
              <a:t>   ·   </a:t>
            </a:r>
            <a:r>
              <a:t>LOGBO Axelle</a:t>
            </a:r>
          </a:p>
        </p:txBody>
      </p:sp>
      <p:sp>
        <p:nvSpPr>
          <p:cNvPr id="62" name="Text 41"/>
          <p:cNvSpPr txBox="1"/>
          <p:nvPr/>
        </p:nvSpPr>
        <p:spPr>
          <a:xfrm>
            <a:off x="777240" y="5197279"/>
            <a:ext cx="8229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chemeClr val="accent1">
                    <a:satOff val="-3547"/>
                    <a:lumOff val="-10352"/>
                  </a:schemeClr>
                </a:solidFill>
              </a:defRPr>
            </a:lvl1pPr>
          </a:lstStyle>
          <a:p>
            <a:pPr/>
            <a:r>
              <a:t>Groupe 4 · Sous l'encadrement du Dr. Kacoutchy Jean Ayikpa</a:t>
            </a:r>
          </a:p>
        </p:txBody>
      </p:sp>
      <p:grpSp>
        <p:nvGrpSpPr>
          <p:cNvPr id="71" name="Google Shape;4705;p85"/>
          <p:cNvGrpSpPr/>
          <p:nvPr/>
        </p:nvGrpSpPr>
        <p:grpSpPr>
          <a:xfrm>
            <a:off x="6594311" y="2824606"/>
            <a:ext cx="5605325" cy="1787985"/>
            <a:chOff x="0" y="0"/>
            <a:chExt cx="5605323" cy="1787983"/>
          </a:xfrm>
        </p:grpSpPr>
        <p:sp>
          <p:nvSpPr>
            <p:cNvPr id="63" name="Google Shape;4706;p85"/>
            <p:cNvSpPr/>
            <p:nvPr/>
          </p:nvSpPr>
          <p:spPr>
            <a:xfrm>
              <a:off x="0" y="19381"/>
              <a:ext cx="5108430" cy="17493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10800"/>
                  </a:lnTo>
                  <a:lnTo>
                    <a:pt x="21600" y="21600"/>
                  </a:lnTo>
                  <a:cubicBezTo>
                    <a:pt x="20752" y="20718"/>
                    <a:pt x="20107" y="16219"/>
                    <a:pt x="20107" y="10800"/>
                  </a:cubicBezTo>
                  <a:cubicBezTo>
                    <a:pt x="20107" y="5381"/>
                    <a:pt x="20753" y="879"/>
                    <a:pt x="21600" y="0"/>
                  </a:cubicBezTo>
                  <a:close/>
                </a:path>
              </a:pathLst>
            </a:custGeom>
            <a:solidFill>
              <a:srgbClr val="E3E9ED">
                <a:alpha val="43579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4" name="Google Shape;4707;p85"/>
            <p:cNvSpPr/>
            <p:nvPr/>
          </p:nvSpPr>
          <p:spPr>
            <a:xfrm>
              <a:off x="1760624" y="564289"/>
              <a:ext cx="344298" cy="660603"/>
            </a:xfrm>
            <a:prstGeom prst="ellipse">
              <a:avLst/>
            </a:prstGeom>
            <a:solidFill>
              <a:srgbClr val="A5B7C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5" name="Google Shape;4708;p85"/>
            <p:cNvSpPr/>
            <p:nvPr/>
          </p:nvSpPr>
          <p:spPr>
            <a:xfrm>
              <a:off x="2689303" y="394633"/>
              <a:ext cx="476952" cy="999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8" y="0"/>
                  </a:moveTo>
                  <a:cubicBezTo>
                    <a:pt x="7933" y="0"/>
                    <a:pt x="5188" y="1137"/>
                    <a:pt x="3163" y="3161"/>
                  </a:cubicBezTo>
                  <a:cubicBezTo>
                    <a:pt x="1138" y="5187"/>
                    <a:pt x="0" y="7934"/>
                    <a:pt x="0" y="10800"/>
                  </a:cubicBezTo>
                  <a:cubicBezTo>
                    <a:pt x="0" y="13664"/>
                    <a:pt x="1138" y="16411"/>
                    <a:pt x="3163" y="18437"/>
                  </a:cubicBezTo>
                  <a:cubicBezTo>
                    <a:pt x="5188" y="20461"/>
                    <a:pt x="7933" y="21600"/>
                    <a:pt x="10798" y="21600"/>
                  </a:cubicBezTo>
                  <a:cubicBezTo>
                    <a:pt x="13663" y="21600"/>
                    <a:pt x="16408" y="20461"/>
                    <a:pt x="18433" y="18437"/>
                  </a:cubicBezTo>
                  <a:cubicBezTo>
                    <a:pt x="20459" y="16411"/>
                    <a:pt x="21600" y="13664"/>
                    <a:pt x="21600" y="10800"/>
                  </a:cubicBezTo>
                  <a:cubicBezTo>
                    <a:pt x="21600" y="7934"/>
                    <a:pt x="20459" y="5187"/>
                    <a:pt x="18433" y="3161"/>
                  </a:cubicBezTo>
                  <a:cubicBezTo>
                    <a:pt x="16408" y="1137"/>
                    <a:pt x="13663" y="0"/>
                    <a:pt x="10798" y="0"/>
                  </a:cubicBezTo>
                  <a:close/>
                </a:path>
              </a:pathLst>
            </a:custGeom>
            <a:solidFill>
              <a:srgbClr val="A5B7C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" name="Google Shape;4709;p85"/>
            <p:cNvSpPr/>
            <p:nvPr/>
          </p:nvSpPr>
          <p:spPr>
            <a:xfrm>
              <a:off x="3738662" y="201187"/>
              <a:ext cx="644193" cy="1385295"/>
            </a:xfrm>
            <a:prstGeom prst="ellipse">
              <a:avLst/>
            </a:prstGeom>
            <a:solidFill>
              <a:srgbClr val="869FB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7" name="Google Shape;4712;p85"/>
            <p:cNvSpPr/>
            <p:nvPr/>
          </p:nvSpPr>
          <p:spPr>
            <a:xfrm>
              <a:off x="5108429" y="1762096"/>
              <a:ext cx="73905" cy="25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6821" y="14299"/>
                    <a:pt x="13849" y="21600"/>
                    <a:pt x="21003" y="21600"/>
                  </a:cubicBez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8" name="Google Shape;4713;p85"/>
            <p:cNvSpPr/>
            <p:nvPr/>
          </p:nvSpPr>
          <p:spPr>
            <a:xfrm>
              <a:off x="5108429" y="0"/>
              <a:ext cx="73827" cy="25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026" y="0"/>
                  </a:moveTo>
                  <a:cubicBezTo>
                    <a:pt x="13864" y="0"/>
                    <a:pt x="6852" y="7423"/>
                    <a:pt x="0" y="21600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9" name="Google Shape;4714;p85"/>
            <p:cNvSpPr/>
            <p:nvPr/>
          </p:nvSpPr>
          <p:spPr>
            <a:xfrm>
              <a:off x="4755358" y="6603"/>
              <a:ext cx="849966" cy="1774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49" y="0"/>
                  </a:moveTo>
                  <a:lnTo>
                    <a:pt x="8973" y="154"/>
                  </a:lnTo>
                  <a:cubicBezTo>
                    <a:pt x="3881" y="1022"/>
                    <a:pt x="0" y="5458"/>
                    <a:pt x="0" y="10800"/>
                  </a:cubicBezTo>
                  <a:cubicBezTo>
                    <a:pt x="0" y="16142"/>
                    <a:pt x="3881" y="20578"/>
                    <a:pt x="8973" y="21447"/>
                  </a:cubicBezTo>
                  <a:lnTo>
                    <a:pt x="10851" y="21600"/>
                  </a:lnTo>
                  <a:lnTo>
                    <a:pt x="10853" y="21600"/>
                  </a:lnTo>
                  <a:cubicBezTo>
                    <a:pt x="16793" y="21572"/>
                    <a:pt x="21600" y="16747"/>
                    <a:pt x="21600" y="10800"/>
                  </a:cubicBezTo>
                  <a:cubicBezTo>
                    <a:pt x="21600" y="4854"/>
                    <a:pt x="16793" y="28"/>
                    <a:pt x="10851" y="0"/>
                  </a:cubicBez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" name="Google Shape;4715;p85"/>
            <p:cNvSpPr/>
            <p:nvPr/>
          </p:nvSpPr>
          <p:spPr>
            <a:xfrm>
              <a:off x="999932" y="703598"/>
              <a:ext cx="229546" cy="380219"/>
            </a:xfrm>
            <a:prstGeom prst="ellipse">
              <a:avLst/>
            </a:prstGeom>
            <a:solidFill>
              <a:srgbClr val="BAC8D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APERÇU GÉNÉRAL</a:t>
            </a:r>
          </a:p>
        </p:txBody>
      </p:sp>
      <p:sp>
        <p:nvSpPr>
          <p:cNvPr id="76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Introduction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77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4"/>
          <p:cNvSpPr txBox="1"/>
          <p:nvPr/>
        </p:nvSpPr>
        <p:spPr>
          <a:xfrm>
            <a:off x="777240" y="6377984"/>
            <a:ext cx="5486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80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98" name="Shape 24"/>
          <p:cNvSpPr/>
          <p:nvPr/>
        </p:nvSpPr>
        <p:spPr>
          <a:xfrm>
            <a:off x="777239" y="2880360"/>
            <a:ext cx="3291842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5"/>
          <p:cNvSpPr txBox="1"/>
          <p:nvPr/>
        </p:nvSpPr>
        <p:spPr>
          <a:xfrm>
            <a:off x="363923" y="3446753"/>
            <a:ext cx="3291841" cy="323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8181E"/>
                </a:solidFill>
              </a:defRPr>
            </a:lvl1pPr>
          </a:lstStyle>
          <a:p>
            <a:pPr/>
            <a:r>
              <a:t>Ames Housing Dataset</a:t>
            </a:r>
          </a:p>
        </p:txBody>
      </p:sp>
      <p:sp>
        <p:nvSpPr>
          <p:cNvPr id="100" name="Text 26"/>
          <p:cNvSpPr txBox="1"/>
          <p:nvPr/>
        </p:nvSpPr>
        <p:spPr>
          <a:xfrm>
            <a:off x="363923" y="4090161"/>
            <a:ext cx="3291841" cy="8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4A443C"/>
                </a:solidFill>
              </a:defRPr>
            </a:lvl1pPr>
          </a:lstStyle>
          <a:p>
            <a:pPr/>
            <a:r>
              <a:t>Enquête statistique approfondie sur le marché immobilier de l'Iowa.</a:t>
            </a:r>
          </a:p>
        </p:txBody>
      </p:sp>
      <p:sp>
        <p:nvSpPr>
          <p:cNvPr id="101" name="Shape 28"/>
          <p:cNvSpPr/>
          <p:nvPr/>
        </p:nvSpPr>
        <p:spPr>
          <a:xfrm>
            <a:off x="4448555" y="2880360"/>
            <a:ext cx="3291842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29"/>
          <p:cNvSpPr txBox="1"/>
          <p:nvPr/>
        </p:nvSpPr>
        <p:spPr>
          <a:xfrm>
            <a:off x="4416551" y="3434053"/>
            <a:ext cx="3291841" cy="323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8181E"/>
                </a:solidFill>
              </a:defRPr>
            </a:lvl1pPr>
          </a:lstStyle>
          <a:p>
            <a:pPr/>
            <a:r>
              <a:t>3 piliers clés</a:t>
            </a:r>
          </a:p>
        </p:txBody>
      </p:sp>
      <p:sp>
        <p:nvSpPr>
          <p:cNvPr id="103" name="Text 30"/>
          <p:cNvSpPr txBox="1"/>
          <p:nvPr/>
        </p:nvSpPr>
        <p:spPr>
          <a:xfrm>
            <a:off x="4126089" y="4090161"/>
            <a:ext cx="3472657" cy="533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535353"/>
                </a:solidFill>
              </a:defRPr>
            </a:lvl1pPr>
          </a:lstStyle>
          <a:p>
            <a:pPr/>
            <a:r>
              <a:t>Nettoyage rigoureux, exploration visuelle et modélisation prédictive.</a:t>
            </a:r>
          </a:p>
        </p:txBody>
      </p:sp>
      <p:sp>
        <p:nvSpPr>
          <p:cNvPr id="104" name="Shape 32"/>
          <p:cNvSpPr/>
          <p:nvPr/>
        </p:nvSpPr>
        <p:spPr>
          <a:xfrm>
            <a:off x="8119871" y="2880360"/>
            <a:ext cx="329184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33"/>
          <p:cNvSpPr txBox="1"/>
          <p:nvPr/>
        </p:nvSpPr>
        <p:spPr>
          <a:xfrm>
            <a:off x="8051291" y="3446753"/>
            <a:ext cx="3291841" cy="323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18181E"/>
                </a:solidFill>
              </a:defRPr>
            </a:lvl1pPr>
          </a:lstStyle>
          <a:p>
            <a:pPr/>
            <a:r>
              <a:t>Objectif final</a:t>
            </a:r>
          </a:p>
        </p:txBody>
      </p:sp>
      <p:sp>
        <p:nvSpPr>
          <p:cNvPr id="106" name="Text 34"/>
          <p:cNvSpPr txBox="1"/>
          <p:nvPr/>
        </p:nvSpPr>
        <p:spPr>
          <a:xfrm>
            <a:off x="8156447" y="3949298"/>
            <a:ext cx="3291842" cy="530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4A443C"/>
                </a:solidFill>
              </a:defRPr>
            </a:lvl1pPr>
          </a:lstStyle>
          <a:p>
            <a:pPr/>
            <a:r>
              <a:t>Dégager des conclusions claires et d'intérêt stratégique.</a:t>
            </a:r>
          </a:p>
        </p:txBody>
      </p:sp>
      <p:sp>
        <p:nvSpPr>
          <p:cNvPr id="107" name="Google Shape;318;p41"/>
          <p:cNvSpPr txBox="1"/>
          <p:nvPr/>
        </p:nvSpPr>
        <p:spPr>
          <a:xfrm>
            <a:off x="4486395" y="1969808"/>
            <a:ext cx="787922" cy="829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normAutofit fontScale="100000" lnSpcReduction="0"/>
          </a:bodyPr>
          <a:lstStyle>
            <a:lvl1pPr algn="ctr">
              <a:defRPr sz="3000">
                <a:solidFill>
                  <a:schemeClr val="accent2">
                    <a:satOff val="-18194"/>
                    <a:lumOff val="-11215"/>
                  </a:schemeClr>
                </a:solidFill>
                <a:latin typeface="STIX Two Math Regular"/>
                <a:ea typeface="STIX Two Math Regular"/>
                <a:cs typeface="STIX Two Math Regular"/>
                <a:sym typeface="STIX Two Math Regula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8" name="Google Shape;318;p41"/>
          <p:cNvSpPr txBox="1"/>
          <p:nvPr/>
        </p:nvSpPr>
        <p:spPr>
          <a:xfrm>
            <a:off x="8148177" y="1960520"/>
            <a:ext cx="787921" cy="829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normAutofit fontScale="100000" lnSpcReduction="0"/>
          </a:bodyPr>
          <a:lstStyle>
            <a:lvl1pPr algn="ctr">
              <a:defRPr sz="3000">
                <a:solidFill>
                  <a:schemeClr val="accent2">
                    <a:satOff val="-18194"/>
                    <a:lumOff val="-11215"/>
                  </a:schemeClr>
                </a:solidFill>
                <a:latin typeface="STIX Two Math Regular"/>
                <a:ea typeface="STIX Two Math Regular"/>
                <a:cs typeface="STIX Two Math Regular"/>
                <a:sym typeface="STIX Two Math Regular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09" name="Google Shape;318;p41"/>
          <p:cNvSpPr txBox="1"/>
          <p:nvPr/>
        </p:nvSpPr>
        <p:spPr>
          <a:xfrm>
            <a:off x="888114" y="1984787"/>
            <a:ext cx="787921" cy="829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normAutofit fontScale="100000" lnSpcReduction="0"/>
          </a:bodyPr>
          <a:lstStyle>
            <a:lvl1pPr algn="ctr">
              <a:defRPr sz="3000">
                <a:solidFill>
                  <a:schemeClr val="accent2">
                    <a:satOff val="-18194"/>
                    <a:lumOff val="-11215"/>
                  </a:schemeClr>
                </a:solidFill>
                <a:latin typeface="STIX Two Math Regular"/>
                <a:ea typeface="STIX Two Math Regular"/>
                <a:cs typeface="STIX Two Math Regular"/>
                <a:sym typeface="STIX Two Math Regular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0" y="0"/>
            <a:ext cx="578815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 0"/>
          <p:cNvSpPr txBox="1"/>
          <p:nvPr/>
        </p:nvSpPr>
        <p:spPr>
          <a:xfrm>
            <a:off x="777240" y="561647"/>
            <a:ext cx="5029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60" sz="1200">
                <a:solidFill>
                  <a:srgbClr val="D8D0BE"/>
                </a:solidFill>
              </a:defRPr>
            </a:lvl1pPr>
          </a:lstStyle>
          <a:p>
            <a:pPr/>
            <a:r>
              <a:t>IMMOBILIER AMES · ENQUÊTE</a:t>
            </a:r>
          </a:p>
        </p:txBody>
      </p:sp>
      <p:sp>
        <p:nvSpPr>
          <p:cNvPr id="115" name="Text 1"/>
          <p:cNvSpPr txBox="1"/>
          <p:nvPr/>
        </p:nvSpPr>
        <p:spPr>
          <a:xfrm>
            <a:off x="722376" y="1785019"/>
            <a:ext cx="4572001" cy="191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0">
                <a:solidFill>
                  <a:srgbClr val="E8721C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6" name="Shape 2"/>
          <p:cNvSpPr/>
          <p:nvPr/>
        </p:nvSpPr>
        <p:spPr>
          <a:xfrm>
            <a:off x="795527" y="3977640"/>
            <a:ext cx="1463042" cy="1"/>
          </a:xfrm>
          <a:prstGeom prst="line">
            <a:avLst/>
          </a:prstGeom>
          <a:ln w="3175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3"/>
          <p:cNvSpPr txBox="1"/>
          <p:nvPr/>
        </p:nvSpPr>
        <p:spPr>
          <a:xfrm>
            <a:off x="777240" y="4595494"/>
            <a:ext cx="4671762" cy="547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200"/>
              </a:lnSpc>
              <a:defRPr b="1" sz="3800">
                <a:solidFill>
                  <a:srgbClr val="FFFFFF"/>
                </a:solidFill>
              </a:defRPr>
            </a:pPr>
            <a:r>
              <a:t>Contexte et problème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118" name="Shape 4"/>
          <p:cNvSpPr/>
          <p:nvPr/>
        </p:nvSpPr>
        <p:spPr>
          <a:xfrm>
            <a:off x="777240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5"/>
          <p:cNvSpPr/>
          <p:nvPr/>
        </p:nvSpPr>
        <p:spPr>
          <a:xfrm>
            <a:off x="932688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6"/>
          <p:cNvSpPr/>
          <p:nvPr/>
        </p:nvSpPr>
        <p:spPr>
          <a:xfrm>
            <a:off x="1088136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7"/>
          <p:cNvSpPr/>
          <p:nvPr/>
        </p:nvSpPr>
        <p:spPr>
          <a:xfrm>
            <a:off x="1243583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8"/>
          <p:cNvSpPr/>
          <p:nvPr/>
        </p:nvSpPr>
        <p:spPr>
          <a:xfrm>
            <a:off x="1399032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9"/>
          <p:cNvSpPr/>
          <p:nvPr/>
        </p:nvSpPr>
        <p:spPr>
          <a:xfrm>
            <a:off x="1554480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10"/>
          <p:cNvSpPr/>
          <p:nvPr/>
        </p:nvSpPr>
        <p:spPr>
          <a:xfrm>
            <a:off x="1709927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11"/>
          <p:cNvSpPr/>
          <p:nvPr/>
        </p:nvSpPr>
        <p:spPr>
          <a:xfrm>
            <a:off x="1865376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12"/>
          <p:cNvSpPr/>
          <p:nvPr/>
        </p:nvSpPr>
        <p:spPr>
          <a:xfrm>
            <a:off x="777240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13"/>
          <p:cNvSpPr/>
          <p:nvPr/>
        </p:nvSpPr>
        <p:spPr>
          <a:xfrm>
            <a:off x="932688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14"/>
          <p:cNvSpPr/>
          <p:nvPr/>
        </p:nvSpPr>
        <p:spPr>
          <a:xfrm>
            <a:off x="1088136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15"/>
          <p:cNvSpPr/>
          <p:nvPr/>
        </p:nvSpPr>
        <p:spPr>
          <a:xfrm>
            <a:off x="1243583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16"/>
          <p:cNvSpPr/>
          <p:nvPr/>
        </p:nvSpPr>
        <p:spPr>
          <a:xfrm>
            <a:off x="1399032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Shape 17"/>
          <p:cNvSpPr/>
          <p:nvPr/>
        </p:nvSpPr>
        <p:spPr>
          <a:xfrm>
            <a:off x="1554480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18"/>
          <p:cNvSpPr/>
          <p:nvPr/>
        </p:nvSpPr>
        <p:spPr>
          <a:xfrm>
            <a:off x="1709927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9"/>
          <p:cNvSpPr/>
          <p:nvPr/>
        </p:nvSpPr>
        <p:spPr>
          <a:xfrm>
            <a:off x="1865376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20"/>
          <p:cNvSpPr/>
          <p:nvPr/>
        </p:nvSpPr>
        <p:spPr>
          <a:xfrm>
            <a:off x="1280160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21"/>
          <p:cNvSpPr/>
          <p:nvPr/>
        </p:nvSpPr>
        <p:spPr>
          <a:xfrm>
            <a:off x="1385316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22"/>
          <p:cNvSpPr/>
          <p:nvPr/>
        </p:nvSpPr>
        <p:spPr>
          <a:xfrm>
            <a:off x="1490472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23"/>
          <p:cNvSpPr/>
          <p:nvPr/>
        </p:nvSpPr>
        <p:spPr>
          <a:xfrm>
            <a:off x="1595627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24"/>
          <p:cNvSpPr/>
          <p:nvPr/>
        </p:nvSpPr>
        <p:spPr>
          <a:xfrm>
            <a:off x="1700783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Shape 25"/>
          <p:cNvSpPr/>
          <p:nvPr/>
        </p:nvSpPr>
        <p:spPr>
          <a:xfrm>
            <a:off x="1805939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26"/>
          <p:cNvSpPr/>
          <p:nvPr/>
        </p:nvSpPr>
        <p:spPr>
          <a:xfrm>
            <a:off x="1911095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27"/>
          <p:cNvSpPr/>
          <p:nvPr/>
        </p:nvSpPr>
        <p:spPr>
          <a:xfrm>
            <a:off x="2016251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Shape 28"/>
          <p:cNvSpPr/>
          <p:nvPr/>
        </p:nvSpPr>
        <p:spPr>
          <a:xfrm>
            <a:off x="2121407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29"/>
          <p:cNvSpPr/>
          <p:nvPr/>
        </p:nvSpPr>
        <p:spPr>
          <a:xfrm>
            <a:off x="2226564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30"/>
          <p:cNvSpPr/>
          <p:nvPr/>
        </p:nvSpPr>
        <p:spPr>
          <a:xfrm>
            <a:off x="2331720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31"/>
          <p:cNvSpPr/>
          <p:nvPr/>
        </p:nvSpPr>
        <p:spPr>
          <a:xfrm>
            <a:off x="2436876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32"/>
          <p:cNvSpPr/>
          <p:nvPr/>
        </p:nvSpPr>
        <p:spPr>
          <a:xfrm>
            <a:off x="2542032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33"/>
          <p:cNvSpPr/>
          <p:nvPr/>
        </p:nvSpPr>
        <p:spPr>
          <a:xfrm>
            <a:off x="2647188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Shape 34"/>
          <p:cNvSpPr/>
          <p:nvPr/>
        </p:nvSpPr>
        <p:spPr>
          <a:xfrm>
            <a:off x="2752344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35"/>
          <p:cNvSpPr/>
          <p:nvPr/>
        </p:nvSpPr>
        <p:spPr>
          <a:xfrm>
            <a:off x="2857500" y="6355079"/>
            <a:ext cx="64008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36"/>
          <p:cNvSpPr/>
          <p:nvPr/>
        </p:nvSpPr>
        <p:spPr>
          <a:xfrm>
            <a:off x="2962655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37"/>
          <p:cNvSpPr txBox="1"/>
          <p:nvPr/>
        </p:nvSpPr>
        <p:spPr>
          <a:xfrm>
            <a:off x="777240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52" name="Google Shape;299;p39"/>
          <p:cNvSpPr/>
          <p:nvPr/>
        </p:nvSpPr>
        <p:spPr>
          <a:xfrm>
            <a:off x="5031704" y="5751195"/>
            <a:ext cx="2745899" cy="2570845"/>
          </a:xfrm>
          <a:prstGeom prst="ellipse">
            <a:avLst/>
          </a:prstGeom>
          <a:solidFill>
            <a:srgbClr val="C8781C"/>
          </a:solidFill>
          <a:ln w="12700">
            <a:solidFill>
              <a:srgbClr val="AD5B24"/>
            </a:solidFill>
            <a:miter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TERRITOIRE D'ÉTUDE</a:t>
            </a:r>
          </a:p>
        </p:txBody>
      </p:sp>
      <p:sp>
        <p:nvSpPr>
          <p:cNvPr id="157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Ville &amp; Échantillon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158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161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79" name="Shape 23"/>
          <p:cNvSpPr/>
          <p:nvPr/>
        </p:nvSpPr>
        <p:spPr>
          <a:xfrm>
            <a:off x="777240" y="237743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4"/>
          <p:cNvSpPr txBox="1"/>
          <p:nvPr/>
        </p:nvSpPr>
        <p:spPr>
          <a:xfrm>
            <a:off x="777240" y="257310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Ames, Iowa</a:t>
            </a:r>
          </a:p>
        </p:txBody>
      </p:sp>
      <p:sp>
        <p:nvSpPr>
          <p:cNvPr id="181" name="Text 25"/>
          <p:cNvSpPr txBox="1"/>
          <p:nvPr/>
        </p:nvSpPr>
        <p:spPr>
          <a:xfrm>
            <a:off x="777240" y="3061401"/>
            <a:ext cx="50292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4A443C"/>
                </a:solidFill>
              </a:defRPr>
            </a:lvl1pPr>
          </a:lstStyle>
          <a:p>
            <a:pPr/>
            <a:r>
              <a:t>Ville universitaire du Midwest, centrée sur l'Iowa State University.</a:t>
            </a:r>
          </a:p>
        </p:txBody>
      </p:sp>
      <p:sp>
        <p:nvSpPr>
          <p:cNvPr id="182" name="Shape 26"/>
          <p:cNvSpPr/>
          <p:nvPr/>
        </p:nvSpPr>
        <p:spPr>
          <a:xfrm>
            <a:off x="6382511" y="237743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27"/>
          <p:cNvSpPr txBox="1"/>
          <p:nvPr/>
        </p:nvSpPr>
        <p:spPr>
          <a:xfrm>
            <a:off x="6382511" y="257310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~65 000 habitants</a:t>
            </a:r>
          </a:p>
        </p:txBody>
      </p:sp>
      <p:sp>
        <p:nvSpPr>
          <p:cNvPr id="184" name="Text 28"/>
          <p:cNvSpPr txBox="1"/>
          <p:nvPr/>
        </p:nvSpPr>
        <p:spPr>
          <a:xfrm>
            <a:off x="6382511" y="3175701"/>
            <a:ext cx="5029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4A443C"/>
                </a:solidFill>
              </a:defRPr>
            </a:lvl1pPr>
          </a:lstStyle>
          <a:p>
            <a:pPr/>
            <a:r>
              <a:t>Une ville moyenne, 25 quartiers aux profils très contrastés.</a:t>
            </a:r>
          </a:p>
        </p:txBody>
      </p:sp>
      <p:sp>
        <p:nvSpPr>
          <p:cNvPr id="185" name="Shape 29"/>
          <p:cNvSpPr/>
          <p:nvPr/>
        </p:nvSpPr>
        <p:spPr>
          <a:xfrm>
            <a:off x="777240" y="4206240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30"/>
          <p:cNvSpPr txBox="1"/>
          <p:nvPr/>
        </p:nvSpPr>
        <p:spPr>
          <a:xfrm>
            <a:off x="777240" y="440190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2006 – 2010</a:t>
            </a:r>
          </a:p>
        </p:txBody>
      </p:sp>
      <p:sp>
        <p:nvSpPr>
          <p:cNvPr id="187" name="Text 31"/>
          <p:cNvSpPr txBox="1"/>
          <p:nvPr/>
        </p:nvSpPr>
        <p:spPr>
          <a:xfrm>
            <a:off x="777240" y="5004501"/>
            <a:ext cx="5029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4A443C"/>
                </a:solidFill>
              </a:defRPr>
            </a:lvl1pPr>
          </a:lstStyle>
          <a:p>
            <a:pPr/>
            <a:r>
              <a:t>Période marquée par la crise des subprimes.</a:t>
            </a:r>
          </a:p>
        </p:txBody>
      </p:sp>
      <p:sp>
        <p:nvSpPr>
          <p:cNvPr id="188" name="Shape 32"/>
          <p:cNvSpPr/>
          <p:nvPr/>
        </p:nvSpPr>
        <p:spPr>
          <a:xfrm>
            <a:off x="6382511" y="4206240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33"/>
          <p:cNvSpPr txBox="1"/>
          <p:nvPr/>
        </p:nvSpPr>
        <p:spPr>
          <a:xfrm>
            <a:off x="6382511" y="440190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E8721C"/>
                </a:solidFill>
              </a:defRPr>
            </a:lvl1pPr>
          </a:lstStyle>
          <a:p>
            <a:pPr/>
            <a:r>
              <a:t>1 460 transactions</a:t>
            </a:r>
          </a:p>
        </p:txBody>
      </p:sp>
      <p:sp>
        <p:nvSpPr>
          <p:cNvPr id="190" name="Text 34"/>
          <p:cNvSpPr txBox="1"/>
          <p:nvPr/>
        </p:nvSpPr>
        <p:spPr>
          <a:xfrm>
            <a:off x="6382511" y="5004501"/>
            <a:ext cx="5029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4A443C"/>
                </a:solidFill>
              </a:defRPr>
            </a:lvl1pPr>
          </a:lstStyle>
          <a:p>
            <a:pPr/>
            <a:r>
              <a:t>Échantillon de ventes exhaustif du dataset Kaggle House Prices.</a:t>
            </a:r>
          </a:p>
        </p:txBody>
      </p:sp>
      <p:sp>
        <p:nvSpPr>
          <p:cNvPr id="191" name="Google Shape;299;p39"/>
          <p:cNvSpPr/>
          <p:nvPr/>
        </p:nvSpPr>
        <p:spPr>
          <a:xfrm>
            <a:off x="10924087" y="-1464010"/>
            <a:ext cx="3268137" cy="2988705"/>
          </a:xfrm>
          <a:prstGeom prst="ellipse">
            <a:avLst/>
          </a:prstGeom>
          <a:solidFill>
            <a:srgbClr val="10274D"/>
          </a:solidFill>
          <a:ln w="6350">
            <a:solidFill>
              <a:schemeClr val="accent5"/>
            </a:solidFill>
            <a:miter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2" name="Google Shape;297;p39" descr="Google Shape;297;p39"/>
          <p:cNvPicPr>
            <a:picLocks noChangeAspect="1"/>
          </p:cNvPicPr>
          <p:nvPr/>
        </p:nvPicPr>
        <p:blipFill>
          <a:blip r:embed="rId3">
            <a:alphaModFix amt="7826"/>
            <a:extLst/>
          </a:blip>
          <a:srcRect l="0" t="0" r="0" b="0"/>
          <a:stretch>
            <a:fillRect/>
          </a:stretch>
        </p:blipFill>
        <p:spPr>
          <a:xfrm>
            <a:off x="3562923" y="886740"/>
            <a:ext cx="3645523" cy="54695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8259;p95"/>
          <p:cNvGrpSpPr/>
          <p:nvPr/>
        </p:nvGrpSpPr>
        <p:grpSpPr>
          <a:xfrm rot="5400000">
            <a:off x="19145" y="1952393"/>
            <a:ext cx="2686803" cy="2699034"/>
            <a:chOff x="0" y="0"/>
            <a:chExt cx="2686801" cy="2699033"/>
          </a:xfrm>
        </p:grpSpPr>
        <p:sp>
          <p:nvSpPr>
            <p:cNvPr id="196" name="Google Shape;8260;p95"/>
            <p:cNvSpPr/>
            <p:nvPr/>
          </p:nvSpPr>
          <p:spPr>
            <a:xfrm>
              <a:off x="0" y="2382017"/>
              <a:ext cx="2685197" cy="317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8" h="21600" fill="norm" stroke="1" extrusionOk="0">
                  <a:moveTo>
                    <a:pt x="1384" y="0"/>
                  </a:moveTo>
                  <a:cubicBezTo>
                    <a:pt x="1241" y="0"/>
                    <a:pt x="1051" y="821"/>
                    <a:pt x="909" y="2052"/>
                  </a:cubicBezTo>
                  <a:cubicBezTo>
                    <a:pt x="575" y="5712"/>
                    <a:pt x="242" y="9782"/>
                    <a:pt x="52" y="14263"/>
                  </a:cubicBezTo>
                  <a:cubicBezTo>
                    <a:pt x="-44" y="15888"/>
                    <a:pt x="4" y="17923"/>
                    <a:pt x="100" y="19154"/>
                  </a:cubicBezTo>
                  <a:cubicBezTo>
                    <a:pt x="242" y="20779"/>
                    <a:pt x="431" y="21600"/>
                    <a:pt x="623" y="21600"/>
                  </a:cubicBezTo>
                  <a:lnTo>
                    <a:pt x="20795" y="21600"/>
                  </a:lnTo>
                  <a:cubicBezTo>
                    <a:pt x="21222" y="21600"/>
                    <a:pt x="21556" y="17923"/>
                    <a:pt x="21414" y="14263"/>
                  </a:cubicBezTo>
                  <a:cubicBezTo>
                    <a:pt x="21176" y="9782"/>
                    <a:pt x="20891" y="5712"/>
                    <a:pt x="20509" y="2052"/>
                  </a:cubicBezTo>
                  <a:cubicBezTo>
                    <a:pt x="20367" y="821"/>
                    <a:pt x="20223" y="0"/>
                    <a:pt x="20034" y="0"/>
                  </a:cubicBezTo>
                  <a:close/>
                </a:path>
              </a:pathLst>
            </a:custGeom>
            <a:solidFill>
              <a:srgbClr val="869FB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7" name="Google Shape;8261;p95"/>
            <p:cNvSpPr/>
            <p:nvPr/>
          </p:nvSpPr>
          <p:spPr>
            <a:xfrm>
              <a:off x="316189" y="1270325"/>
              <a:ext cx="476474" cy="956322"/>
            </a:xfrm>
            <a:prstGeom prst="rect">
              <a:avLst/>
            </a:prstGeom>
            <a:solidFill>
              <a:srgbClr val="869FB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8" name="Google Shape;8262;p95"/>
            <p:cNvSpPr/>
            <p:nvPr/>
          </p:nvSpPr>
          <p:spPr>
            <a:xfrm>
              <a:off x="1108560" y="1270325"/>
              <a:ext cx="470472" cy="956322"/>
            </a:xfrm>
            <a:prstGeom prst="rect">
              <a:avLst/>
            </a:prstGeom>
            <a:solidFill>
              <a:srgbClr val="869FB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9" name="Google Shape;8263;p95"/>
            <p:cNvSpPr/>
            <p:nvPr/>
          </p:nvSpPr>
          <p:spPr>
            <a:xfrm>
              <a:off x="1894679" y="1270325"/>
              <a:ext cx="470472" cy="956322"/>
            </a:xfrm>
            <a:prstGeom prst="rect">
              <a:avLst/>
            </a:prstGeom>
            <a:solidFill>
              <a:srgbClr val="869FB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0" name="Google Shape;8264;p95"/>
            <p:cNvSpPr/>
            <p:nvPr/>
          </p:nvSpPr>
          <p:spPr>
            <a:xfrm>
              <a:off x="6544" y="798189"/>
              <a:ext cx="2680258" cy="316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40" y="7736"/>
                    <a:pt x="720" y="14257"/>
                    <a:pt x="1344" y="19974"/>
                  </a:cubicBezTo>
                  <a:lnTo>
                    <a:pt x="1296" y="19974"/>
                  </a:lnTo>
                  <a:cubicBezTo>
                    <a:pt x="1439" y="21189"/>
                    <a:pt x="1584" y="21600"/>
                    <a:pt x="1776" y="21600"/>
                  </a:cubicBezTo>
                  <a:lnTo>
                    <a:pt x="19778" y="21600"/>
                  </a:lnTo>
                  <a:cubicBezTo>
                    <a:pt x="19921" y="21600"/>
                    <a:pt x="20112" y="21189"/>
                    <a:pt x="20209" y="19974"/>
                  </a:cubicBezTo>
                  <a:cubicBezTo>
                    <a:pt x="20880" y="14668"/>
                    <a:pt x="21314" y="7736"/>
                    <a:pt x="21600" y="0"/>
                  </a:cubicBezTo>
                  <a:close/>
                </a:path>
              </a:pathLst>
            </a:custGeom>
            <a:solidFill>
              <a:srgbClr val="869FB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1" name="Google Shape;8265;p95"/>
            <p:cNvSpPr/>
            <p:nvPr/>
          </p:nvSpPr>
          <p:spPr>
            <a:xfrm>
              <a:off x="48313" y="0"/>
              <a:ext cx="2584963" cy="642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9" y="0"/>
                  </a:moveTo>
                  <a:cubicBezTo>
                    <a:pt x="10701" y="0"/>
                    <a:pt x="10600" y="101"/>
                    <a:pt x="10502" y="304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11098" y="304"/>
                  </a:lnTo>
                  <a:cubicBezTo>
                    <a:pt x="11000" y="101"/>
                    <a:pt x="10899" y="0"/>
                    <a:pt x="10799" y="0"/>
                  </a:cubicBezTo>
                  <a:close/>
                </a:path>
              </a:pathLst>
            </a:custGeom>
            <a:solidFill>
              <a:srgbClr val="869FB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203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DISPERSION DES PRIX</a:t>
            </a:r>
          </a:p>
        </p:txBody>
      </p:sp>
      <p:sp>
        <p:nvSpPr>
          <p:cNvPr id="204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Étendue du Marché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205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208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26" name="Text 23"/>
          <p:cNvSpPr txBox="1"/>
          <p:nvPr/>
        </p:nvSpPr>
        <p:spPr>
          <a:xfrm>
            <a:off x="914399" y="1997630"/>
            <a:ext cx="10360154" cy="1216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600">
                <a:solidFill>
                  <a:srgbClr val="E8721C"/>
                </a:solidFill>
              </a:defRPr>
            </a:lvl1pPr>
          </a:lstStyle>
          <a:p>
            <a:pPr/>
            <a:r>
              <a:t>×21</a:t>
            </a:r>
          </a:p>
        </p:txBody>
      </p:sp>
      <p:sp>
        <p:nvSpPr>
          <p:cNvPr id="227" name="Text 24"/>
          <p:cNvSpPr txBox="1"/>
          <p:nvPr/>
        </p:nvSpPr>
        <p:spPr>
          <a:xfrm>
            <a:off x="914399" y="3471480"/>
            <a:ext cx="1036015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7A6F60"/>
                </a:solidFill>
              </a:defRPr>
            </a:lvl1pPr>
          </a:lstStyle>
          <a:p>
            <a:pPr/>
            <a:r>
              <a:t>entre la maison la moins chère et la plus chère de la même ville</a:t>
            </a:r>
          </a:p>
        </p:txBody>
      </p:sp>
      <p:sp>
        <p:nvSpPr>
          <p:cNvPr id="228" name="Shape 25"/>
          <p:cNvSpPr/>
          <p:nvPr/>
        </p:nvSpPr>
        <p:spPr>
          <a:xfrm>
            <a:off x="3108960" y="4709159"/>
            <a:ext cx="5669280" cy="1"/>
          </a:xfrm>
          <a:prstGeom prst="line">
            <a:avLst/>
          </a:prstGeom>
          <a:ln w="1905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26"/>
          <p:cNvSpPr/>
          <p:nvPr/>
        </p:nvSpPr>
        <p:spPr>
          <a:xfrm>
            <a:off x="3008376" y="4608576"/>
            <a:ext cx="201169" cy="201169"/>
          </a:xfrm>
          <a:prstGeom prst="ellipse">
            <a:avLst/>
          </a:prstGeom>
          <a:solidFill>
            <a:srgbClr val="18181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Shape 27"/>
          <p:cNvSpPr/>
          <p:nvPr/>
        </p:nvSpPr>
        <p:spPr>
          <a:xfrm>
            <a:off x="8311077" y="4241996"/>
            <a:ext cx="934327" cy="934327"/>
          </a:xfrm>
          <a:prstGeom prst="ellipse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28"/>
          <p:cNvSpPr txBox="1"/>
          <p:nvPr/>
        </p:nvSpPr>
        <p:spPr>
          <a:xfrm>
            <a:off x="2194560" y="5053392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8181E"/>
                </a:solidFill>
              </a:defRPr>
            </a:lvl1pPr>
          </a:lstStyle>
          <a:p>
            <a:pPr/>
            <a:r>
              <a:t>35 000 $</a:t>
            </a:r>
          </a:p>
        </p:txBody>
      </p:sp>
      <p:sp>
        <p:nvSpPr>
          <p:cNvPr id="232" name="Text 29"/>
          <p:cNvSpPr txBox="1"/>
          <p:nvPr/>
        </p:nvSpPr>
        <p:spPr>
          <a:xfrm>
            <a:off x="7863840" y="5374251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E8721C"/>
                </a:solidFill>
              </a:defRPr>
            </a:lvl1pPr>
          </a:lstStyle>
          <a:p>
            <a:pPr/>
            <a:r>
              <a:t>755 000 $</a:t>
            </a:r>
          </a:p>
        </p:txBody>
      </p:sp>
      <p:sp>
        <p:nvSpPr>
          <p:cNvPr id="233" name="Text 30"/>
          <p:cNvSpPr txBox="1"/>
          <p:nvPr/>
        </p:nvSpPr>
        <p:spPr>
          <a:xfrm>
            <a:off x="914399" y="5874311"/>
            <a:ext cx="1036015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200">
                <a:solidFill>
                  <a:srgbClr val="7A6F60"/>
                </a:solidFill>
              </a:defRPr>
            </a:lvl1pPr>
          </a:lstStyle>
          <a:p>
            <a:pPr/>
            <a:r>
              <a:t>Surfaces à l'échelle : chaque cercle est proportionnel au prix.</a:t>
            </a:r>
          </a:p>
        </p:txBody>
      </p:sp>
      <p:sp>
        <p:nvSpPr>
          <p:cNvPr id="234" name="Google Shape;330;p42"/>
          <p:cNvSpPr/>
          <p:nvPr/>
        </p:nvSpPr>
        <p:spPr>
          <a:xfrm>
            <a:off x="5071173" y="-606193"/>
            <a:ext cx="1019700" cy="2270401"/>
          </a:xfrm>
          <a:prstGeom prst="rect">
            <a:avLst/>
          </a:prstGeom>
          <a:gradFill>
            <a:gsLst>
              <a:gs pos="0">
                <a:srgbClr val="70A6DB">
                  <a:alpha val="42082"/>
                </a:srgbClr>
              </a:gs>
              <a:gs pos="50000">
                <a:srgbClr val="559BDB">
                  <a:alpha val="42082"/>
                </a:srgbClr>
              </a:gs>
              <a:gs pos="100000">
                <a:srgbClr val="448AC9">
                  <a:alpha val="42082"/>
                </a:srgbClr>
              </a:gs>
            </a:gsLst>
            <a:lin ang="5400000"/>
          </a:gradFill>
          <a:ln w="6350">
            <a:solidFill>
              <a:schemeClr val="accent5">
                <a:alpha val="42082"/>
              </a:schemeClr>
            </a:solidFill>
            <a:miter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INTERROGATION CLÉ</a:t>
            </a:r>
          </a:p>
        </p:txBody>
      </p:sp>
      <p:sp>
        <p:nvSpPr>
          <p:cNvPr id="239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Problématique Majeure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240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243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61" name="Text 23"/>
          <p:cNvSpPr txBox="1"/>
          <p:nvPr/>
        </p:nvSpPr>
        <p:spPr>
          <a:xfrm>
            <a:off x="1097279" y="2782569"/>
            <a:ext cx="9994394" cy="1750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4600"/>
              </a:lnSpc>
              <a:defRPr b="1" sz="3600">
                <a:solidFill>
                  <a:srgbClr val="18181E"/>
                </a:solidFill>
              </a:defRPr>
            </a:pPr>
            <a:r>
              <a:t>Qu'est-ce qui détermine réellement</a:t>
            </a:r>
          </a:p>
          <a:p>
            <a:pPr algn="ctr">
              <a:lnSpc>
                <a:spcPts val="4600"/>
              </a:lnSpc>
              <a:defRPr b="1" sz="3600">
                <a:solidFill>
                  <a:srgbClr val="18181E"/>
                </a:solidFill>
              </a:defRPr>
            </a:pPr>
            <a:r>
              <a:t>le prix d'une maison</a:t>
            </a:r>
          </a:p>
          <a:p>
            <a:pPr algn="ctr">
              <a:lnSpc>
                <a:spcPts val="4600"/>
              </a:lnSpc>
              <a:defRPr b="1" sz="3600">
                <a:solidFill>
                  <a:srgbClr val="E8721C"/>
                </a:solidFill>
              </a:defRPr>
            </a:pPr>
            <a:r>
              <a:t> ?</a:t>
            </a:r>
          </a:p>
        </p:txBody>
      </p:sp>
      <p:sp>
        <p:nvSpPr>
          <p:cNvPr id="262" name="Shape 24"/>
          <p:cNvSpPr/>
          <p:nvPr/>
        </p:nvSpPr>
        <p:spPr>
          <a:xfrm>
            <a:off x="777240" y="525780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Shape 25"/>
          <p:cNvSpPr/>
          <p:nvPr/>
        </p:nvSpPr>
        <p:spPr>
          <a:xfrm>
            <a:off x="932688" y="525780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Shape 26"/>
          <p:cNvSpPr/>
          <p:nvPr/>
        </p:nvSpPr>
        <p:spPr>
          <a:xfrm>
            <a:off x="1088136" y="525780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Shape 27"/>
          <p:cNvSpPr/>
          <p:nvPr/>
        </p:nvSpPr>
        <p:spPr>
          <a:xfrm>
            <a:off x="1243583" y="525780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Shape 28"/>
          <p:cNvSpPr/>
          <p:nvPr/>
        </p:nvSpPr>
        <p:spPr>
          <a:xfrm>
            <a:off x="1399032" y="525780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Shape 29"/>
          <p:cNvSpPr/>
          <p:nvPr/>
        </p:nvSpPr>
        <p:spPr>
          <a:xfrm>
            <a:off x="1554480" y="525780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Shape 30"/>
          <p:cNvSpPr/>
          <p:nvPr/>
        </p:nvSpPr>
        <p:spPr>
          <a:xfrm>
            <a:off x="1709927" y="525780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hape 31"/>
          <p:cNvSpPr/>
          <p:nvPr/>
        </p:nvSpPr>
        <p:spPr>
          <a:xfrm>
            <a:off x="1865376" y="5257800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Shape 32"/>
          <p:cNvSpPr/>
          <p:nvPr/>
        </p:nvSpPr>
        <p:spPr>
          <a:xfrm>
            <a:off x="777240" y="5413247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Shape 33"/>
          <p:cNvSpPr/>
          <p:nvPr/>
        </p:nvSpPr>
        <p:spPr>
          <a:xfrm>
            <a:off x="932688" y="5413247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Shape 34"/>
          <p:cNvSpPr/>
          <p:nvPr/>
        </p:nvSpPr>
        <p:spPr>
          <a:xfrm>
            <a:off x="1088136" y="5413247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Shape 35"/>
          <p:cNvSpPr/>
          <p:nvPr/>
        </p:nvSpPr>
        <p:spPr>
          <a:xfrm>
            <a:off x="1243583" y="5413247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Shape 36"/>
          <p:cNvSpPr/>
          <p:nvPr/>
        </p:nvSpPr>
        <p:spPr>
          <a:xfrm>
            <a:off x="1399032" y="5413247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Shape 37"/>
          <p:cNvSpPr/>
          <p:nvPr/>
        </p:nvSpPr>
        <p:spPr>
          <a:xfrm>
            <a:off x="1554480" y="5413247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38"/>
          <p:cNvSpPr/>
          <p:nvPr/>
        </p:nvSpPr>
        <p:spPr>
          <a:xfrm>
            <a:off x="1709927" y="5413247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Shape 39"/>
          <p:cNvSpPr/>
          <p:nvPr/>
        </p:nvSpPr>
        <p:spPr>
          <a:xfrm>
            <a:off x="1865376" y="5413247"/>
            <a:ext cx="41149" cy="41149"/>
          </a:xfrm>
          <a:prstGeom prst="ellipse">
            <a:avLst/>
          </a:prstGeom>
          <a:solidFill>
            <a:srgbClr val="F3DEC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Google Shape;299;p39"/>
          <p:cNvSpPr/>
          <p:nvPr/>
        </p:nvSpPr>
        <p:spPr>
          <a:xfrm>
            <a:off x="-2286409" y="1682482"/>
            <a:ext cx="3268136" cy="2988705"/>
          </a:xfrm>
          <a:prstGeom prst="ellipse">
            <a:avLst/>
          </a:prstGeom>
          <a:solidFill>
            <a:srgbClr val="10274D"/>
          </a:solidFill>
          <a:ln w="6350">
            <a:solidFill>
              <a:schemeClr val="accent5"/>
            </a:solidFill>
            <a:miter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0" y="0"/>
            <a:ext cx="578815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Text 0"/>
          <p:cNvSpPr txBox="1"/>
          <p:nvPr/>
        </p:nvSpPr>
        <p:spPr>
          <a:xfrm>
            <a:off x="777240" y="54540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20" sz="1400">
                <a:solidFill>
                  <a:srgbClr val="D8D0BE"/>
                </a:solidFill>
              </a:defRPr>
            </a:lvl1pPr>
          </a:lstStyle>
          <a:p>
            <a:pPr/>
            <a:r>
              <a:t>IMMOBILIER AMES · ENQUÊTE</a:t>
            </a:r>
          </a:p>
        </p:txBody>
      </p:sp>
      <p:sp>
        <p:nvSpPr>
          <p:cNvPr id="284" name="Text 1"/>
          <p:cNvSpPr txBox="1"/>
          <p:nvPr/>
        </p:nvSpPr>
        <p:spPr>
          <a:xfrm>
            <a:off x="722376" y="1785019"/>
            <a:ext cx="4572001" cy="191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0">
                <a:solidFill>
                  <a:srgbClr val="E8721C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85" name="Shape 2"/>
          <p:cNvSpPr/>
          <p:nvPr/>
        </p:nvSpPr>
        <p:spPr>
          <a:xfrm>
            <a:off x="795527" y="3977640"/>
            <a:ext cx="1463042" cy="1"/>
          </a:xfrm>
          <a:prstGeom prst="line">
            <a:avLst/>
          </a:prstGeom>
          <a:ln w="3175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3"/>
          <p:cNvSpPr txBox="1"/>
          <p:nvPr/>
        </p:nvSpPr>
        <p:spPr>
          <a:xfrm>
            <a:off x="777240" y="4595494"/>
            <a:ext cx="4480560" cy="547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200"/>
              </a:lnSpc>
              <a:defRPr b="1" sz="3800">
                <a:solidFill>
                  <a:srgbClr val="FFFFFF"/>
                </a:solidFill>
              </a:defRPr>
            </a:pPr>
            <a:r>
              <a:t>Jeu de données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287" name="Shape 4"/>
          <p:cNvSpPr/>
          <p:nvPr/>
        </p:nvSpPr>
        <p:spPr>
          <a:xfrm>
            <a:off x="777240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Shape 5"/>
          <p:cNvSpPr/>
          <p:nvPr/>
        </p:nvSpPr>
        <p:spPr>
          <a:xfrm>
            <a:off x="932688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Shape 6"/>
          <p:cNvSpPr/>
          <p:nvPr/>
        </p:nvSpPr>
        <p:spPr>
          <a:xfrm>
            <a:off x="1088136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Shape 7"/>
          <p:cNvSpPr/>
          <p:nvPr/>
        </p:nvSpPr>
        <p:spPr>
          <a:xfrm>
            <a:off x="1243583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Shape 8"/>
          <p:cNvSpPr/>
          <p:nvPr/>
        </p:nvSpPr>
        <p:spPr>
          <a:xfrm>
            <a:off x="1399032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Shape 9"/>
          <p:cNvSpPr/>
          <p:nvPr/>
        </p:nvSpPr>
        <p:spPr>
          <a:xfrm>
            <a:off x="1554480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hape 10"/>
          <p:cNvSpPr/>
          <p:nvPr/>
        </p:nvSpPr>
        <p:spPr>
          <a:xfrm>
            <a:off x="1709927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11"/>
          <p:cNvSpPr/>
          <p:nvPr/>
        </p:nvSpPr>
        <p:spPr>
          <a:xfrm>
            <a:off x="1865376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12"/>
          <p:cNvSpPr/>
          <p:nvPr/>
        </p:nvSpPr>
        <p:spPr>
          <a:xfrm>
            <a:off x="777240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Shape 13"/>
          <p:cNvSpPr/>
          <p:nvPr/>
        </p:nvSpPr>
        <p:spPr>
          <a:xfrm>
            <a:off x="932688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Shape 14"/>
          <p:cNvSpPr/>
          <p:nvPr/>
        </p:nvSpPr>
        <p:spPr>
          <a:xfrm>
            <a:off x="1088136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Shape 15"/>
          <p:cNvSpPr/>
          <p:nvPr/>
        </p:nvSpPr>
        <p:spPr>
          <a:xfrm>
            <a:off x="1243583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16"/>
          <p:cNvSpPr/>
          <p:nvPr/>
        </p:nvSpPr>
        <p:spPr>
          <a:xfrm>
            <a:off x="1399032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Shape 17"/>
          <p:cNvSpPr/>
          <p:nvPr/>
        </p:nvSpPr>
        <p:spPr>
          <a:xfrm>
            <a:off x="1554480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Shape 18"/>
          <p:cNvSpPr/>
          <p:nvPr/>
        </p:nvSpPr>
        <p:spPr>
          <a:xfrm>
            <a:off x="1709927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Shape 19"/>
          <p:cNvSpPr/>
          <p:nvPr/>
        </p:nvSpPr>
        <p:spPr>
          <a:xfrm>
            <a:off x="1865376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Shape 20"/>
          <p:cNvSpPr/>
          <p:nvPr/>
        </p:nvSpPr>
        <p:spPr>
          <a:xfrm>
            <a:off x="1280160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Shape 21"/>
          <p:cNvSpPr/>
          <p:nvPr/>
        </p:nvSpPr>
        <p:spPr>
          <a:xfrm>
            <a:off x="1385316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Shape 22"/>
          <p:cNvSpPr/>
          <p:nvPr/>
        </p:nvSpPr>
        <p:spPr>
          <a:xfrm>
            <a:off x="1490472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23"/>
          <p:cNvSpPr/>
          <p:nvPr/>
        </p:nvSpPr>
        <p:spPr>
          <a:xfrm>
            <a:off x="1595627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Shape 24"/>
          <p:cNvSpPr/>
          <p:nvPr/>
        </p:nvSpPr>
        <p:spPr>
          <a:xfrm>
            <a:off x="1700783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Shape 25"/>
          <p:cNvSpPr/>
          <p:nvPr/>
        </p:nvSpPr>
        <p:spPr>
          <a:xfrm>
            <a:off x="1805939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Shape 26"/>
          <p:cNvSpPr/>
          <p:nvPr/>
        </p:nvSpPr>
        <p:spPr>
          <a:xfrm>
            <a:off x="1911095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Shape 27"/>
          <p:cNvSpPr/>
          <p:nvPr/>
        </p:nvSpPr>
        <p:spPr>
          <a:xfrm>
            <a:off x="2016251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Shape 28"/>
          <p:cNvSpPr/>
          <p:nvPr/>
        </p:nvSpPr>
        <p:spPr>
          <a:xfrm>
            <a:off x="2121407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Shape 29"/>
          <p:cNvSpPr/>
          <p:nvPr/>
        </p:nvSpPr>
        <p:spPr>
          <a:xfrm>
            <a:off x="2226564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Shape 30"/>
          <p:cNvSpPr/>
          <p:nvPr/>
        </p:nvSpPr>
        <p:spPr>
          <a:xfrm>
            <a:off x="2331720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Shape 31"/>
          <p:cNvSpPr/>
          <p:nvPr/>
        </p:nvSpPr>
        <p:spPr>
          <a:xfrm>
            <a:off x="2436876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Shape 32"/>
          <p:cNvSpPr/>
          <p:nvPr/>
        </p:nvSpPr>
        <p:spPr>
          <a:xfrm>
            <a:off x="2542032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Shape 33"/>
          <p:cNvSpPr/>
          <p:nvPr/>
        </p:nvSpPr>
        <p:spPr>
          <a:xfrm>
            <a:off x="2647188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Shape 34"/>
          <p:cNvSpPr/>
          <p:nvPr/>
        </p:nvSpPr>
        <p:spPr>
          <a:xfrm>
            <a:off x="2752344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35"/>
          <p:cNvSpPr/>
          <p:nvPr/>
        </p:nvSpPr>
        <p:spPr>
          <a:xfrm>
            <a:off x="2857500" y="6355079"/>
            <a:ext cx="64008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Shape 36"/>
          <p:cNvSpPr/>
          <p:nvPr/>
        </p:nvSpPr>
        <p:spPr>
          <a:xfrm>
            <a:off x="2962655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37"/>
          <p:cNvSpPr txBox="1"/>
          <p:nvPr/>
        </p:nvSpPr>
        <p:spPr>
          <a:xfrm>
            <a:off x="777240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DONNÉES SOURCES</a:t>
            </a:r>
          </a:p>
        </p:txBody>
      </p:sp>
      <p:sp>
        <p:nvSpPr>
          <p:cNvPr id="325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Anatomie du Dataset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326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4"/>
          <p:cNvSpPr txBox="1"/>
          <p:nvPr/>
        </p:nvSpPr>
        <p:spPr>
          <a:xfrm>
            <a:off x="777240" y="6377984"/>
            <a:ext cx="5486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329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5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347" name="Text 23"/>
          <p:cNvSpPr txBox="1"/>
          <p:nvPr/>
        </p:nvSpPr>
        <p:spPr>
          <a:xfrm>
            <a:off x="777240" y="216162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63" sz="2000">
                <a:solidFill>
                  <a:srgbClr val="7A6F60"/>
                </a:solidFill>
              </a:defRPr>
            </a:lvl1pPr>
          </a:lstStyle>
          <a:p>
            <a:pPr/>
            <a:r>
              <a:t>ORIGINES DE L'ENQUÊTE</a:t>
            </a:r>
          </a:p>
        </p:txBody>
      </p:sp>
      <p:sp>
        <p:nvSpPr>
          <p:cNvPr id="348" name="Shape 24"/>
          <p:cNvSpPr/>
          <p:nvPr/>
        </p:nvSpPr>
        <p:spPr>
          <a:xfrm>
            <a:off x="777240" y="2514600"/>
            <a:ext cx="5029201" cy="0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Text 25"/>
          <p:cNvSpPr txBox="1"/>
          <p:nvPr/>
        </p:nvSpPr>
        <p:spPr>
          <a:xfrm>
            <a:off x="777240" y="271026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Dean De Cock (2011)</a:t>
            </a:r>
          </a:p>
        </p:txBody>
      </p:sp>
      <p:sp>
        <p:nvSpPr>
          <p:cNvPr id="350" name="Text 26"/>
          <p:cNvSpPr txBox="1"/>
          <p:nvPr/>
        </p:nvSpPr>
        <p:spPr>
          <a:xfrm>
            <a:off x="777240" y="330156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Publication académique devenue référence.</a:t>
            </a:r>
          </a:p>
        </p:txBody>
      </p:sp>
      <p:sp>
        <p:nvSpPr>
          <p:cNvPr id="351" name="Shape 27"/>
          <p:cNvSpPr/>
          <p:nvPr/>
        </p:nvSpPr>
        <p:spPr>
          <a:xfrm>
            <a:off x="777240" y="406907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28"/>
          <p:cNvSpPr txBox="1"/>
          <p:nvPr/>
        </p:nvSpPr>
        <p:spPr>
          <a:xfrm>
            <a:off x="777240" y="426474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Kaggle House Prices</a:t>
            </a:r>
          </a:p>
        </p:txBody>
      </p:sp>
      <p:sp>
        <p:nvSpPr>
          <p:cNvPr id="353" name="Text 29"/>
          <p:cNvSpPr txBox="1"/>
          <p:nvPr/>
        </p:nvSpPr>
        <p:spPr>
          <a:xfrm>
            <a:off x="777240" y="485604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Compétition de régression de premier plan.</a:t>
            </a:r>
          </a:p>
        </p:txBody>
      </p:sp>
      <p:sp>
        <p:nvSpPr>
          <p:cNvPr id="354" name="Text 30"/>
          <p:cNvSpPr txBox="1"/>
          <p:nvPr/>
        </p:nvSpPr>
        <p:spPr>
          <a:xfrm>
            <a:off x="6382511" y="216162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63" sz="2000">
                <a:solidFill>
                  <a:srgbClr val="7A6F60"/>
                </a:solidFill>
              </a:defRPr>
            </a:lvl1pPr>
          </a:lstStyle>
          <a:p>
            <a:pPr/>
            <a:r>
              <a:t>STRUCTURE INTERNE</a:t>
            </a:r>
          </a:p>
        </p:txBody>
      </p:sp>
      <p:sp>
        <p:nvSpPr>
          <p:cNvPr id="355" name="Shape 31"/>
          <p:cNvSpPr/>
          <p:nvPr/>
        </p:nvSpPr>
        <p:spPr>
          <a:xfrm>
            <a:off x="6382511" y="2514600"/>
            <a:ext cx="5029201" cy="0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32"/>
          <p:cNvSpPr txBox="1"/>
          <p:nvPr/>
        </p:nvSpPr>
        <p:spPr>
          <a:xfrm>
            <a:off x="6382511" y="271026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80 variables + 1 cible</a:t>
            </a:r>
          </a:p>
        </p:txBody>
      </p:sp>
      <p:sp>
        <p:nvSpPr>
          <p:cNvPr id="357" name="Text 33"/>
          <p:cNvSpPr txBox="1"/>
          <p:nvPr/>
        </p:nvSpPr>
        <p:spPr>
          <a:xfrm>
            <a:off x="6382511" y="330156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Descriptif complet de chaque bien, plus SalePrice.</a:t>
            </a:r>
          </a:p>
        </p:txBody>
      </p:sp>
      <p:sp>
        <p:nvSpPr>
          <p:cNvPr id="358" name="Shape 34"/>
          <p:cNvSpPr/>
          <p:nvPr/>
        </p:nvSpPr>
        <p:spPr>
          <a:xfrm>
            <a:off x="6382511" y="406907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35"/>
          <p:cNvSpPr txBox="1"/>
          <p:nvPr/>
        </p:nvSpPr>
        <p:spPr>
          <a:xfrm>
            <a:off x="6382511" y="4264749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37 quantitatives · 43 qualitatives</a:t>
            </a:r>
          </a:p>
        </p:txBody>
      </p:sp>
      <p:sp>
        <p:nvSpPr>
          <p:cNvPr id="360" name="Text 36"/>
          <p:cNvSpPr txBox="1"/>
          <p:nvPr/>
        </p:nvSpPr>
        <p:spPr>
          <a:xfrm>
            <a:off x="6382511" y="485604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Une typologie équilibrée, traitée selon sa nature.</a:t>
            </a:r>
          </a:p>
        </p:txBody>
      </p:sp>
      <p:sp>
        <p:nvSpPr>
          <p:cNvPr id="361" name="Google Shape;330;p42"/>
          <p:cNvSpPr/>
          <p:nvPr/>
        </p:nvSpPr>
        <p:spPr>
          <a:xfrm>
            <a:off x="10869858" y="-657500"/>
            <a:ext cx="1019700" cy="2270401"/>
          </a:xfrm>
          <a:prstGeom prst="rect">
            <a:avLst/>
          </a:prstGeom>
          <a:solidFill>
            <a:schemeClr val="accent5">
              <a:alpha val="445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400">
                <a:latin typeface="Inter"/>
                <a:ea typeface="Inter"/>
                <a:cs typeface="Inter"/>
                <a:sym typeface="Inte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STATISTIQUES GLOBALES</a:t>
            </a:r>
          </a:p>
        </p:txBody>
      </p:sp>
      <p:sp>
        <p:nvSpPr>
          <p:cNvPr id="366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Indicateurs de Référence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367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Text 4"/>
          <p:cNvSpPr txBox="1"/>
          <p:nvPr/>
        </p:nvSpPr>
        <p:spPr>
          <a:xfrm>
            <a:off x="777240" y="6377984"/>
            <a:ext cx="54864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370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7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388" name="Shape 23"/>
          <p:cNvSpPr/>
          <p:nvPr/>
        </p:nvSpPr>
        <p:spPr>
          <a:xfrm>
            <a:off x="777240" y="2926079"/>
            <a:ext cx="196596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Text 24"/>
          <p:cNvSpPr txBox="1"/>
          <p:nvPr/>
        </p:nvSpPr>
        <p:spPr>
          <a:xfrm>
            <a:off x="777240" y="3158587"/>
            <a:ext cx="196596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E8721C"/>
                </a:solidFill>
              </a:defRPr>
            </a:lvl1pPr>
          </a:lstStyle>
          <a:p>
            <a:pPr/>
            <a:r>
              <a:t>163 000 $</a:t>
            </a:r>
          </a:p>
        </p:txBody>
      </p:sp>
      <p:sp>
        <p:nvSpPr>
          <p:cNvPr id="390" name="Text 25"/>
          <p:cNvSpPr txBox="1"/>
          <p:nvPr/>
        </p:nvSpPr>
        <p:spPr>
          <a:xfrm>
            <a:off x="777240" y="3665658"/>
            <a:ext cx="19659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77" sz="1300">
                <a:solidFill>
                  <a:srgbClr val="18181E"/>
                </a:solidFill>
              </a:defRPr>
            </a:lvl1pPr>
          </a:lstStyle>
          <a:p>
            <a:pPr/>
            <a:r>
              <a:t>PRIX MÉDIAN</a:t>
            </a:r>
          </a:p>
        </p:txBody>
      </p:sp>
      <p:sp>
        <p:nvSpPr>
          <p:cNvPr id="391" name="Shape 26"/>
          <p:cNvSpPr/>
          <p:nvPr/>
        </p:nvSpPr>
        <p:spPr>
          <a:xfrm>
            <a:off x="2944367" y="2926079"/>
            <a:ext cx="196596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ext 27"/>
          <p:cNvSpPr txBox="1"/>
          <p:nvPr/>
        </p:nvSpPr>
        <p:spPr>
          <a:xfrm>
            <a:off x="2944367" y="3158587"/>
            <a:ext cx="196596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E8721C"/>
                </a:solidFill>
              </a:defRPr>
            </a:lvl1pPr>
          </a:lstStyle>
          <a:p>
            <a:pPr/>
            <a:r>
              <a:t>315 000 $</a:t>
            </a:r>
          </a:p>
        </p:txBody>
      </p:sp>
      <p:sp>
        <p:nvSpPr>
          <p:cNvPr id="393" name="Text 28"/>
          <p:cNvSpPr txBox="1"/>
          <p:nvPr/>
        </p:nvSpPr>
        <p:spPr>
          <a:xfrm>
            <a:off x="2944367" y="3665658"/>
            <a:ext cx="19659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77" sz="1300">
                <a:solidFill>
                  <a:srgbClr val="18181E"/>
                </a:solidFill>
              </a:defRPr>
            </a:lvl1pPr>
          </a:lstStyle>
          <a:p>
            <a:pPr/>
            <a:r>
              <a:t>QUARTIER MAX</a:t>
            </a:r>
          </a:p>
        </p:txBody>
      </p:sp>
      <p:sp>
        <p:nvSpPr>
          <p:cNvPr id="394" name="Shape 29"/>
          <p:cNvSpPr/>
          <p:nvPr/>
        </p:nvSpPr>
        <p:spPr>
          <a:xfrm>
            <a:off x="5111496" y="2926079"/>
            <a:ext cx="196596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30"/>
          <p:cNvSpPr txBox="1"/>
          <p:nvPr/>
        </p:nvSpPr>
        <p:spPr>
          <a:xfrm>
            <a:off x="5111496" y="3158587"/>
            <a:ext cx="196596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E8721C"/>
                </a:solidFill>
              </a:defRPr>
            </a:lvl1pPr>
          </a:lstStyle>
          <a:p>
            <a:pPr/>
            <a:r>
              <a:t>1 515 ft²</a:t>
            </a:r>
          </a:p>
        </p:txBody>
      </p:sp>
      <p:sp>
        <p:nvSpPr>
          <p:cNvPr id="396" name="Text 31"/>
          <p:cNvSpPr txBox="1"/>
          <p:nvPr/>
        </p:nvSpPr>
        <p:spPr>
          <a:xfrm>
            <a:off x="5111496" y="3665658"/>
            <a:ext cx="19659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77" sz="1300">
                <a:solidFill>
                  <a:srgbClr val="18181E"/>
                </a:solidFill>
              </a:defRPr>
            </a:lvl1pPr>
          </a:lstStyle>
          <a:p>
            <a:pPr/>
            <a:r>
              <a:t>SURFACE MÉDIANE</a:t>
            </a:r>
          </a:p>
        </p:txBody>
      </p:sp>
      <p:sp>
        <p:nvSpPr>
          <p:cNvPr id="397" name="Shape 32"/>
          <p:cNvSpPr/>
          <p:nvPr/>
        </p:nvSpPr>
        <p:spPr>
          <a:xfrm>
            <a:off x="7278623" y="2926079"/>
            <a:ext cx="196596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33"/>
          <p:cNvSpPr txBox="1"/>
          <p:nvPr/>
        </p:nvSpPr>
        <p:spPr>
          <a:xfrm>
            <a:off x="7278623" y="3158587"/>
            <a:ext cx="196596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E8721C"/>
                </a:solidFill>
              </a:defRPr>
            </a:lvl1pPr>
          </a:lstStyle>
          <a:p>
            <a:pPr/>
            <a:r>
              <a:t>6,1 / 10</a:t>
            </a:r>
          </a:p>
        </p:txBody>
      </p:sp>
      <p:sp>
        <p:nvSpPr>
          <p:cNvPr id="399" name="Text 34"/>
          <p:cNvSpPr txBox="1"/>
          <p:nvPr/>
        </p:nvSpPr>
        <p:spPr>
          <a:xfrm>
            <a:off x="7278623" y="3665658"/>
            <a:ext cx="19659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77" sz="1300">
                <a:solidFill>
                  <a:srgbClr val="18181E"/>
                </a:solidFill>
              </a:defRPr>
            </a:lvl1pPr>
          </a:lstStyle>
          <a:p>
            <a:pPr/>
            <a:r>
              <a:t>QUALITÉ MOYENNE</a:t>
            </a:r>
          </a:p>
        </p:txBody>
      </p:sp>
      <p:sp>
        <p:nvSpPr>
          <p:cNvPr id="400" name="Shape 35"/>
          <p:cNvSpPr/>
          <p:nvPr/>
        </p:nvSpPr>
        <p:spPr>
          <a:xfrm>
            <a:off x="9445752" y="2926079"/>
            <a:ext cx="196596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Text 36"/>
          <p:cNvSpPr txBox="1"/>
          <p:nvPr/>
        </p:nvSpPr>
        <p:spPr>
          <a:xfrm>
            <a:off x="9445752" y="3158587"/>
            <a:ext cx="196596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E8721C"/>
                </a:solidFill>
              </a:defRPr>
            </a:lvl1pPr>
          </a:lstStyle>
          <a:p>
            <a:pPr/>
            <a:r>
              <a:t>×21</a:t>
            </a:r>
          </a:p>
        </p:txBody>
      </p:sp>
      <p:sp>
        <p:nvSpPr>
          <p:cNvPr id="402" name="Text 37"/>
          <p:cNvSpPr txBox="1"/>
          <p:nvPr/>
        </p:nvSpPr>
        <p:spPr>
          <a:xfrm>
            <a:off x="9445752" y="3665658"/>
            <a:ext cx="19659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77" sz="1300">
                <a:solidFill>
                  <a:srgbClr val="18181E"/>
                </a:solidFill>
              </a:defRPr>
            </a:lvl1pPr>
          </a:lstStyle>
          <a:p>
            <a:pPr/>
            <a:r>
              <a:t>AMPLITUDE</a:t>
            </a:r>
          </a:p>
        </p:txBody>
      </p:sp>
      <p:sp>
        <p:nvSpPr>
          <p:cNvPr id="403" name="Google Shape;299;p39"/>
          <p:cNvSpPr/>
          <p:nvPr/>
        </p:nvSpPr>
        <p:spPr>
          <a:xfrm>
            <a:off x="4437778" y="5830696"/>
            <a:ext cx="2947399" cy="2988706"/>
          </a:xfrm>
          <a:prstGeom prst="ellipse">
            <a:avLst/>
          </a:prstGeom>
          <a:solidFill>
            <a:srgbClr val="10274D"/>
          </a:solidFill>
          <a:ln w="6350">
            <a:solidFill>
              <a:schemeClr val="accent5"/>
            </a:solidFill>
            <a:miter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64" name="Google Shape;13392;p110"/>
          <p:cNvGrpSpPr/>
          <p:nvPr/>
        </p:nvGrpSpPr>
        <p:grpSpPr>
          <a:xfrm>
            <a:off x="10490365" y="32250"/>
            <a:ext cx="1695375" cy="1562108"/>
            <a:chOff x="0" y="0"/>
            <a:chExt cx="1695374" cy="1562106"/>
          </a:xfrm>
        </p:grpSpPr>
        <p:grpSp>
          <p:nvGrpSpPr>
            <p:cNvPr id="406" name="Google Shape;13393;p110"/>
            <p:cNvGrpSpPr/>
            <p:nvPr/>
          </p:nvGrpSpPr>
          <p:grpSpPr>
            <a:xfrm>
              <a:off x="0" y="0"/>
              <a:ext cx="1695375" cy="1562107"/>
              <a:chOff x="0" y="0"/>
              <a:chExt cx="1695374" cy="1562106"/>
            </a:xfrm>
          </p:grpSpPr>
          <p:sp>
            <p:nvSpPr>
              <p:cNvPr id="404" name="Google Shape;13394;p110"/>
              <p:cNvSpPr/>
              <p:nvPr/>
            </p:nvSpPr>
            <p:spPr>
              <a:xfrm flipH="1">
                <a:off x="8876" y="0"/>
                <a:ext cx="1" cy="1560837"/>
              </a:xfrm>
              <a:prstGeom prst="line">
                <a:avLst/>
              </a:prstGeom>
              <a:noFill/>
              <a:ln w="19050" cap="flat">
                <a:solidFill>
                  <a:srgbClr val="E3E7EA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1400">
                    <a:solidFill>
                      <a:srgbClr val="3B3C41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05" name="Google Shape;13395;p110"/>
              <p:cNvSpPr/>
              <p:nvPr/>
            </p:nvSpPr>
            <p:spPr>
              <a:xfrm flipH="1" flipV="1">
                <a:off x="0" y="1562106"/>
                <a:ext cx="1695375" cy="1"/>
              </a:xfrm>
              <a:prstGeom prst="line">
                <a:avLst/>
              </a:prstGeom>
              <a:noFill/>
              <a:ln w="19050" cap="flat">
                <a:solidFill>
                  <a:srgbClr val="E3E7EA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1400">
                    <a:solidFill>
                      <a:srgbClr val="3B3C41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463" name="Google Shape;13396;p110"/>
            <p:cNvGrpSpPr/>
            <p:nvPr/>
          </p:nvGrpSpPr>
          <p:grpSpPr>
            <a:xfrm>
              <a:off x="91686" y="54194"/>
              <a:ext cx="1556793" cy="1426179"/>
              <a:chOff x="0" y="8"/>
              <a:chExt cx="1556791" cy="1426177"/>
            </a:xfrm>
          </p:grpSpPr>
          <p:grpSp>
            <p:nvGrpSpPr>
              <p:cNvPr id="414" name="Google Shape;13397;p110"/>
              <p:cNvGrpSpPr/>
              <p:nvPr/>
            </p:nvGrpSpPr>
            <p:grpSpPr>
              <a:xfrm>
                <a:off x="-1" y="8"/>
                <a:ext cx="103105" cy="1426179"/>
                <a:chOff x="0" y="8"/>
                <a:chExt cx="103104" cy="1426177"/>
              </a:xfrm>
            </p:grpSpPr>
            <p:sp>
              <p:nvSpPr>
                <p:cNvPr id="407" name="Google Shape;13398;p110"/>
                <p:cNvSpPr/>
                <p:nvPr/>
              </p:nvSpPr>
              <p:spPr>
                <a:xfrm>
                  <a:off x="-1" y="8"/>
                  <a:ext cx="103106" cy="103080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08" name="Google Shape;13399;p110"/>
                <p:cNvSpPr/>
                <p:nvPr/>
              </p:nvSpPr>
              <p:spPr>
                <a:xfrm>
                  <a:off x="-1" y="220514"/>
                  <a:ext cx="103106" cy="103106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09" name="Google Shape;13400;p110"/>
                <p:cNvSpPr/>
                <p:nvPr/>
              </p:nvSpPr>
              <p:spPr>
                <a:xfrm>
                  <a:off x="-1" y="441029"/>
                  <a:ext cx="103089" cy="103097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10" name="Google Shape;13401;p110"/>
                <p:cNvSpPr/>
                <p:nvPr/>
              </p:nvSpPr>
              <p:spPr>
                <a:xfrm>
                  <a:off x="-1" y="661552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11" name="Google Shape;13402;p110"/>
                <p:cNvSpPr/>
                <p:nvPr/>
              </p:nvSpPr>
              <p:spPr>
                <a:xfrm>
                  <a:off x="-1" y="882067"/>
                  <a:ext cx="103089" cy="103081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12" name="Google Shape;13403;p110"/>
                <p:cNvSpPr/>
                <p:nvPr/>
              </p:nvSpPr>
              <p:spPr>
                <a:xfrm>
                  <a:off x="-1" y="1102575"/>
                  <a:ext cx="103089" cy="103097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13" name="Google Shape;13404;p110"/>
                <p:cNvSpPr/>
                <p:nvPr/>
              </p:nvSpPr>
              <p:spPr>
                <a:xfrm>
                  <a:off x="-1" y="1323098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422" name="Google Shape;13405;p110"/>
              <p:cNvGrpSpPr/>
              <p:nvPr/>
            </p:nvGrpSpPr>
            <p:grpSpPr>
              <a:xfrm>
                <a:off x="243366" y="8"/>
                <a:ext cx="103106" cy="1426179"/>
                <a:chOff x="0" y="8"/>
                <a:chExt cx="103104" cy="1426177"/>
              </a:xfrm>
            </p:grpSpPr>
            <p:sp>
              <p:nvSpPr>
                <p:cNvPr id="415" name="Google Shape;13406;p110"/>
                <p:cNvSpPr/>
                <p:nvPr/>
              </p:nvSpPr>
              <p:spPr>
                <a:xfrm>
                  <a:off x="-1" y="8"/>
                  <a:ext cx="103106" cy="103080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16" name="Google Shape;13407;p110"/>
                <p:cNvSpPr/>
                <p:nvPr/>
              </p:nvSpPr>
              <p:spPr>
                <a:xfrm>
                  <a:off x="-1" y="220514"/>
                  <a:ext cx="103106" cy="103106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17" name="Google Shape;13408;p110"/>
                <p:cNvSpPr/>
                <p:nvPr/>
              </p:nvSpPr>
              <p:spPr>
                <a:xfrm>
                  <a:off x="-1" y="441029"/>
                  <a:ext cx="103089" cy="103097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18" name="Google Shape;13409;p110"/>
                <p:cNvSpPr/>
                <p:nvPr/>
              </p:nvSpPr>
              <p:spPr>
                <a:xfrm>
                  <a:off x="-1" y="661552"/>
                  <a:ext cx="103089" cy="103089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19" name="Google Shape;13410;p110"/>
                <p:cNvSpPr/>
                <p:nvPr/>
              </p:nvSpPr>
              <p:spPr>
                <a:xfrm>
                  <a:off x="-1" y="882067"/>
                  <a:ext cx="103089" cy="103081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20" name="Google Shape;13411;p110"/>
                <p:cNvSpPr/>
                <p:nvPr/>
              </p:nvSpPr>
              <p:spPr>
                <a:xfrm>
                  <a:off x="-1" y="1102575"/>
                  <a:ext cx="103089" cy="103097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21" name="Google Shape;13412;p110"/>
                <p:cNvSpPr/>
                <p:nvPr/>
              </p:nvSpPr>
              <p:spPr>
                <a:xfrm>
                  <a:off x="-1" y="1323098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430" name="Google Shape;13413;p110"/>
              <p:cNvGrpSpPr/>
              <p:nvPr/>
            </p:nvGrpSpPr>
            <p:grpSpPr>
              <a:xfrm>
                <a:off x="480215" y="8"/>
                <a:ext cx="103105" cy="1426179"/>
                <a:chOff x="0" y="8"/>
                <a:chExt cx="103104" cy="1426177"/>
              </a:xfrm>
            </p:grpSpPr>
            <p:sp>
              <p:nvSpPr>
                <p:cNvPr id="423" name="Google Shape;13414;p110"/>
                <p:cNvSpPr/>
                <p:nvPr/>
              </p:nvSpPr>
              <p:spPr>
                <a:xfrm>
                  <a:off x="-1" y="8"/>
                  <a:ext cx="103106" cy="103080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24" name="Google Shape;13415;p110"/>
                <p:cNvSpPr/>
                <p:nvPr/>
              </p:nvSpPr>
              <p:spPr>
                <a:xfrm>
                  <a:off x="-1" y="220514"/>
                  <a:ext cx="103106" cy="103106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25" name="Google Shape;13416;p110"/>
                <p:cNvSpPr/>
                <p:nvPr/>
              </p:nvSpPr>
              <p:spPr>
                <a:xfrm>
                  <a:off x="-1" y="441029"/>
                  <a:ext cx="103089" cy="103097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26" name="Google Shape;13417;p110"/>
                <p:cNvSpPr/>
                <p:nvPr/>
              </p:nvSpPr>
              <p:spPr>
                <a:xfrm>
                  <a:off x="-1" y="661552"/>
                  <a:ext cx="103089" cy="103089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27" name="Google Shape;13418;p110"/>
                <p:cNvSpPr/>
                <p:nvPr/>
              </p:nvSpPr>
              <p:spPr>
                <a:xfrm>
                  <a:off x="-1" y="882067"/>
                  <a:ext cx="103089" cy="103081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28" name="Google Shape;13419;p110"/>
                <p:cNvSpPr/>
                <p:nvPr/>
              </p:nvSpPr>
              <p:spPr>
                <a:xfrm>
                  <a:off x="-1" y="1102575"/>
                  <a:ext cx="103089" cy="103097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29" name="Google Shape;13420;p110"/>
                <p:cNvSpPr/>
                <p:nvPr/>
              </p:nvSpPr>
              <p:spPr>
                <a:xfrm>
                  <a:off x="-1" y="1323098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438" name="Google Shape;13421;p110"/>
              <p:cNvGrpSpPr/>
              <p:nvPr/>
            </p:nvGrpSpPr>
            <p:grpSpPr>
              <a:xfrm>
                <a:off x="966949" y="8"/>
                <a:ext cx="103105" cy="1426179"/>
                <a:chOff x="0" y="8"/>
                <a:chExt cx="103104" cy="1426177"/>
              </a:xfrm>
            </p:grpSpPr>
            <p:sp>
              <p:nvSpPr>
                <p:cNvPr id="431" name="Google Shape;13422;p110"/>
                <p:cNvSpPr/>
                <p:nvPr/>
              </p:nvSpPr>
              <p:spPr>
                <a:xfrm>
                  <a:off x="-1" y="8"/>
                  <a:ext cx="103106" cy="103080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32" name="Google Shape;13423;p110"/>
                <p:cNvSpPr/>
                <p:nvPr/>
              </p:nvSpPr>
              <p:spPr>
                <a:xfrm>
                  <a:off x="-1" y="220514"/>
                  <a:ext cx="103106" cy="103106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33" name="Google Shape;13424;p110"/>
                <p:cNvSpPr/>
                <p:nvPr/>
              </p:nvSpPr>
              <p:spPr>
                <a:xfrm>
                  <a:off x="-1" y="441029"/>
                  <a:ext cx="103089" cy="103097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34" name="Google Shape;13425;p110"/>
                <p:cNvSpPr/>
                <p:nvPr/>
              </p:nvSpPr>
              <p:spPr>
                <a:xfrm>
                  <a:off x="-1" y="661552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35" name="Google Shape;13426;p110"/>
                <p:cNvSpPr/>
                <p:nvPr/>
              </p:nvSpPr>
              <p:spPr>
                <a:xfrm>
                  <a:off x="-1" y="882067"/>
                  <a:ext cx="103089" cy="103081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36" name="Google Shape;13427;p110"/>
                <p:cNvSpPr/>
                <p:nvPr/>
              </p:nvSpPr>
              <p:spPr>
                <a:xfrm>
                  <a:off x="-1" y="1102575"/>
                  <a:ext cx="103089" cy="103097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37" name="Google Shape;13428;p110"/>
                <p:cNvSpPr/>
                <p:nvPr/>
              </p:nvSpPr>
              <p:spPr>
                <a:xfrm>
                  <a:off x="-1" y="1323098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446" name="Google Shape;13429;p110"/>
              <p:cNvGrpSpPr/>
              <p:nvPr/>
            </p:nvGrpSpPr>
            <p:grpSpPr>
              <a:xfrm>
                <a:off x="1210314" y="8"/>
                <a:ext cx="103105" cy="1426179"/>
                <a:chOff x="0" y="8"/>
                <a:chExt cx="103104" cy="1426177"/>
              </a:xfrm>
            </p:grpSpPr>
            <p:sp>
              <p:nvSpPr>
                <p:cNvPr id="439" name="Google Shape;13430;p110"/>
                <p:cNvSpPr/>
                <p:nvPr/>
              </p:nvSpPr>
              <p:spPr>
                <a:xfrm>
                  <a:off x="-1" y="8"/>
                  <a:ext cx="103106" cy="103080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40" name="Google Shape;13431;p110"/>
                <p:cNvSpPr/>
                <p:nvPr/>
              </p:nvSpPr>
              <p:spPr>
                <a:xfrm>
                  <a:off x="-1" y="220514"/>
                  <a:ext cx="103106" cy="103106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41" name="Google Shape;13432;p110"/>
                <p:cNvSpPr/>
                <p:nvPr/>
              </p:nvSpPr>
              <p:spPr>
                <a:xfrm>
                  <a:off x="-1" y="441029"/>
                  <a:ext cx="103089" cy="103097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42" name="Google Shape;13433;p110"/>
                <p:cNvSpPr/>
                <p:nvPr/>
              </p:nvSpPr>
              <p:spPr>
                <a:xfrm>
                  <a:off x="-1" y="661552"/>
                  <a:ext cx="103089" cy="103089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43" name="Google Shape;13434;p110"/>
                <p:cNvSpPr/>
                <p:nvPr/>
              </p:nvSpPr>
              <p:spPr>
                <a:xfrm>
                  <a:off x="-1" y="882067"/>
                  <a:ext cx="103089" cy="103081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44" name="Google Shape;13435;p110"/>
                <p:cNvSpPr/>
                <p:nvPr/>
              </p:nvSpPr>
              <p:spPr>
                <a:xfrm>
                  <a:off x="-1" y="1102575"/>
                  <a:ext cx="103089" cy="103097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45" name="Google Shape;13436;p110"/>
                <p:cNvSpPr/>
                <p:nvPr/>
              </p:nvSpPr>
              <p:spPr>
                <a:xfrm>
                  <a:off x="-1" y="1323098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454" name="Google Shape;13437;p110"/>
              <p:cNvGrpSpPr/>
              <p:nvPr/>
            </p:nvGrpSpPr>
            <p:grpSpPr>
              <a:xfrm>
                <a:off x="1453687" y="8"/>
                <a:ext cx="103105" cy="1426179"/>
                <a:chOff x="0" y="8"/>
                <a:chExt cx="103104" cy="1426177"/>
              </a:xfrm>
            </p:grpSpPr>
            <p:sp>
              <p:nvSpPr>
                <p:cNvPr id="447" name="Google Shape;13438;p110"/>
                <p:cNvSpPr/>
                <p:nvPr/>
              </p:nvSpPr>
              <p:spPr>
                <a:xfrm>
                  <a:off x="-1" y="8"/>
                  <a:ext cx="103106" cy="103080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48" name="Google Shape;13439;p110"/>
                <p:cNvSpPr/>
                <p:nvPr/>
              </p:nvSpPr>
              <p:spPr>
                <a:xfrm>
                  <a:off x="-1" y="220514"/>
                  <a:ext cx="103106" cy="103106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49" name="Google Shape;13440;p110"/>
                <p:cNvSpPr/>
                <p:nvPr/>
              </p:nvSpPr>
              <p:spPr>
                <a:xfrm>
                  <a:off x="-1" y="441029"/>
                  <a:ext cx="103089" cy="103097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0" name="Google Shape;13441;p110"/>
                <p:cNvSpPr/>
                <p:nvPr/>
              </p:nvSpPr>
              <p:spPr>
                <a:xfrm>
                  <a:off x="-1" y="661552"/>
                  <a:ext cx="103089" cy="103089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1" name="Google Shape;13442;p110"/>
                <p:cNvSpPr/>
                <p:nvPr/>
              </p:nvSpPr>
              <p:spPr>
                <a:xfrm>
                  <a:off x="-1" y="882067"/>
                  <a:ext cx="103089" cy="103081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2" name="Google Shape;13443;p110"/>
                <p:cNvSpPr/>
                <p:nvPr/>
              </p:nvSpPr>
              <p:spPr>
                <a:xfrm>
                  <a:off x="-1" y="1102575"/>
                  <a:ext cx="103089" cy="103097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3" name="Google Shape;13444;p110"/>
                <p:cNvSpPr/>
                <p:nvPr/>
              </p:nvSpPr>
              <p:spPr>
                <a:xfrm>
                  <a:off x="-1" y="1323098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9050" cap="flat">
                  <a:solidFill>
                    <a:srgbClr val="869FB2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  <p:grpSp>
            <p:nvGrpSpPr>
              <p:cNvPr id="462" name="Google Shape;13445;p110"/>
              <p:cNvGrpSpPr/>
              <p:nvPr/>
            </p:nvGrpSpPr>
            <p:grpSpPr>
              <a:xfrm>
                <a:off x="723586" y="8"/>
                <a:ext cx="103105" cy="1426179"/>
                <a:chOff x="0" y="8"/>
                <a:chExt cx="103104" cy="1426177"/>
              </a:xfrm>
            </p:grpSpPr>
            <p:sp>
              <p:nvSpPr>
                <p:cNvPr id="455" name="Google Shape;13446;p110"/>
                <p:cNvSpPr/>
                <p:nvPr/>
              </p:nvSpPr>
              <p:spPr>
                <a:xfrm>
                  <a:off x="-1" y="8"/>
                  <a:ext cx="103106" cy="103080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6" name="Google Shape;13447;p110"/>
                <p:cNvSpPr/>
                <p:nvPr/>
              </p:nvSpPr>
              <p:spPr>
                <a:xfrm>
                  <a:off x="-1" y="220514"/>
                  <a:ext cx="103106" cy="103106"/>
                </a:xfrm>
                <a:prstGeom prst="ellipse">
                  <a:avLst/>
                </a:prstGeom>
                <a:solidFill>
                  <a:srgbClr val="CFD9E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7" name="Google Shape;13448;p110"/>
                <p:cNvSpPr/>
                <p:nvPr/>
              </p:nvSpPr>
              <p:spPr>
                <a:xfrm>
                  <a:off x="-1" y="441029"/>
                  <a:ext cx="103089" cy="103097"/>
                </a:xfrm>
                <a:prstGeom prst="ellipse">
                  <a:avLst/>
                </a:prstGeom>
                <a:solidFill>
                  <a:srgbClr val="869FB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8" name="Google Shape;13449;p110"/>
                <p:cNvSpPr/>
                <p:nvPr/>
              </p:nvSpPr>
              <p:spPr>
                <a:xfrm>
                  <a:off x="-1" y="661552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59" name="Google Shape;13450;p110"/>
                <p:cNvSpPr/>
                <p:nvPr/>
              </p:nvSpPr>
              <p:spPr>
                <a:xfrm>
                  <a:off x="-1" y="882067"/>
                  <a:ext cx="103089" cy="103081"/>
                </a:xfrm>
                <a:prstGeom prst="ellipse">
                  <a:avLst/>
                </a:prstGeom>
                <a:solidFill>
                  <a:srgbClr val="869FB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60" name="Google Shape;13451;p110"/>
                <p:cNvSpPr/>
                <p:nvPr/>
              </p:nvSpPr>
              <p:spPr>
                <a:xfrm>
                  <a:off x="-1" y="1102575"/>
                  <a:ext cx="103089" cy="103097"/>
                </a:xfrm>
                <a:prstGeom prst="ellipse">
                  <a:avLst/>
                </a:prstGeom>
                <a:solidFill>
                  <a:srgbClr val="869FB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461" name="Google Shape;13452;p110"/>
                <p:cNvSpPr/>
                <p:nvPr/>
              </p:nvSpPr>
              <p:spPr>
                <a:xfrm>
                  <a:off x="-1" y="1323098"/>
                  <a:ext cx="103089" cy="103089"/>
                </a:xfrm>
                <a:prstGeom prst="ellipse">
                  <a:avLst/>
                </a:prstGeom>
                <a:solidFill>
                  <a:srgbClr val="869FB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</p:grpSp>
      <p:grpSp>
        <p:nvGrpSpPr>
          <p:cNvPr id="477" name="Google Shape;13115;p109"/>
          <p:cNvGrpSpPr/>
          <p:nvPr/>
        </p:nvGrpSpPr>
        <p:grpSpPr>
          <a:xfrm>
            <a:off x="-152743" y="6441941"/>
            <a:ext cx="1569130" cy="590989"/>
            <a:chOff x="0" y="13"/>
            <a:chExt cx="1569129" cy="590988"/>
          </a:xfrm>
        </p:grpSpPr>
        <p:grpSp>
          <p:nvGrpSpPr>
            <p:cNvPr id="467" name="Google Shape;13116;p109"/>
            <p:cNvGrpSpPr/>
            <p:nvPr/>
          </p:nvGrpSpPr>
          <p:grpSpPr>
            <a:xfrm>
              <a:off x="0" y="27"/>
              <a:ext cx="1569130" cy="590975"/>
              <a:chOff x="0" y="0"/>
              <a:chExt cx="1569129" cy="590973"/>
            </a:xfrm>
          </p:grpSpPr>
          <p:sp>
            <p:nvSpPr>
              <p:cNvPr id="465" name="Google Shape;13117;p109"/>
              <p:cNvSpPr/>
              <p:nvPr/>
            </p:nvSpPr>
            <p:spPr>
              <a:xfrm>
                <a:off x="0" y="0"/>
                <a:ext cx="608228" cy="590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11896"/>
                      <a:pt x="9456" y="21600"/>
                      <a:pt x="21071" y="21600"/>
                    </a:cubicBezTo>
                    <a:lnTo>
                      <a:pt x="21600" y="21600"/>
                    </a:lnTo>
                    <a:lnTo>
                      <a:pt x="21600" y="17105"/>
                    </a:lnTo>
                    <a:lnTo>
                      <a:pt x="21071" y="17105"/>
                    </a:lnTo>
                    <a:cubicBezTo>
                      <a:pt x="11929" y="17105"/>
                      <a:pt x="4464" y="9556"/>
                      <a:pt x="4348" y="221"/>
                    </a:cubicBezTo>
                    <a:cubicBezTo>
                      <a:pt x="4348" y="148"/>
                      <a:pt x="4347" y="74"/>
                      <a:pt x="4347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66" name="Google Shape;13118;p109"/>
              <p:cNvSpPr/>
              <p:nvPr/>
            </p:nvSpPr>
            <p:spPr>
              <a:xfrm>
                <a:off x="606199" y="467981"/>
                <a:ext cx="962931" cy="122986"/>
              </a:xfrm>
              <a:prstGeom prst="rect">
                <a:avLst/>
              </a:prstGeom>
              <a:solidFill>
                <a:srgbClr val="445D7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470" name="Google Shape;13119;p109"/>
            <p:cNvGrpSpPr/>
            <p:nvPr/>
          </p:nvGrpSpPr>
          <p:grpSpPr>
            <a:xfrm>
              <a:off x="375868" y="730"/>
              <a:ext cx="473685" cy="213087"/>
              <a:chOff x="0" y="13"/>
              <a:chExt cx="473684" cy="213086"/>
            </a:xfrm>
          </p:grpSpPr>
          <p:sp>
            <p:nvSpPr>
              <p:cNvPr id="468" name="Google Shape;13120;p109"/>
              <p:cNvSpPr/>
              <p:nvPr/>
            </p:nvSpPr>
            <p:spPr>
              <a:xfrm>
                <a:off x="-1" y="13"/>
                <a:ext cx="228736" cy="2130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6863"/>
                      <a:pt x="3055" y="12979"/>
                      <a:pt x="7779" y="16936"/>
                    </a:cubicBezTo>
                    <a:cubicBezTo>
                      <a:pt x="11346" y="19957"/>
                      <a:pt x="15756" y="21600"/>
                      <a:pt x="20299" y="21600"/>
                    </a:cubicBezTo>
                    <a:lnTo>
                      <a:pt x="21600" y="21600"/>
                    </a:lnTo>
                    <a:lnTo>
                      <a:pt x="21600" y="9490"/>
                    </a:lnTo>
                    <a:lnTo>
                      <a:pt x="20203" y="9490"/>
                    </a:lnTo>
                    <a:cubicBezTo>
                      <a:pt x="15297" y="9490"/>
                      <a:pt x="11206" y="5264"/>
                      <a:pt x="11206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69" name="Google Shape;13121;p109"/>
              <p:cNvSpPr/>
              <p:nvPr/>
            </p:nvSpPr>
            <p:spPr>
              <a:xfrm>
                <a:off x="224085" y="93635"/>
                <a:ext cx="249600" cy="119436"/>
              </a:xfrm>
              <a:prstGeom prst="rect">
                <a:avLst/>
              </a:prstGeom>
              <a:solidFill>
                <a:srgbClr val="E3E9E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473" name="Google Shape;13122;p109"/>
            <p:cNvGrpSpPr/>
            <p:nvPr/>
          </p:nvGrpSpPr>
          <p:grpSpPr>
            <a:xfrm>
              <a:off x="122398" y="13"/>
              <a:ext cx="1206284" cy="468002"/>
              <a:chOff x="0" y="13"/>
              <a:chExt cx="1206282" cy="468001"/>
            </a:xfrm>
          </p:grpSpPr>
          <p:sp>
            <p:nvSpPr>
              <p:cNvPr id="471" name="Google Shape;13123;p109"/>
              <p:cNvSpPr/>
              <p:nvPr/>
            </p:nvSpPr>
            <p:spPr>
              <a:xfrm>
                <a:off x="-1" y="13"/>
                <a:ext cx="485825" cy="46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94"/>
                      <a:pt x="2" y="186"/>
                      <a:pt x="2" y="280"/>
                    </a:cubicBezTo>
                    <a:cubicBezTo>
                      <a:pt x="147" y="12068"/>
                      <a:pt x="9496" y="21600"/>
                      <a:pt x="20942" y="21600"/>
                    </a:cubicBezTo>
                    <a:lnTo>
                      <a:pt x="21600" y="21600"/>
                    </a:lnTo>
                    <a:lnTo>
                      <a:pt x="21600" y="15923"/>
                    </a:lnTo>
                    <a:lnTo>
                      <a:pt x="20837" y="15923"/>
                    </a:lnTo>
                    <a:lnTo>
                      <a:pt x="20811" y="15911"/>
                    </a:lnTo>
                    <a:cubicBezTo>
                      <a:pt x="12349" y="15875"/>
                      <a:pt x="5491" y="8810"/>
                      <a:pt x="5451" y="76"/>
                    </a:cubicBezTo>
                    <a:cubicBezTo>
                      <a:pt x="5451" y="50"/>
                      <a:pt x="5447" y="25"/>
                      <a:pt x="5447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72" name="Google Shape;13124;p109"/>
              <p:cNvSpPr/>
              <p:nvPr/>
            </p:nvSpPr>
            <p:spPr>
              <a:xfrm>
                <a:off x="481731" y="345011"/>
                <a:ext cx="724552" cy="123000"/>
              </a:xfrm>
              <a:prstGeom prst="rect">
                <a:avLst/>
              </a:prstGeom>
              <a:solidFill>
                <a:srgbClr val="869FB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476" name="Google Shape;13125;p109"/>
            <p:cNvGrpSpPr/>
            <p:nvPr/>
          </p:nvGrpSpPr>
          <p:grpSpPr>
            <a:xfrm>
              <a:off x="244959" y="13"/>
              <a:ext cx="821934" cy="345000"/>
              <a:chOff x="13" y="13"/>
              <a:chExt cx="821933" cy="344999"/>
            </a:xfrm>
          </p:grpSpPr>
          <p:sp>
            <p:nvSpPr>
              <p:cNvPr id="474" name="Google Shape;13126;p109"/>
              <p:cNvSpPr/>
              <p:nvPr/>
            </p:nvSpPr>
            <p:spPr>
              <a:xfrm>
                <a:off x="13" y="13"/>
                <a:ext cx="361806" cy="3447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cubicBezTo>
                      <a:pt x="0" y="35"/>
                      <a:pt x="2" y="67"/>
                      <a:pt x="2" y="101"/>
                    </a:cubicBezTo>
                    <a:cubicBezTo>
                      <a:pt x="55" y="11959"/>
                      <a:pt x="9265" y="21550"/>
                      <a:pt x="20627" y="21597"/>
                    </a:cubicBezTo>
                    <a:cubicBezTo>
                      <a:pt x="20656" y="21597"/>
                      <a:pt x="20683" y="21600"/>
                      <a:pt x="20711" y="21600"/>
                    </a:cubicBezTo>
                    <a:lnTo>
                      <a:pt x="21600" y="21600"/>
                    </a:lnTo>
                    <a:lnTo>
                      <a:pt x="21600" y="13349"/>
                    </a:lnTo>
                    <a:lnTo>
                      <a:pt x="20692" y="13349"/>
                    </a:lnTo>
                    <a:cubicBezTo>
                      <a:pt x="17819" y="13349"/>
                      <a:pt x="15031" y="12333"/>
                      <a:pt x="12776" y="10468"/>
                    </a:cubicBezTo>
                    <a:cubicBezTo>
                      <a:pt x="9790" y="8022"/>
                      <a:pt x="7858" y="4242"/>
                      <a:pt x="7858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475" name="Google Shape;13127;p109"/>
              <p:cNvSpPr/>
              <p:nvPr/>
            </p:nvSpPr>
            <p:spPr>
              <a:xfrm>
                <a:off x="350449" y="213075"/>
                <a:ext cx="471498" cy="131938"/>
              </a:xfrm>
              <a:prstGeom prst="rect">
                <a:avLst/>
              </a:prstGeom>
              <a:solidFill>
                <a:srgbClr val="CFD9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NETTOYAGE TECHNIQUE</a:t>
            </a:r>
          </a:p>
        </p:txBody>
      </p:sp>
      <p:sp>
        <p:nvSpPr>
          <p:cNvPr id="482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Préparation des Données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483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4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486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7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8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9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0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1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3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6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7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0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2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04" name="Text 23"/>
          <p:cNvSpPr txBox="1"/>
          <p:nvPr/>
        </p:nvSpPr>
        <p:spPr>
          <a:xfrm>
            <a:off x="777240" y="228276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54" sz="1400">
                <a:solidFill>
                  <a:srgbClr val="7A6F60"/>
                </a:solidFill>
              </a:defRPr>
            </a:lvl1pPr>
          </a:lstStyle>
          <a:p>
            <a:pPr/>
            <a:r>
              <a:t>NETTOYAGE RIGOUREUX</a:t>
            </a:r>
          </a:p>
        </p:txBody>
      </p:sp>
      <p:sp>
        <p:nvSpPr>
          <p:cNvPr id="505" name="Shape 24"/>
          <p:cNvSpPr/>
          <p:nvPr/>
        </p:nvSpPr>
        <p:spPr>
          <a:xfrm>
            <a:off x="777240" y="260603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6" name="Text 25"/>
          <p:cNvSpPr txBox="1"/>
          <p:nvPr/>
        </p:nvSpPr>
        <p:spPr>
          <a:xfrm>
            <a:off x="777240" y="3083488"/>
            <a:ext cx="502920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8181E"/>
                </a:solidFill>
              </a:defRPr>
            </a:lvl1pPr>
          </a:lstStyle>
          <a:p>
            <a:pPr/>
            <a:r>
              <a:t>Le vide n'est pas un manque</a:t>
            </a:r>
          </a:p>
        </p:txBody>
      </p:sp>
      <p:sp>
        <p:nvSpPr>
          <p:cNvPr id="507" name="Text 26"/>
          <p:cNvSpPr txBox="1"/>
          <p:nvPr/>
        </p:nvSpPr>
        <p:spPr>
          <a:xfrm>
            <a:off x="777240" y="3842173"/>
            <a:ext cx="50292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A443C"/>
                </a:solidFill>
              </a:defRPr>
            </a:lvl1pPr>
          </a:lstStyle>
          <a:p>
            <a:pPr/>
            <a:r>
              <a:t>Recodage en catégorie « Absent » pour l'absence d'équipements.</a:t>
            </a:r>
          </a:p>
        </p:txBody>
      </p:sp>
      <p:sp>
        <p:nvSpPr>
          <p:cNvPr id="508" name="Text 27"/>
          <p:cNvSpPr txBox="1"/>
          <p:nvPr/>
        </p:nvSpPr>
        <p:spPr>
          <a:xfrm>
            <a:off x="6382511" y="228276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54" sz="1400">
                <a:solidFill>
                  <a:srgbClr val="7A6F60"/>
                </a:solidFill>
              </a:defRPr>
            </a:lvl1pPr>
          </a:lstStyle>
          <a:p>
            <a:pPr/>
            <a:r>
              <a:t>INGÉNIERIE</a:t>
            </a:r>
          </a:p>
        </p:txBody>
      </p:sp>
      <p:sp>
        <p:nvSpPr>
          <p:cNvPr id="509" name="Shape 28"/>
          <p:cNvSpPr/>
          <p:nvPr/>
        </p:nvSpPr>
        <p:spPr>
          <a:xfrm>
            <a:off x="6382511" y="260603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0" name="Text 29"/>
          <p:cNvSpPr txBox="1"/>
          <p:nvPr/>
        </p:nvSpPr>
        <p:spPr>
          <a:xfrm>
            <a:off x="6592202" y="3083488"/>
            <a:ext cx="5029201" cy="29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8181E"/>
                </a:solidFill>
              </a:defRPr>
            </a:lvl1pPr>
          </a:lstStyle>
          <a:p>
            <a:pPr/>
            <a:r>
              <a:t>Variables créées</a:t>
            </a:r>
          </a:p>
        </p:txBody>
      </p:sp>
      <p:sp>
        <p:nvSpPr>
          <p:cNvPr id="511" name="Text 30"/>
          <p:cNvSpPr txBox="1"/>
          <p:nvPr/>
        </p:nvSpPr>
        <p:spPr>
          <a:xfrm>
            <a:off x="6382511" y="384217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2 nouveaux indices créés et 2 valeurs aberrantes retirées.</a:t>
            </a:r>
          </a:p>
        </p:txBody>
      </p:sp>
      <p:sp>
        <p:nvSpPr>
          <p:cNvPr id="512" name="Text 31"/>
          <p:cNvSpPr txBox="1"/>
          <p:nvPr/>
        </p:nvSpPr>
        <p:spPr>
          <a:xfrm>
            <a:off x="777240" y="5493705"/>
            <a:ext cx="7315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500">
                <a:solidFill>
                  <a:srgbClr val="4A443C"/>
                </a:solidFill>
              </a:defRPr>
            </a:lvl1pPr>
          </a:lstStyle>
          <a:p>
            <a:pPr/>
            <a:r>
              <a:t>Détail complet dans le dashboard · Acte 0</a:t>
            </a:r>
          </a:p>
        </p:txBody>
      </p:sp>
      <p:sp>
        <p:nvSpPr>
          <p:cNvPr id="513" name="Google Shape;299;p39"/>
          <p:cNvSpPr/>
          <p:nvPr/>
        </p:nvSpPr>
        <p:spPr>
          <a:xfrm>
            <a:off x="10924087" y="-1464010"/>
            <a:ext cx="3268137" cy="2988705"/>
          </a:xfrm>
          <a:prstGeom prst="ellipse">
            <a:avLst/>
          </a:prstGeom>
          <a:solidFill>
            <a:srgbClr val="10274D"/>
          </a:solidFill>
          <a:ln w="6350">
            <a:solidFill>
              <a:schemeClr val="accent5"/>
            </a:solidFill>
            <a:miter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49" name="Google Shape;12412;p107"/>
          <p:cNvGrpSpPr/>
          <p:nvPr/>
        </p:nvGrpSpPr>
        <p:grpSpPr>
          <a:xfrm>
            <a:off x="8946144" y="4038408"/>
            <a:ext cx="2553695" cy="2072087"/>
            <a:chOff x="0" y="0"/>
            <a:chExt cx="2553694" cy="2072085"/>
          </a:xfrm>
        </p:grpSpPr>
        <p:grpSp>
          <p:nvGrpSpPr>
            <p:cNvPr id="521" name="Google Shape;12413;p107"/>
            <p:cNvGrpSpPr/>
            <p:nvPr/>
          </p:nvGrpSpPr>
          <p:grpSpPr>
            <a:xfrm>
              <a:off x="-1" y="357306"/>
              <a:ext cx="1049345" cy="1358439"/>
              <a:chOff x="0" y="0"/>
              <a:chExt cx="1049343" cy="1358437"/>
            </a:xfrm>
          </p:grpSpPr>
          <p:sp>
            <p:nvSpPr>
              <p:cNvPr id="514" name="Google Shape;12414;p107"/>
              <p:cNvSpPr/>
              <p:nvPr/>
            </p:nvSpPr>
            <p:spPr>
              <a:xfrm>
                <a:off x="0" y="521660"/>
                <a:ext cx="314859" cy="315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1" y="0"/>
                    </a:moveTo>
                    <a:cubicBezTo>
                      <a:pt x="4844" y="0"/>
                      <a:pt x="0" y="4836"/>
                      <a:pt x="0" y="10782"/>
                    </a:cubicBezTo>
                    <a:cubicBezTo>
                      <a:pt x="0" y="16764"/>
                      <a:pt x="4844" y="21600"/>
                      <a:pt x="10801" y="21600"/>
                    </a:cubicBezTo>
                    <a:cubicBezTo>
                      <a:pt x="16756" y="21600"/>
                      <a:pt x="21600" y="16764"/>
                      <a:pt x="21600" y="10782"/>
                    </a:cubicBezTo>
                    <a:cubicBezTo>
                      <a:pt x="21600" y="4836"/>
                      <a:pt x="16756" y="0"/>
                      <a:pt x="10801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grpSp>
            <p:nvGrpSpPr>
              <p:cNvPr id="520" name="Google Shape;12415;p107"/>
              <p:cNvGrpSpPr/>
              <p:nvPr/>
            </p:nvGrpSpPr>
            <p:grpSpPr>
              <a:xfrm>
                <a:off x="595749" y="0"/>
                <a:ext cx="453595" cy="1358438"/>
                <a:chOff x="0" y="0"/>
                <a:chExt cx="453594" cy="1358437"/>
              </a:xfrm>
            </p:grpSpPr>
            <p:sp>
              <p:nvSpPr>
                <p:cNvPr id="515" name="Google Shape;12416;p107"/>
                <p:cNvSpPr/>
                <p:nvPr/>
              </p:nvSpPr>
              <p:spPr>
                <a:xfrm>
                  <a:off x="25646" y="678862"/>
                  <a:ext cx="394502" cy="63465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21600"/>
                      </a:moveTo>
                      <a:cubicBezTo>
                        <a:pt x="16587" y="21600"/>
                        <a:pt x="12347" y="17469"/>
                        <a:pt x="10972" y="11824"/>
                      </a:cubicBezTo>
                      <a:lnTo>
                        <a:pt x="11001" y="11931"/>
                      </a:lnTo>
                      <a:cubicBezTo>
                        <a:pt x="9053" y="4060"/>
                        <a:pt x="5471" y="0"/>
                        <a:pt x="0" y="0"/>
                      </a:cubicBezTo>
                    </a:path>
                  </a:pathLst>
                </a:custGeom>
                <a:noFill/>
                <a:ln w="9525" cap="rnd">
                  <a:solidFill>
                    <a:srgbClr val="435D74"/>
                  </a:solidFill>
                  <a:prstDash val="solid"/>
                  <a:miter lim="33357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16" name="Google Shape;12417;p107"/>
                <p:cNvSpPr/>
                <p:nvPr/>
              </p:nvSpPr>
              <p:spPr>
                <a:xfrm>
                  <a:off x="25646" y="45207"/>
                  <a:ext cx="394502" cy="6346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21600" y="0"/>
                      </a:moveTo>
                      <a:cubicBezTo>
                        <a:pt x="16587" y="0"/>
                        <a:pt x="12347" y="4114"/>
                        <a:pt x="10972" y="9776"/>
                      </a:cubicBezTo>
                      <a:lnTo>
                        <a:pt x="11001" y="9669"/>
                      </a:lnTo>
                      <a:cubicBezTo>
                        <a:pt x="9053" y="17540"/>
                        <a:pt x="5471" y="21600"/>
                        <a:pt x="0" y="21600"/>
                      </a:cubicBezTo>
                    </a:path>
                  </a:pathLst>
                </a:custGeom>
                <a:noFill/>
                <a:ln w="9525" cap="rnd">
                  <a:solidFill>
                    <a:srgbClr val="435D74"/>
                  </a:solidFill>
                  <a:prstDash val="solid"/>
                  <a:miter lim="33357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17" name="Google Shape;12418;p107"/>
                <p:cNvSpPr/>
                <p:nvPr/>
              </p:nvSpPr>
              <p:spPr>
                <a:xfrm>
                  <a:off x="0" y="631238"/>
                  <a:ext cx="95759" cy="957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10858" y="0"/>
                      </a:moveTo>
                      <a:cubicBezTo>
                        <a:pt x="4840" y="0"/>
                        <a:pt x="0" y="4840"/>
                        <a:pt x="0" y="10742"/>
                      </a:cubicBezTo>
                      <a:cubicBezTo>
                        <a:pt x="0" y="16760"/>
                        <a:pt x="4840" y="21600"/>
                        <a:pt x="10858" y="21600"/>
                      </a:cubicBezTo>
                      <a:cubicBezTo>
                        <a:pt x="16760" y="21600"/>
                        <a:pt x="21600" y="16760"/>
                        <a:pt x="21600" y="10742"/>
                      </a:cubicBezTo>
                      <a:cubicBezTo>
                        <a:pt x="21600" y="4840"/>
                        <a:pt x="16760" y="0"/>
                        <a:pt x="1085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18" name="Google Shape;12419;p107"/>
                <p:cNvSpPr/>
                <p:nvPr/>
              </p:nvSpPr>
              <p:spPr>
                <a:xfrm>
                  <a:off x="387211" y="1268137"/>
                  <a:ext cx="66384" cy="903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45" h="21600" fill="norm" stroke="1" extrusionOk="0">
                      <a:moveTo>
                        <a:pt x="2550" y="0"/>
                      </a:moveTo>
                      <a:cubicBezTo>
                        <a:pt x="1235" y="0"/>
                        <a:pt x="0" y="762"/>
                        <a:pt x="0" y="1850"/>
                      </a:cubicBezTo>
                      <a:lnTo>
                        <a:pt x="0" y="19747"/>
                      </a:lnTo>
                      <a:cubicBezTo>
                        <a:pt x="0" y="20838"/>
                        <a:pt x="1145" y="21600"/>
                        <a:pt x="2415" y="21600"/>
                      </a:cubicBezTo>
                      <a:cubicBezTo>
                        <a:pt x="2891" y="21600"/>
                        <a:pt x="3388" y="21491"/>
                        <a:pt x="3850" y="21251"/>
                      </a:cubicBezTo>
                      <a:lnTo>
                        <a:pt x="20089" y="12738"/>
                      </a:lnTo>
                      <a:cubicBezTo>
                        <a:pt x="21600" y="11987"/>
                        <a:pt x="21600" y="10487"/>
                        <a:pt x="20260" y="9736"/>
                      </a:cubicBezTo>
                      <a:lnTo>
                        <a:pt x="4016" y="349"/>
                      </a:lnTo>
                      <a:cubicBezTo>
                        <a:pt x="3559" y="109"/>
                        <a:pt x="3047" y="0"/>
                        <a:pt x="255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sp>
              <p:nvSpPr>
                <p:cNvPr id="519" name="Google Shape;12420;p107"/>
                <p:cNvSpPr/>
                <p:nvPr/>
              </p:nvSpPr>
              <p:spPr>
                <a:xfrm>
                  <a:off x="387211" y="0"/>
                  <a:ext cx="66384" cy="9061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45" h="21600" fill="norm" stroke="1" extrusionOk="0">
                      <a:moveTo>
                        <a:pt x="2450" y="0"/>
                      </a:moveTo>
                      <a:cubicBezTo>
                        <a:pt x="1170" y="0"/>
                        <a:pt x="0" y="774"/>
                        <a:pt x="0" y="1922"/>
                      </a:cubicBezTo>
                      <a:lnTo>
                        <a:pt x="0" y="19757"/>
                      </a:lnTo>
                      <a:cubicBezTo>
                        <a:pt x="0" y="20841"/>
                        <a:pt x="1145" y="21600"/>
                        <a:pt x="2415" y="21600"/>
                      </a:cubicBezTo>
                      <a:cubicBezTo>
                        <a:pt x="2891" y="21600"/>
                        <a:pt x="3388" y="21492"/>
                        <a:pt x="3850" y="21252"/>
                      </a:cubicBezTo>
                      <a:lnTo>
                        <a:pt x="20089" y="12645"/>
                      </a:lnTo>
                      <a:cubicBezTo>
                        <a:pt x="21600" y="11897"/>
                        <a:pt x="21600" y="10402"/>
                        <a:pt x="20260" y="9654"/>
                      </a:cubicBezTo>
                      <a:lnTo>
                        <a:pt x="4016" y="423"/>
                      </a:lnTo>
                      <a:cubicBezTo>
                        <a:pt x="3529" y="131"/>
                        <a:pt x="2982" y="0"/>
                        <a:pt x="245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</p:grpSp>
        </p:grpSp>
        <p:grpSp>
          <p:nvGrpSpPr>
            <p:cNvPr id="548" name="Google Shape;12421;p107"/>
            <p:cNvGrpSpPr/>
            <p:nvPr/>
          </p:nvGrpSpPr>
          <p:grpSpPr>
            <a:xfrm>
              <a:off x="1342741" y="0"/>
              <a:ext cx="1210954" cy="2072086"/>
              <a:chOff x="0" y="0"/>
              <a:chExt cx="1210953" cy="2072085"/>
            </a:xfrm>
          </p:grpSpPr>
          <p:grpSp>
            <p:nvGrpSpPr>
              <p:cNvPr id="534" name="Google Shape;12422;p107"/>
              <p:cNvGrpSpPr/>
              <p:nvPr/>
            </p:nvGrpSpPr>
            <p:grpSpPr>
              <a:xfrm>
                <a:off x="-1" y="0"/>
                <a:ext cx="1210955" cy="804907"/>
                <a:chOff x="0" y="0"/>
                <a:chExt cx="1210952" cy="804906"/>
              </a:xfrm>
            </p:grpSpPr>
            <p:sp>
              <p:nvSpPr>
                <p:cNvPr id="522" name="Google Shape;12423;p107"/>
                <p:cNvSpPr/>
                <p:nvPr/>
              </p:nvSpPr>
              <p:spPr>
                <a:xfrm>
                  <a:off x="0" y="285823"/>
                  <a:ext cx="233276" cy="23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35" h="21600" fill="norm" stroke="1" extrusionOk="0">
                      <a:moveTo>
                        <a:pt x="10473" y="0"/>
                      </a:moveTo>
                      <a:cubicBezTo>
                        <a:pt x="10247" y="0"/>
                        <a:pt x="10019" y="7"/>
                        <a:pt x="9789" y="22"/>
                      </a:cubicBezTo>
                      <a:cubicBezTo>
                        <a:pt x="4060" y="410"/>
                        <a:pt x="-354" y="5497"/>
                        <a:pt x="22" y="11456"/>
                      </a:cubicBezTo>
                      <a:cubicBezTo>
                        <a:pt x="340" y="17204"/>
                        <a:pt x="4981" y="21600"/>
                        <a:pt x="10493" y="21600"/>
                      </a:cubicBezTo>
                      <a:cubicBezTo>
                        <a:pt x="10696" y="21600"/>
                        <a:pt x="10899" y="21594"/>
                        <a:pt x="11104" y="21581"/>
                      </a:cubicBezTo>
                      <a:cubicBezTo>
                        <a:pt x="16880" y="21195"/>
                        <a:pt x="21246" y="16059"/>
                        <a:pt x="20917" y="10148"/>
                      </a:cubicBezTo>
                      <a:cubicBezTo>
                        <a:pt x="20556" y="4425"/>
                        <a:pt x="15953" y="0"/>
                        <a:pt x="10473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533" name="Google Shape;12424;p107"/>
                <p:cNvGrpSpPr/>
                <p:nvPr/>
              </p:nvGrpSpPr>
              <p:grpSpPr>
                <a:xfrm>
                  <a:off x="512986" y="0"/>
                  <a:ext cx="697967" cy="804907"/>
                  <a:chOff x="0" y="0"/>
                  <a:chExt cx="697966" cy="804906"/>
                </a:xfrm>
              </p:grpSpPr>
              <p:sp>
                <p:nvSpPr>
                  <p:cNvPr id="523" name="Google Shape;12425;p107"/>
                  <p:cNvSpPr/>
                  <p:nvPr/>
                </p:nvSpPr>
                <p:spPr>
                  <a:xfrm>
                    <a:off x="32413" y="399953"/>
                    <a:ext cx="200915" cy="175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cubicBezTo>
                          <a:pt x="10744" y="0"/>
                          <a:pt x="17775" y="7329"/>
                          <a:pt x="21600" y="21600"/>
                        </a:cubicBezTo>
                      </a:path>
                    </a:pathLst>
                  </a:custGeom>
                  <a:noFill/>
                  <a:ln w="9525" cap="rnd">
                    <a:solidFill>
                      <a:srgbClr val="5F7D95"/>
                    </a:solidFill>
                    <a:prstDash val="solid"/>
                    <a:miter lim="33357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24" name="Google Shape;12426;p107"/>
                  <p:cNvSpPr/>
                  <p:nvPr/>
                </p:nvSpPr>
                <p:spPr>
                  <a:xfrm>
                    <a:off x="232817" y="81305"/>
                    <a:ext cx="194107" cy="1444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600"/>
                        </a:moveTo>
                        <a:cubicBezTo>
                          <a:pt x="2852" y="9078"/>
                          <a:pt x="11412" y="0"/>
                          <a:pt x="21600" y="0"/>
                        </a:cubicBezTo>
                      </a:path>
                    </a:pathLst>
                  </a:custGeom>
                  <a:noFill/>
                  <a:ln w="9525" cap="rnd">
                    <a:solidFill>
                      <a:srgbClr val="5F7D95"/>
                    </a:solidFill>
                    <a:prstDash val="solid"/>
                    <a:miter lim="33357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25" name="Google Shape;12427;p107"/>
                  <p:cNvSpPr/>
                  <p:nvPr/>
                </p:nvSpPr>
                <p:spPr>
                  <a:xfrm>
                    <a:off x="232817" y="574193"/>
                    <a:ext cx="194107" cy="14388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cubicBezTo>
                          <a:pt x="2852" y="12490"/>
                          <a:pt x="11412" y="21600"/>
                          <a:pt x="21600" y="21600"/>
                        </a:cubicBezTo>
                      </a:path>
                    </a:pathLst>
                  </a:custGeom>
                  <a:noFill/>
                  <a:ln w="9525" cap="rnd">
                    <a:solidFill>
                      <a:srgbClr val="5F7D95"/>
                    </a:solidFill>
                    <a:prstDash val="solid"/>
                    <a:miter lim="33357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26" name="Google Shape;12428;p107"/>
                  <p:cNvSpPr/>
                  <p:nvPr/>
                </p:nvSpPr>
                <p:spPr>
                  <a:xfrm>
                    <a:off x="32413" y="225196"/>
                    <a:ext cx="200915" cy="17475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600"/>
                        </a:moveTo>
                        <a:cubicBezTo>
                          <a:pt x="11025" y="21600"/>
                          <a:pt x="17325" y="13775"/>
                          <a:pt x="21600" y="0"/>
                        </a:cubicBezTo>
                      </a:path>
                    </a:pathLst>
                  </a:custGeom>
                  <a:noFill/>
                  <a:ln w="9525" cap="rnd">
                    <a:solidFill>
                      <a:srgbClr val="5F7D95"/>
                    </a:solidFill>
                    <a:prstDash val="solid"/>
                    <a:miter lim="33357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27" name="Google Shape;12429;p107"/>
                  <p:cNvSpPr/>
                  <p:nvPr/>
                </p:nvSpPr>
                <p:spPr>
                  <a:xfrm>
                    <a:off x="-1" y="352000"/>
                    <a:ext cx="95409" cy="959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408" h="21600" fill="norm" stroke="1" extrusionOk="0">
                        <a:moveTo>
                          <a:pt x="10137" y="0"/>
                        </a:moveTo>
                        <a:cubicBezTo>
                          <a:pt x="9734" y="0"/>
                          <a:pt x="9328" y="25"/>
                          <a:pt x="8916" y="78"/>
                        </a:cubicBezTo>
                        <a:cubicBezTo>
                          <a:pt x="3323" y="901"/>
                          <a:pt x="-596" y="6204"/>
                          <a:pt x="75" y="12097"/>
                        </a:cubicBezTo>
                        <a:cubicBezTo>
                          <a:pt x="699" y="17558"/>
                          <a:pt x="5165" y="21600"/>
                          <a:pt x="10271" y="21600"/>
                        </a:cubicBezTo>
                        <a:cubicBezTo>
                          <a:pt x="10674" y="21600"/>
                          <a:pt x="11083" y="21575"/>
                          <a:pt x="11492" y="21526"/>
                        </a:cubicBezTo>
                        <a:cubicBezTo>
                          <a:pt x="17089" y="20699"/>
                          <a:pt x="21004" y="15396"/>
                          <a:pt x="20333" y="9503"/>
                        </a:cubicBezTo>
                        <a:cubicBezTo>
                          <a:pt x="19709" y="4042"/>
                          <a:pt x="15243" y="0"/>
                          <a:pt x="10137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28" name="Google Shape;12430;p107"/>
                  <p:cNvSpPr/>
                  <p:nvPr/>
                </p:nvSpPr>
                <p:spPr>
                  <a:xfrm>
                    <a:off x="393974" y="672873"/>
                    <a:ext cx="66448" cy="9061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65" h="21600" fill="norm" stroke="1" extrusionOk="0">
                        <a:moveTo>
                          <a:pt x="2450" y="0"/>
                        </a:moveTo>
                        <a:cubicBezTo>
                          <a:pt x="1170" y="0"/>
                          <a:pt x="0" y="774"/>
                          <a:pt x="0" y="1922"/>
                        </a:cubicBezTo>
                        <a:lnTo>
                          <a:pt x="0" y="19757"/>
                        </a:lnTo>
                        <a:cubicBezTo>
                          <a:pt x="0" y="20845"/>
                          <a:pt x="1145" y="21600"/>
                          <a:pt x="2415" y="21600"/>
                        </a:cubicBezTo>
                        <a:cubicBezTo>
                          <a:pt x="2891" y="21600"/>
                          <a:pt x="3388" y="21492"/>
                          <a:pt x="3850" y="21252"/>
                        </a:cubicBezTo>
                        <a:lnTo>
                          <a:pt x="20260" y="12649"/>
                        </a:lnTo>
                        <a:cubicBezTo>
                          <a:pt x="21600" y="11901"/>
                          <a:pt x="21600" y="10402"/>
                          <a:pt x="20260" y="9654"/>
                        </a:cubicBezTo>
                        <a:lnTo>
                          <a:pt x="4016" y="426"/>
                        </a:lnTo>
                        <a:cubicBezTo>
                          <a:pt x="3529" y="135"/>
                          <a:pt x="2982" y="0"/>
                          <a:pt x="24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29" name="Google Shape;12431;p107"/>
                  <p:cNvSpPr/>
                  <p:nvPr/>
                </p:nvSpPr>
                <p:spPr>
                  <a:xfrm>
                    <a:off x="393974" y="36412"/>
                    <a:ext cx="66448" cy="9030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65" h="21600" fill="norm" stroke="1" extrusionOk="0">
                        <a:moveTo>
                          <a:pt x="2550" y="0"/>
                        </a:moveTo>
                        <a:cubicBezTo>
                          <a:pt x="1235" y="0"/>
                          <a:pt x="0" y="762"/>
                          <a:pt x="0" y="1850"/>
                        </a:cubicBezTo>
                        <a:lnTo>
                          <a:pt x="0" y="19747"/>
                        </a:lnTo>
                        <a:cubicBezTo>
                          <a:pt x="0" y="20838"/>
                          <a:pt x="1145" y="21600"/>
                          <a:pt x="2415" y="21600"/>
                        </a:cubicBezTo>
                        <a:cubicBezTo>
                          <a:pt x="2891" y="21600"/>
                          <a:pt x="3388" y="21491"/>
                          <a:pt x="3850" y="21251"/>
                        </a:cubicBezTo>
                        <a:lnTo>
                          <a:pt x="20260" y="12738"/>
                        </a:lnTo>
                        <a:cubicBezTo>
                          <a:pt x="21600" y="11987"/>
                          <a:pt x="21600" y="10487"/>
                          <a:pt x="20260" y="9609"/>
                        </a:cubicBezTo>
                        <a:lnTo>
                          <a:pt x="4016" y="349"/>
                        </a:lnTo>
                        <a:cubicBezTo>
                          <a:pt x="3559" y="109"/>
                          <a:pt x="3047" y="0"/>
                          <a:pt x="25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grpSp>
                <p:nvGrpSpPr>
                  <p:cNvPr id="532" name="Google Shape;12432;p107"/>
                  <p:cNvGrpSpPr/>
                  <p:nvPr/>
                </p:nvGrpSpPr>
                <p:grpSpPr>
                  <a:xfrm>
                    <a:off x="529325" y="0"/>
                    <a:ext cx="168642" cy="804907"/>
                    <a:chOff x="0" y="0"/>
                    <a:chExt cx="168640" cy="804906"/>
                  </a:xfrm>
                </p:grpSpPr>
                <p:sp>
                  <p:nvSpPr>
                    <p:cNvPr id="530" name="Google Shape;12433;p107"/>
                    <p:cNvSpPr/>
                    <p:nvPr/>
                  </p:nvSpPr>
                  <p:spPr>
                    <a:xfrm>
                      <a:off x="0" y="636385"/>
                      <a:ext cx="168641" cy="168522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0063" h="21600" fill="norm" stroke="1" extrusionOk="0">
                          <a:moveTo>
                            <a:pt x="10030" y="0"/>
                          </a:moveTo>
                          <a:cubicBezTo>
                            <a:pt x="5185" y="0"/>
                            <a:pt x="912" y="3737"/>
                            <a:pt x="126" y="9057"/>
                          </a:cubicBezTo>
                          <a:cubicBezTo>
                            <a:pt x="-745" y="14958"/>
                            <a:pt x="2989" y="20524"/>
                            <a:pt x="8404" y="21463"/>
                          </a:cubicBezTo>
                          <a:cubicBezTo>
                            <a:pt x="8946" y="21556"/>
                            <a:pt x="9485" y="21600"/>
                            <a:pt x="10017" y="21600"/>
                          </a:cubicBezTo>
                          <a:cubicBezTo>
                            <a:pt x="14861" y="21600"/>
                            <a:pt x="19136" y="17863"/>
                            <a:pt x="19920" y="12543"/>
                          </a:cubicBezTo>
                          <a:cubicBezTo>
                            <a:pt x="20855" y="6642"/>
                            <a:pt x="17119" y="1076"/>
                            <a:pt x="11642" y="137"/>
                          </a:cubicBezTo>
                          <a:cubicBezTo>
                            <a:pt x="11101" y="44"/>
                            <a:pt x="10562" y="0"/>
                            <a:pt x="10030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>
                        <a:defRPr sz="14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</p:txBody>
                </p:sp>
                <p:sp>
                  <p:nvSpPr>
                    <p:cNvPr id="531" name="Google Shape;12434;p107"/>
                    <p:cNvSpPr/>
                    <p:nvPr/>
                  </p:nvSpPr>
                  <p:spPr>
                    <a:xfrm>
                      <a:off x="0" y="0"/>
                      <a:ext cx="168641" cy="16866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0063" h="21600" fill="norm" stroke="1" extrusionOk="0">
                          <a:moveTo>
                            <a:pt x="9957" y="0"/>
                          </a:moveTo>
                          <a:cubicBezTo>
                            <a:pt x="5143" y="0"/>
                            <a:pt x="908" y="3778"/>
                            <a:pt x="126" y="9065"/>
                          </a:cubicBezTo>
                          <a:cubicBezTo>
                            <a:pt x="-745" y="14963"/>
                            <a:pt x="2989" y="20525"/>
                            <a:pt x="8404" y="21463"/>
                          </a:cubicBezTo>
                          <a:cubicBezTo>
                            <a:pt x="8946" y="21556"/>
                            <a:pt x="9485" y="21600"/>
                            <a:pt x="10017" y="21600"/>
                          </a:cubicBezTo>
                          <a:cubicBezTo>
                            <a:pt x="14861" y="21600"/>
                            <a:pt x="19136" y="17864"/>
                            <a:pt x="19920" y="12551"/>
                          </a:cubicBezTo>
                          <a:cubicBezTo>
                            <a:pt x="20855" y="6655"/>
                            <a:pt x="17119" y="1093"/>
                            <a:pt x="11642" y="155"/>
                          </a:cubicBezTo>
                          <a:cubicBezTo>
                            <a:pt x="11075" y="50"/>
                            <a:pt x="10513" y="0"/>
                            <a:pt x="9957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>
                        <a:defRPr sz="14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</p:txBody>
                </p:sp>
              </p:grpSp>
            </p:grpSp>
          </p:grpSp>
          <p:grpSp>
            <p:nvGrpSpPr>
              <p:cNvPr id="547" name="Google Shape;12435;p107"/>
              <p:cNvGrpSpPr/>
              <p:nvPr/>
            </p:nvGrpSpPr>
            <p:grpSpPr>
              <a:xfrm>
                <a:off x="531" y="1269114"/>
                <a:ext cx="1210422" cy="802972"/>
                <a:chOff x="0" y="0"/>
                <a:chExt cx="1210421" cy="802971"/>
              </a:xfrm>
            </p:grpSpPr>
            <p:sp>
              <p:nvSpPr>
                <p:cNvPr id="535" name="Google Shape;12436;p107"/>
                <p:cNvSpPr/>
                <p:nvPr/>
              </p:nvSpPr>
              <p:spPr>
                <a:xfrm>
                  <a:off x="-1" y="285010"/>
                  <a:ext cx="233278" cy="23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36" h="21600" fill="norm" stroke="1" extrusionOk="0">
                      <a:moveTo>
                        <a:pt x="10481" y="0"/>
                      </a:moveTo>
                      <a:cubicBezTo>
                        <a:pt x="10253" y="0"/>
                        <a:pt x="10022" y="7"/>
                        <a:pt x="9790" y="23"/>
                      </a:cubicBezTo>
                      <a:cubicBezTo>
                        <a:pt x="4014" y="363"/>
                        <a:pt x="-353" y="5497"/>
                        <a:pt x="23" y="11456"/>
                      </a:cubicBezTo>
                      <a:cubicBezTo>
                        <a:pt x="340" y="17205"/>
                        <a:pt x="4981" y="21600"/>
                        <a:pt x="10493" y="21600"/>
                      </a:cubicBezTo>
                      <a:cubicBezTo>
                        <a:pt x="10696" y="21600"/>
                        <a:pt x="10899" y="21594"/>
                        <a:pt x="11104" y="21583"/>
                      </a:cubicBezTo>
                      <a:cubicBezTo>
                        <a:pt x="16880" y="21195"/>
                        <a:pt x="21247" y="16059"/>
                        <a:pt x="20919" y="10100"/>
                      </a:cubicBezTo>
                      <a:cubicBezTo>
                        <a:pt x="20557" y="4380"/>
                        <a:pt x="15958" y="0"/>
                        <a:pt x="10481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>
                    <a:defRPr sz="1400"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grpSp>
              <p:nvGrpSpPr>
                <p:cNvPr id="546" name="Google Shape;12437;p107"/>
                <p:cNvGrpSpPr/>
                <p:nvPr/>
              </p:nvGrpSpPr>
              <p:grpSpPr>
                <a:xfrm>
                  <a:off x="512455" y="-1"/>
                  <a:ext cx="697967" cy="802973"/>
                  <a:chOff x="0" y="0"/>
                  <a:chExt cx="697965" cy="802971"/>
                </a:xfrm>
              </p:grpSpPr>
              <p:sp>
                <p:nvSpPr>
                  <p:cNvPr id="536" name="Google Shape;12438;p107"/>
                  <p:cNvSpPr/>
                  <p:nvPr/>
                </p:nvSpPr>
                <p:spPr>
                  <a:xfrm>
                    <a:off x="32412" y="400359"/>
                    <a:ext cx="200915" cy="17580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cubicBezTo>
                          <a:pt x="10744" y="0"/>
                          <a:pt x="17775" y="7329"/>
                          <a:pt x="21600" y="21600"/>
                        </a:cubicBezTo>
                      </a:path>
                    </a:pathLst>
                  </a:custGeom>
                  <a:noFill/>
                  <a:ln w="9525" cap="rnd">
                    <a:solidFill>
                      <a:srgbClr val="5F7D95"/>
                    </a:solidFill>
                    <a:prstDash val="solid"/>
                    <a:miter lim="33357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37" name="Google Shape;12439;p107"/>
                  <p:cNvSpPr/>
                  <p:nvPr/>
                </p:nvSpPr>
                <p:spPr>
                  <a:xfrm>
                    <a:off x="232817" y="81696"/>
                    <a:ext cx="194106" cy="14389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600"/>
                        </a:moveTo>
                        <a:cubicBezTo>
                          <a:pt x="2852" y="9112"/>
                          <a:pt x="11412" y="0"/>
                          <a:pt x="21600" y="0"/>
                        </a:cubicBezTo>
                      </a:path>
                    </a:pathLst>
                  </a:custGeom>
                  <a:noFill/>
                  <a:ln w="9525" cap="rnd">
                    <a:solidFill>
                      <a:srgbClr val="5F7D95"/>
                    </a:solidFill>
                    <a:prstDash val="solid"/>
                    <a:miter lim="33357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38" name="Google Shape;12440;p107"/>
                  <p:cNvSpPr/>
                  <p:nvPr/>
                </p:nvSpPr>
                <p:spPr>
                  <a:xfrm>
                    <a:off x="232817" y="574599"/>
                    <a:ext cx="194106" cy="14388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0"/>
                        </a:moveTo>
                        <a:cubicBezTo>
                          <a:pt x="2852" y="12490"/>
                          <a:pt x="11412" y="21600"/>
                          <a:pt x="21600" y="21600"/>
                        </a:cubicBezTo>
                      </a:path>
                    </a:pathLst>
                  </a:custGeom>
                  <a:noFill/>
                  <a:ln w="9525" cap="rnd">
                    <a:solidFill>
                      <a:srgbClr val="5F7D95"/>
                    </a:solidFill>
                    <a:prstDash val="solid"/>
                    <a:miter lim="33357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39" name="Google Shape;12441;p107"/>
                  <p:cNvSpPr/>
                  <p:nvPr/>
                </p:nvSpPr>
                <p:spPr>
                  <a:xfrm>
                    <a:off x="32412" y="225068"/>
                    <a:ext cx="200915" cy="17528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fill="norm" stroke="1" extrusionOk="0">
                        <a:moveTo>
                          <a:pt x="0" y="21600"/>
                        </a:moveTo>
                        <a:cubicBezTo>
                          <a:pt x="11025" y="21600"/>
                          <a:pt x="17325" y="13733"/>
                          <a:pt x="21600" y="0"/>
                        </a:cubicBezTo>
                      </a:path>
                    </a:pathLst>
                  </a:custGeom>
                  <a:noFill/>
                  <a:ln w="9525" cap="rnd">
                    <a:solidFill>
                      <a:srgbClr val="5F7D95"/>
                    </a:solidFill>
                    <a:prstDash val="solid"/>
                    <a:miter lim="33357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40" name="Google Shape;12442;p107"/>
                  <p:cNvSpPr/>
                  <p:nvPr/>
                </p:nvSpPr>
                <p:spPr>
                  <a:xfrm>
                    <a:off x="-1" y="352390"/>
                    <a:ext cx="95409" cy="9539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0407" h="21600" fill="norm" stroke="1" extrusionOk="0">
                        <a:moveTo>
                          <a:pt x="10278" y="0"/>
                        </a:moveTo>
                        <a:cubicBezTo>
                          <a:pt x="9865" y="0"/>
                          <a:pt x="9449" y="28"/>
                          <a:pt x="9030" y="82"/>
                        </a:cubicBezTo>
                        <a:cubicBezTo>
                          <a:pt x="3323" y="792"/>
                          <a:pt x="-596" y="6123"/>
                          <a:pt x="75" y="12047"/>
                        </a:cubicBezTo>
                        <a:cubicBezTo>
                          <a:pt x="699" y="17534"/>
                          <a:pt x="5165" y="21600"/>
                          <a:pt x="10271" y="21600"/>
                        </a:cubicBezTo>
                        <a:cubicBezTo>
                          <a:pt x="10674" y="21600"/>
                          <a:pt x="11083" y="21575"/>
                          <a:pt x="11492" y="21522"/>
                        </a:cubicBezTo>
                        <a:cubicBezTo>
                          <a:pt x="17089" y="20812"/>
                          <a:pt x="21004" y="15364"/>
                          <a:pt x="20333" y="9440"/>
                        </a:cubicBezTo>
                        <a:cubicBezTo>
                          <a:pt x="19712" y="3960"/>
                          <a:pt x="15354" y="0"/>
                          <a:pt x="10278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41" name="Google Shape;12443;p107"/>
                  <p:cNvSpPr/>
                  <p:nvPr/>
                </p:nvSpPr>
                <p:spPr>
                  <a:xfrm>
                    <a:off x="393974" y="673077"/>
                    <a:ext cx="66448" cy="907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65" h="21600" fill="norm" stroke="1" extrusionOk="0">
                        <a:moveTo>
                          <a:pt x="2550" y="0"/>
                        </a:moveTo>
                        <a:cubicBezTo>
                          <a:pt x="1235" y="0"/>
                          <a:pt x="0" y="758"/>
                          <a:pt x="0" y="1841"/>
                        </a:cubicBezTo>
                        <a:lnTo>
                          <a:pt x="0" y="19658"/>
                        </a:lnTo>
                        <a:cubicBezTo>
                          <a:pt x="0" y="20767"/>
                          <a:pt x="1200" y="21600"/>
                          <a:pt x="2500" y="21600"/>
                        </a:cubicBezTo>
                        <a:cubicBezTo>
                          <a:pt x="2952" y="21600"/>
                          <a:pt x="3418" y="21499"/>
                          <a:pt x="3850" y="21275"/>
                        </a:cubicBezTo>
                        <a:lnTo>
                          <a:pt x="20260" y="12682"/>
                        </a:lnTo>
                        <a:cubicBezTo>
                          <a:pt x="21600" y="11932"/>
                          <a:pt x="21600" y="10438"/>
                          <a:pt x="20260" y="9691"/>
                        </a:cubicBezTo>
                        <a:lnTo>
                          <a:pt x="4016" y="347"/>
                        </a:lnTo>
                        <a:cubicBezTo>
                          <a:pt x="3559" y="108"/>
                          <a:pt x="3047" y="0"/>
                          <a:pt x="25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sp>
                <p:nvSpPr>
                  <p:cNvPr id="542" name="Google Shape;12444;p107"/>
                  <p:cNvSpPr/>
                  <p:nvPr/>
                </p:nvSpPr>
                <p:spPr>
                  <a:xfrm>
                    <a:off x="393974" y="36301"/>
                    <a:ext cx="66448" cy="9080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265" h="21600" fill="norm" stroke="1" extrusionOk="0">
                        <a:moveTo>
                          <a:pt x="2550" y="0"/>
                        </a:moveTo>
                        <a:cubicBezTo>
                          <a:pt x="1235" y="0"/>
                          <a:pt x="0" y="754"/>
                          <a:pt x="0" y="1839"/>
                        </a:cubicBezTo>
                        <a:lnTo>
                          <a:pt x="0" y="19637"/>
                        </a:lnTo>
                        <a:cubicBezTo>
                          <a:pt x="0" y="20816"/>
                          <a:pt x="1155" y="21600"/>
                          <a:pt x="2430" y="21600"/>
                        </a:cubicBezTo>
                        <a:cubicBezTo>
                          <a:pt x="2906" y="21600"/>
                          <a:pt x="3393" y="21492"/>
                          <a:pt x="3850" y="21253"/>
                        </a:cubicBezTo>
                        <a:lnTo>
                          <a:pt x="20260" y="12667"/>
                        </a:lnTo>
                        <a:cubicBezTo>
                          <a:pt x="21600" y="11921"/>
                          <a:pt x="21600" y="10425"/>
                          <a:pt x="20260" y="9679"/>
                        </a:cubicBezTo>
                        <a:lnTo>
                          <a:pt x="4016" y="343"/>
                        </a:lnTo>
                        <a:cubicBezTo>
                          <a:pt x="3559" y="104"/>
                          <a:pt x="3047" y="0"/>
                          <a:pt x="255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>
                      <a:defRPr sz="1400">
                        <a:latin typeface="Arial"/>
                        <a:ea typeface="Arial"/>
                        <a:cs typeface="Arial"/>
                        <a:sym typeface="Arial"/>
                      </a:defRPr>
                    </a:pPr>
                  </a:p>
                </p:txBody>
              </p:sp>
              <p:grpSp>
                <p:nvGrpSpPr>
                  <p:cNvPr id="545" name="Google Shape;12445;p107"/>
                  <p:cNvGrpSpPr/>
                  <p:nvPr/>
                </p:nvGrpSpPr>
                <p:grpSpPr>
                  <a:xfrm>
                    <a:off x="529325" y="-1"/>
                    <a:ext cx="168641" cy="802973"/>
                    <a:chOff x="0" y="0"/>
                    <a:chExt cx="168640" cy="802971"/>
                  </a:xfrm>
                </p:grpSpPr>
                <p:sp>
                  <p:nvSpPr>
                    <p:cNvPr id="543" name="Google Shape;12446;p107"/>
                    <p:cNvSpPr/>
                    <p:nvPr/>
                  </p:nvSpPr>
                  <p:spPr>
                    <a:xfrm>
                      <a:off x="0" y="633945"/>
                      <a:ext cx="168641" cy="169027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0063" h="21600" fill="norm" stroke="1" extrusionOk="0">
                          <a:moveTo>
                            <a:pt x="10052" y="0"/>
                          </a:moveTo>
                          <a:cubicBezTo>
                            <a:pt x="5197" y="0"/>
                            <a:pt x="912" y="3786"/>
                            <a:pt x="126" y="9096"/>
                          </a:cubicBezTo>
                          <a:cubicBezTo>
                            <a:pt x="-745" y="14979"/>
                            <a:pt x="2989" y="20461"/>
                            <a:pt x="8468" y="21466"/>
                          </a:cubicBezTo>
                          <a:cubicBezTo>
                            <a:pt x="8996" y="21556"/>
                            <a:pt x="9522" y="21600"/>
                            <a:pt x="10041" y="21600"/>
                          </a:cubicBezTo>
                          <a:cubicBezTo>
                            <a:pt x="14850" y="21600"/>
                            <a:pt x="19134" y="17816"/>
                            <a:pt x="19920" y="12506"/>
                          </a:cubicBezTo>
                          <a:cubicBezTo>
                            <a:pt x="20855" y="6621"/>
                            <a:pt x="17119" y="1072"/>
                            <a:pt x="11642" y="136"/>
                          </a:cubicBezTo>
                          <a:cubicBezTo>
                            <a:pt x="11107" y="44"/>
                            <a:pt x="10577" y="0"/>
                            <a:pt x="10052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>
                        <a:defRPr sz="14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</p:txBody>
                </p:sp>
                <p:sp>
                  <p:nvSpPr>
                    <p:cNvPr id="544" name="Google Shape;12447;p107"/>
                    <p:cNvSpPr/>
                    <p:nvPr/>
                  </p:nvSpPr>
                  <p:spPr>
                    <a:xfrm>
                      <a:off x="0" y="0"/>
                      <a:ext cx="168641" cy="168649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0063" h="21600" fill="norm" stroke="1" extrusionOk="0">
                          <a:moveTo>
                            <a:pt x="10050" y="0"/>
                          </a:moveTo>
                          <a:cubicBezTo>
                            <a:pt x="5197" y="0"/>
                            <a:pt x="912" y="3787"/>
                            <a:pt x="126" y="9048"/>
                          </a:cubicBezTo>
                          <a:cubicBezTo>
                            <a:pt x="-745" y="14944"/>
                            <a:pt x="2989" y="20507"/>
                            <a:pt x="8404" y="21445"/>
                          </a:cubicBezTo>
                          <a:cubicBezTo>
                            <a:pt x="8972" y="21550"/>
                            <a:pt x="9533" y="21600"/>
                            <a:pt x="10090" y="21600"/>
                          </a:cubicBezTo>
                          <a:cubicBezTo>
                            <a:pt x="14904" y="21600"/>
                            <a:pt x="19140" y="17821"/>
                            <a:pt x="19920" y="12534"/>
                          </a:cubicBezTo>
                          <a:cubicBezTo>
                            <a:pt x="20855" y="6635"/>
                            <a:pt x="17119" y="1073"/>
                            <a:pt x="11642" y="135"/>
                          </a:cubicBezTo>
                          <a:cubicBezTo>
                            <a:pt x="11107" y="44"/>
                            <a:pt x="10575" y="0"/>
                            <a:pt x="10050" y="0"/>
                          </a:cubicBezTo>
                          <a:close/>
                        </a:path>
                      </a:pathLst>
                    </a:custGeom>
                    <a:solidFill>
                      <a:srgbClr val="A5B7C6"/>
                    </a:solid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square" lIns="0" tIns="0" rIns="0" bIns="0" numCol="1" anchor="ctr">
                      <a:noAutofit/>
                    </a:bodyPr>
                    <a:lstStyle/>
                    <a:p>
                      <a:pPr>
                        <a:defRPr sz="14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</a:p>
                  </p:txBody>
                </p:sp>
              </p:grpSp>
            </p:grpSp>
          </p:grp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0800" y="0"/>
            <a:ext cx="5788153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Text 0"/>
          <p:cNvSpPr txBox="1"/>
          <p:nvPr/>
        </p:nvSpPr>
        <p:spPr>
          <a:xfrm>
            <a:off x="777240" y="571544"/>
            <a:ext cx="5029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000">
                <a:solidFill>
                  <a:srgbClr val="D8D0BE"/>
                </a:solidFill>
              </a:defRPr>
            </a:lvl1pPr>
          </a:lstStyle>
          <a:p>
            <a:pPr/>
            <a:r>
              <a:t>IMMOBILIER AMES · ENQUÊTE</a:t>
            </a:r>
          </a:p>
        </p:txBody>
      </p:sp>
      <p:sp>
        <p:nvSpPr>
          <p:cNvPr id="555" name="Text 1"/>
          <p:cNvSpPr txBox="1"/>
          <p:nvPr/>
        </p:nvSpPr>
        <p:spPr>
          <a:xfrm>
            <a:off x="722376" y="1785019"/>
            <a:ext cx="4572001" cy="1916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0">
                <a:solidFill>
                  <a:srgbClr val="E8721C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56" name="Shape 2"/>
          <p:cNvSpPr/>
          <p:nvPr/>
        </p:nvSpPr>
        <p:spPr>
          <a:xfrm>
            <a:off x="795527" y="3977640"/>
            <a:ext cx="1463042" cy="1"/>
          </a:xfrm>
          <a:prstGeom prst="line">
            <a:avLst/>
          </a:prstGeom>
          <a:ln w="3175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7" name="Text 3"/>
          <p:cNvSpPr txBox="1"/>
          <p:nvPr/>
        </p:nvSpPr>
        <p:spPr>
          <a:xfrm>
            <a:off x="777240" y="4331969"/>
            <a:ext cx="4480560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4200"/>
              </a:lnSpc>
              <a:defRPr b="1" sz="3600">
                <a:solidFill>
                  <a:srgbClr val="FFFFFF"/>
                </a:solidFill>
              </a:defRPr>
            </a:pPr>
            <a:r>
              <a:t>Visualisation et modèles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558" name="Shape 4"/>
          <p:cNvSpPr/>
          <p:nvPr/>
        </p:nvSpPr>
        <p:spPr>
          <a:xfrm>
            <a:off x="777240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9" name="Shape 5"/>
          <p:cNvSpPr/>
          <p:nvPr/>
        </p:nvSpPr>
        <p:spPr>
          <a:xfrm>
            <a:off x="932688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0" name="Shape 6"/>
          <p:cNvSpPr/>
          <p:nvPr/>
        </p:nvSpPr>
        <p:spPr>
          <a:xfrm>
            <a:off x="1088136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1" name="Shape 7"/>
          <p:cNvSpPr/>
          <p:nvPr/>
        </p:nvSpPr>
        <p:spPr>
          <a:xfrm>
            <a:off x="1243583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2" name="Shape 8"/>
          <p:cNvSpPr/>
          <p:nvPr/>
        </p:nvSpPr>
        <p:spPr>
          <a:xfrm>
            <a:off x="1399032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3" name="Shape 9"/>
          <p:cNvSpPr/>
          <p:nvPr/>
        </p:nvSpPr>
        <p:spPr>
          <a:xfrm>
            <a:off x="1554480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Shape 10"/>
          <p:cNvSpPr/>
          <p:nvPr/>
        </p:nvSpPr>
        <p:spPr>
          <a:xfrm>
            <a:off x="1709927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5" name="Shape 11"/>
          <p:cNvSpPr/>
          <p:nvPr/>
        </p:nvSpPr>
        <p:spPr>
          <a:xfrm>
            <a:off x="1865376" y="58064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6" name="Shape 12"/>
          <p:cNvSpPr/>
          <p:nvPr/>
        </p:nvSpPr>
        <p:spPr>
          <a:xfrm>
            <a:off x="777240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Shape 13"/>
          <p:cNvSpPr/>
          <p:nvPr/>
        </p:nvSpPr>
        <p:spPr>
          <a:xfrm>
            <a:off x="932688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Shape 14"/>
          <p:cNvSpPr/>
          <p:nvPr/>
        </p:nvSpPr>
        <p:spPr>
          <a:xfrm>
            <a:off x="1088136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9" name="Shape 15"/>
          <p:cNvSpPr/>
          <p:nvPr/>
        </p:nvSpPr>
        <p:spPr>
          <a:xfrm>
            <a:off x="1243583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0" name="Shape 16"/>
          <p:cNvSpPr/>
          <p:nvPr/>
        </p:nvSpPr>
        <p:spPr>
          <a:xfrm>
            <a:off x="1399032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1" name="Shape 17"/>
          <p:cNvSpPr/>
          <p:nvPr/>
        </p:nvSpPr>
        <p:spPr>
          <a:xfrm>
            <a:off x="1554480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Shape 18"/>
          <p:cNvSpPr/>
          <p:nvPr/>
        </p:nvSpPr>
        <p:spPr>
          <a:xfrm>
            <a:off x="1709927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3" name="Shape 19"/>
          <p:cNvSpPr/>
          <p:nvPr/>
        </p:nvSpPr>
        <p:spPr>
          <a:xfrm>
            <a:off x="1865376" y="59618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4" name="Shape 20"/>
          <p:cNvSpPr/>
          <p:nvPr/>
        </p:nvSpPr>
        <p:spPr>
          <a:xfrm>
            <a:off x="1280160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5" name="Shape 21"/>
          <p:cNvSpPr/>
          <p:nvPr/>
        </p:nvSpPr>
        <p:spPr>
          <a:xfrm>
            <a:off x="1385316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6" name="Shape 22"/>
          <p:cNvSpPr/>
          <p:nvPr/>
        </p:nvSpPr>
        <p:spPr>
          <a:xfrm>
            <a:off x="1490472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7" name="Shape 23"/>
          <p:cNvSpPr/>
          <p:nvPr/>
        </p:nvSpPr>
        <p:spPr>
          <a:xfrm>
            <a:off x="1595627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8" name="Shape 24"/>
          <p:cNvSpPr/>
          <p:nvPr/>
        </p:nvSpPr>
        <p:spPr>
          <a:xfrm>
            <a:off x="1700783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9" name="Shape 25"/>
          <p:cNvSpPr/>
          <p:nvPr/>
        </p:nvSpPr>
        <p:spPr>
          <a:xfrm>
            <a:off x="1805939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0" name="Shape 26"/>
          <p:cNvSpPr/>
          <p:nvPr/>
        </p:nvSpPr>
        <p:spPr>
          <a:xfrm>
            <a:off x="1911095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1" name="Shape 27"/>
          <p:cNvSpPr/>
          <p:nvPr/>
        </p:nvSpPr>
        <p:spPr>
          <a:xfrm>
            <a:off x="2016251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2" name="Shape 28"/>
          <p:cNvSpPr/>
          <p:nvPr/>
        </p:nvSpPr>
        <p:spPr>
          <a:xfrm>
            <a:off x="2121407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3" name="Shape 29"/>
          <p:cNvSpPr/>
          <p:nvPr/>
        </p:nvSpPr>
        <p:spPr>
          <a:xfrm>
            <a:off x="2226564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4" name="Shape 30"/>
          <p:cNvSpPr/>
          <p:nvPr/>
        </p:nvSpPr>
        <p:spPr>
          <a:xfrm>
            <a:off x="2331720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5" name="Shape 31"/>
          <p:cNvSpPr/>
          <p:nvPr/>
        </p:nvSpPr>
        <p:spPr>
          <a:xfrm>
            <a:off x="2436876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6" name="Shape 32"/>
          <p:cNvSpPr/>
          <p:nvPr/>
        </p:nvSpPr>
        <p:spPr>
          <a:xfrm>
            <a:off x="2542032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7" name="Shape 33"/>
          <p:cNvSpPr/>
          <p:nvPr/>
        </p:nvSpPr>
        <p:spPr>
          <a:xfrm>
            <a:off x="2647188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8" name="Shape 34"/>
          <p:cNvSpPr/>
          <p:nvPr/>
        </p:nvSpPr>
        <p:spPr>
          <a:xfrm>
            <a:off x="2752344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9" name="Shape 35"/>
          <p:cNvSpPr/>
          <p:nvPr/>
        </p:nvSpPr>
        <p:spPr>
          <a:xfrm>
            <a:off x="2857500" y="6355079"/>
            <a:ext cx="64008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0" name="Shape 36"/>
          <p:cNvSpPr/>
          <p:nvPr/>
        </p:nvSpPr>
        <p:spPr>
          <a:xfrm>
            <a:off x="2962655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1" name="Text 37"/>
          <p:cNvSpPr txBox="1"/>
          <p:nvPr/>
        </p:nvSpPr>
        <p:spPr>
          <a:xfrm>
            <a:off x="777240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FORME ET INSIGHTS</a:t>
            </a:r>
          </a:p>
        </p:txBody>
      </p:sp>
      <p:sp>
        <p:nvSpPr>
          <p:cNvPr id="596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Pourquoi ce Graphique</a:t>
            </a:r>
            <a:r>
              <a:rPr>
                <a:solidFill>
                  <a:srgbClr val="E8721C"/>
                </a:solidFill>
              </a:rPr>
              <a:t> ?</a:t>
            </a:r>
          </a:p>
        </p:txBody>
      </p:sp>
      <p:sp>
        <p:nvSpPr>
          <p:cNvPr id="597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8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9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600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1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2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3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4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5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6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7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8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9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0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1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2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3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5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6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7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18" name="Shape 23"/>
          <p:cNvSpPr/>
          <p:nvPr/>
        </p:nvSpPr>
        <p:spPr>
          <a:xfrm>
            <a:off x="777240" y="2221992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9" name="Text 24"/>
          <p:cNvSpPr txBox="1"/>
          <p:nvPr/>
        </p:nvSpPr>
        <p:spPr>
          <a:xfrm>
            <a:off x="1078991" y="2215582"/>
            <a:ext cx="5029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18181E"/>
                </a:solidFill>
              </a:defRPr>
            </a:pPr>
            <a:r>
              <a:t>Histogramme</a:t>
            </a:r>
            <a:r>
              <a:rPr>
                <a:solidFill>
                  <a:srgbClr val="4A443C"/>
                </a:solidFill>
              </a:rPr>
              <a:t>  —  forme d'une distribution globale</a:t>
            </a:r>
          </a:p>
        </p:txBody>
      </p:sp>
      <p:sp>
        <p:nvSpPr>
          <p:cNvPr id="620" name="Shape 25"/>
          <p:cNvSpPr/>
          <p:nvPr/>
        </p:nvSpPr>
        <p:spPr>
          <a:xfrm>
            <a:off x="777240" y="2898648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1" name="Text 26"/>
          <p:cNvSpPr txBox="1"/>
          <p:nvPr/>
        </p:nvSpPr>
        <p:spPr>
          <a:xfrm>
            <a:off x="1078991" y="2892237"/>
            <a:ext cx="502920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18181E"/>
                </a:solidFill>
              </a:defRPr>
            </a:pPr>
            <a:r>
              <a:t>Violon</a:t>
            </a:r>
            <a:r>
              <a:rPr>
                <a:solidFill>
                  <a:srgbClr val="4A443C"/>
                </a:solidFill>
              </a:rPr>
              <a:t>  —  comparaison de distributions par catégories</a:t>
            </a:r>
          </a:p>
        </p:txBody>
      </p:sp>
      <p:sp>
        <p:nvSpPr>
          <p:cNvPr id="622" name="Shape 27"/>
          <p:cNvSpPr/>
          <p:nvPr/>
        </p:nvSpPr>
        <p:spPr>
          <a:xfrm>
            <a:off x="777240" y="3575303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3" name="Text 28"/>
          <p:cNvSpPr txBox="1"/>
          <p:nvPr/>
        </p:nvSpPr>
        <p:spPr>
          <a:xfrm>
            <a:off x="1078991" y="3568894"/>
            <a:ext cx="5029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18181E"/>
                </a:solidFill>
              </a:defRPr>
            </a:pPr>
            <a:r>
              <a:t>Sucette</a:t>
            </a:r>
            <a:r>
              <a:rPr>
                <a:solidFill>
                  <a:srgbClr val="4A443C"/>
                </a:solidFill>
              </a:rPr>
              <a:t>  —  classement ordonné sans encombrement</a:t>
            </a:r>
          </a:p>
        </p:txBody>
      </p:sp>
      <p:sp>
        <p:nvSpPr>
          <p:cNvPr id="624" name="Shape 29"/>
          <p:cNvSpPr/>
          <p:nvPr/>
        </p:nvSpPr>
        <p:spPr>
          <a:xfrm>
            <a:off x="777240" y="4251959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5" name="Text 30"/>
          <p:cNvSpPr txBox="1"/>
          <p:nvPr/>
        </p:nvSpPr>
        <p:spPr>
          <a:xfrm>
            <a:off x="1078991" y="4245550"/>
            <a:ext cx="5029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18181E"/>
                </a:solidFill>
              </a:defRPr>
            </a:pPr>
            <a:r>
              <a:t>Circulaire / gaufre</a:t>
            </a:r>
            <a:r>
              <a:rPr>
                <a:solidFill>
                  <a:srgbClr val="4A443C"/>
                </a:solidFill>
              </a:rPr>
              <a:t>  —  affichage de proportions simples</a:t>
            </a:r>
          </a:p>
        </p:txBody>
      </p:sp>
      <p:sp>
        <p:nvSpPr>
          <p:cNvPr id="626" name="Shape 31"/>
          <p:cNvSpPr/>
          <p:nvPr/>
        </p:nvSpPr>
        <p:spPr>
          <a:xfrm>
            <a:off x="777240" y="4928615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7" name="Text 32"/>
          <p:cNvSpPr txBox="1"/>
          <p:nvPr/>
        </p:nvSpPr>
        <p:spPr>
          <a:xfrm>
            <a:off x="1078991" y="4922206"/>
            <a:ext cx="5029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18181E"/>
                </a:solidFill>
              </a:defRPr>
            </a:pPr>
            <a:r>
              <a:t>Nuage de points</a:t>
            </a:r>
            <a:r>
              <a:rPr>
                <a:solidFill>
                  <a:srgbClr val="4A443C"/>
                </a:solidFill>
              </a:rPr>
              <a:t>  —  mise en valeur d'une corrélation</a:t>
            </a:r>
          </a:p>
        </p:txBody>
      </p:sp>
      <p:sp>
        <p:nvSpPr>
          <p:cNvPr id="628" name="Shape 33"/>
          <p:cNvSpPr/>
          <p:nvPr/>
        </p:nvSpPr>
        <p:spPr>
          <a:xfrm>
            <a:off x="6217920" y="2221992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9" name="Text 34"/>
          <p:cNvSpPr txBox="1"/>
          <p:nvPr/>
        </p:nvSpPr>
        <p:spPr>
          <a:xfrm>
            <a:off x="6519671" y="220428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8181E"/>
                </a:solidFill>
              </a:defRPr>
            </a:pPr>
            <a:r>
              <a:t>Heatmap</a:t>
            </a:r>
            <a:r>
              <a:rPr>
                <a:solidFill>
                  <a:srgbClr val="4A443C"/>
                </a:solidFill>
              </a:rPr>
              <a:t>  —  cartographie des structures de corrélation</a:t>
            </a:r>
          </a:p>
        </p:txBody>
      </p:sp>
      <p:sp>
        <p:nvSpPr>
          <p:cNvPr id="630" name="Shape 35"/>
          <p:cNvSpPr/>
          <p:nvPr/>
        </p:nvSpPr>
        <p:spPr>
          <a:xfrm>
            <a:off x="6217920" y="2898648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1" name="Text 36"/>
          <p:cNvSpPr txBox="1"/>
          <p:nvPr/>
        </p:nvSpPr>
        <p:spPr>
          <a:xfrm>
            <a:off x="6519671" y="2753939"/>
            <a:ext cx="50292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8181E"/>
                </a:solidFill>
              </a:defRPr>
            </a:pPr>
            <a:r>
              <a:t>Dendrogramme</a:t>
            </a:r>
            <a:r>
              <a:rPr>
                <a:solidFill>
                  <a:srgbClr val="4A443C"/>
                </a:solidFill>
              </a:rPr>
              <a:t>  —  visualisation de regroupements naturels</a:t>
            </a:r>
          </a:p>
        </p:txBody>
      </p:sp>
      <p:sp>
        <p:nvSpPr>
          <p:cNvPr id="632" name="Shape 37"/>
          <p:cNvSpPr/>
          <p:nvPr/>
        </p:nvSpPr>
        <p:spPr>
          <a:xfrm>
            <a:off x="6217920" y="3575303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3" name="Text 38"/>
          <p:cNvSpPr txBox="1"/>
          <p:nvPr/>
        </p:nvSpPr>
        <p:spPr>
          <a:xfrm>
            <a:off x="6519671" y="3557595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8181E"/>
                </a:solidFill>
              </a:defRPr>
            </a:pPr>
            <a:r>
              <a:t>Carte géographique</a:t>
            </a:r>
            <a:r>
              <a:rPr>
                <a:solidFill>
                  <a:srgbClr val="4A443C"/>
                </a:solidFill>
              </a:rPr>
              <a:t>  —  localisation réelle des transactions</a:t>
            </a:r>
          </a:p>
        </p:txBody>
      </p:sp>
      <p:sp>
        <p:nvSpPr>
          <p:cNvPr id="634" name="Shape 39"/>
          <p:cNvSpPr/>
          <p:nvPr/>
        </p:nvSpPr>
        <p:spPr>
          <a:xfrm>
            <a:off x="6217920" y="4251959"/>
            <a:ext cx="118872" cy="118872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5" name="Text 40"/>
          <p:cNvSpPr txBox="1"/>
          <p:nvPr/>
        </p:nvSpPr>
        <p:spPr>
          <a:xfrm>
            <a:off x="6519671" y="4234251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8181E"/>
                </a:solidFill>
              </a:defRPr>
            </a:pPr>
            <a:r>
              <a:t>Courbes / crêtes</a:t>
            </a:r>
            <a:r>
              <a:rPr>
                <a:solidFill>
                  <a:srgbClr val="4A443C"/>
                </a:solidFill>
              </a:rPr>
              <a:t>  —  évolution temporelle et saisonnalité</a:t>
            </a:r>
          </a:p>
        </p:txBody>
      </p:sp>
      <p:sp>
        <p:nvSpPr>
          <p:cNvPr id="636" name="Text 41"/>
          <p:cNvSpPr txBox="1"/>
          <p:nvPr/>
        </p:nvSpPr>
        <p:spPr>
          <a:xfrm>
            <a:off x="777240" y="5583744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400">
                <a:solidFill>
                  <a:srgbClr val="E8721C"/>
                </a:solidFill>
              </a:defRPr>
            </a:lvl1pPr>
          </a:lstStyle>
          <a:p>
            <a:pPr/>
            <a:r>
              <a:t>Un principe : minimiser la charge cognitive du lecteur.</a:t>
            </a:r>
          </a:p>
        </p:txBody>
      </p:sp>
      <p:sp>
        <p:nvSpPr>
          <p:cNvPr id="637" name="Google Shape;330;p42"/>
          <p:cNvSpPr/>
          <p:nvPr/>
        </p:nvSpPr>
        <p:spPr>
          <a:xfrm>
            <a:off x="11558016" y="5610877"/>
            <a:ext cx="1019700" cy="2270401"/>
          </a:xfrm>
          <a:prstGeom prst="rect">
            <a:avLst/>
          </a:prstGeom>
          <a:solidFill>
            <a:schemeClr val="accent5">
              <a:alpha val="445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400">
                <a:latin typeface="Inter"/>
                <a:ea typeface="Inter"/>
                <a:cs typeface="Inter"/>
                <a:sym typeface="Inte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RÉCIT EN 5 ACTES</a:t>
            </a:r>
          </a:p>
        </p:txBody>
      </p:sp>
      <p:sp>
        <p:nvSpPr>
          <p:cNvPr id="642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La Trame Narrative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643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4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5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646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7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8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9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0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1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2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3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4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6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7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8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9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0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1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2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3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64" name="Shape 23"/>
          <p:cNvSpPr/>
          <p:nvPr/>
        </p:nvSpPr>
        <p:spPr>
          <a:xfrm>
            <a:off x="1737360" y="3657600"/>
            <a:ext cx="8714232" cy="0"/>
          </a:xfrm>
          <a:prstGeom prst="line">
            <a:avLst/>
          </a:prstGeom>
          <a:ln w="254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5" name="Shape 24"/>
          <p:cNvSpPr/>
          <p:nvPr/>
        </p:nvSpPr>
        <p:spPr>
          <a:xfrm>
            <a:off x="1408175" y="3328415"/>
            <a:ext cx="658369" cy="658369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6" name="Text 25"/>
          <p:cNvSpPr txBox="1"/>
          <p:nvPr/>
        </p:nvSpPr>
        <p:spPr>
          <a:xfrm>
            <a:off x="1408175" y="3538177"/>
            <a:ext cx="658369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67" name="Text 26"/>
          <p:cNvSpPr txBox="1"/>
          <p:nvPr/>
        </p:nvSpPr>
        <p:spPr>
          <a:xfrm>
            <a:off x="731519" y="2657664"/>
            <a:ext cx="201168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80" sz="1400">
                <a:solidFill>
                  <a:srgbClr val="7A6F60"/>
                </a:solidFill>
              </a:defRPr>
            </a:lvl1pPr>
          </a:lstStyle>
          <a:p>
            <a:pPr/>
            <a:r>
              <a:t>ACTE 1</a:t>
            </a:r>
          </a:p>
        </p:txBody>
      </p:sp>
      <p:sp>
        <p:nvSpPr>
          <p:cNvPr id="668" name="Text 27"/>
          <p:cNvSpPr txBox="1"/>
          <p:nvPr/>
        </p:nvSpPr>
        <p:spPr>
          <a:xfrm>
            <a:off x="731519" y="4241889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Quoi</a:t>
            </a:r>
          </a:p>
        </p:txBody>
      </p:sp>
      <p:sp>
        <p:nvSpPr>
          <p:cNvPr id="669" name="Shape 28"/>
          <p:cNvSpPr/>
          <p:nvPr/>
        </p:nvSpPr>
        <p:spPr>
          <a:xfrm>
            <a:off x="3586734" y="3328415"/>
            <a:ext cx="658369" cy="658369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0" name="Text 29"/>
          <p:cNvSpPr txBox="1"/>
          <p:nvPr/>
        </p:nvSpPr>
        <p:spPr>
          <a:xfrm>
            <a:off x="3586734" y="3538177"/>
            <a:ext cx="658369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71" name="Text 30"/>
          <p:cNvSpPr txBox="1"/>
          <p:nvPr/>
        </p:nvSpPr>
        <p:spPr>
          <a:xfrm>
            <a:off x="2910077" y="2668963"/>
            <a:ext cx="20116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60" sz="1300">
                <a:solidFill>
                  <a:srgbClr val="7A6F60"/>
                </a:solidFill>
              </a:defRPr>
            </a:lvl1pPr>
          </a:lstStyle>
          <a:p>
            <a:pPr/>
            <a:r>
              <a:t>ACTE 2</a:t>
            </a:r>
          </a:p>
        </p:txBody>
      </p:sp>
      <p:sp>
        <p:nvSpPr>
          <p:cNvPr id="672" name="Text 31"/>
          <p:cNvSpPr txBox="1"/>
          <p:nvPr/>
        </p:nvSpPr>
        <p:spPr>
          <a:xfrm>
            <a:off x="2910077" y="4241889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Où</a:t>
            </a:r>
          </a:p>
        </p:txBody>
      </p:sp>
      <p:sp>
        <p:nvSpPr>
          <p:cNvPr id="673" name="Shape 32"/>
          <p:cNvSpPr/>
          <p:nvPr/>
        </p:nvSpPr>
        <p:spPr>
          <a:xfrm>
            <a:off x="5765291" y="3328415"/>
            <a:ext cx="658369" cy="658369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Text 33"/>
          <p:cNvSpPr txBox="1"/>
          <p:nvPr/>
        </p:nvSpPr>
        <p:spPr>
          <a:xfrm>
            <a:off x="5765291" y="3538177"/>
            <a:ext cx="658369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5" name="Text 34"/>
          <p:cNvSpPr txBox="1"/>
          <p:nvPr/>
        </p:nvSpPr>
        <p:spPr>
          <a:xfrm>
            <a:off x="5088635" y="2668963"/>
            <a:ext cx="20116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60" sz="1300">
                <a:solidFill>
                  <a:srgbClr val="7A6F60"/>
                </a:solidFill>
              </a:defRPr>
            </a:lvl1pPr>
          </a:lstStyle>
          <a:p>
            <a:pPr/>
            <a:r>
              <a:t>ACTE 3</a:t>
            </a:r>
          </a:p>
        </p:txBody>
      </p:sp>
      <p:sp>
        <p:nvSpPr>
          <p:cNvPr id="676" name="Text 35"/>
          <p:cNvSpPr txBox="1"/>
          <p:nvPr/>
        </p:nvSpPr>
        <p:spPr>
          <a:xfrm>
            <a:off x="5088635" y="4241889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Environnement</a:t>
            </a:r>
          </a:p>
        </p:txBody>
      </p:sp>
      <p:sp>
        <p:nvSpPr>
          <p:cNvPr id="677" name="Shape 36"/>
          <p:cNvSpPr/>
          <p:nvPr/>
        </p:nvSpPr>
        <p:spPr>
          <a:xfrm>
            <a:off x="7943850" y="3328415"/>
            <a:ext cx="658369" cy="658369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8" name="Text 37"/>
          <p:cNvSpPr txBox="1"/>
          <p:nvPr/>
        </p:nvSpPr>
        <p:spPr>
          <a:xfrm>
            <a:off x="7943850" y="3538177"/>
            <a:ext cx="658369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79" name="Text 38"/>
          <p:cNvSpPr txBox="1"/>
          <p:nvPr/>
        </p:nvSpPr>
        <p:spPr>
          <a:xfrm>
            <a:off x="7267193" y="2668963"/>
            <a:ext cx="20116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60" sz="1300">
                <a:solidFill>
                  <a:srgbClr val="7A6F60"/>
                </a:solidFill>
              </a:defRPr>
            </a:lvl1pPr>
          </a:lstStyle>
          <a:p>
            <a:pPr/>
            <a:r>
              <a:t>ACTE 4</a:t>
            </a:r>
          </a:p>
        </p:txBody>
      </p:sp>
      <p:sp>
        <p:nvSpPr>
          <p:cNvPr id="680" name="Text 39"/>
          <p:cNvSpPr txBox="1"/>
          <p:nvPr/>
        </p:nvSpPr>
        <p:spPr>
          <a:xfrm>
            <a:off x="7267193" y="4241889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Pourquoi</a:t>
            </a:r>
          </a:p>
        </p:txBody>
      </p:sp>
      <p:sp>
        <p:nvSpPr>
          <p:cNvPr id="681" name="Shape 40"/>
          <p:cNvSpPr/>
          <p:nvPr/>
        </p:nvSpPr>
        <p:spPr>
          <a:xfrm>
            <a:off x="10122407" y="3328415"/>
            <a:ext cx="658369" cy="658369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2" name="Text 41"/>
          <p:cNvSpPr txBox="1"/>
          <p:nvPr/>
        </p:nvSpPr>
        <p:spPr>
          <a:xfrm>
            <a:off x="10122407" y="3538177"/>
            <a:ext cx="658369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9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83" name="Text 42"/>
          <p:cNvSpPr txBox="1"/>
          <p:nvPr/>
        </p:nvSpPr>
        <p:spPr>
          <a:xfrm>
            <a:off x="9445752" y="2668963"/>
            <a:ext cx="20116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260" sz="1300">
                <a:solidFill>
                  <a:srgbClr val="7A6F60"/>
                </a:solidFill>
              </a:defRPr>
            </a:lvl1pPr>
          </a:lstStyle>
          <a:p>
            <a:pPr/>
            <a:r>
              <a:t>ACTE 5</a:t>
            </a:r>
          </a:p>
        </p:txBody>
      </p:sp>
      <p:sp>
        <p:nvSpPr>
          <p:cNvPr id="684" name="Text 43"/>
          <p:cNvSpPr txBox="1"/>
          <p:nvPr/>
        </p:nvSpPr>
        <p:spPr>
          <a:xfrm>
            <a:off x="9445752" y="4241889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18181E"/>
                </a:solidFill>
              </a:defRPr>
            </a:lvl1pPr>
          </a:lstStyle>
          <a:p>
            <a:pPr/>
            <a:r>
              <a:t>Quand</a:t>
            </a:r>
          </a:p>
        </p:txBody>
      </p:sp>
      <p:sp>
        <p:nvSpPr>
          <p:cNvPr id="685" name="Text 44"/>
          <p:cNvSpPr txBox="1"/>
          <p:nvPr/>
        </p:nvSpPr>
        <p:spPr>
          <a:xfrm>
            <a:off x="777240" y="5583744"/>
            <a:ext cx="7315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400">
                <a:solidFill>
                  <a:srgbClr val="4A443C"/>
                </a:solidFill>
              </a:defRPr>
            </a:lvl1pPr>
          </a:lstStyle>
          <a:p>
            <a:pPr/>
            <a:r>
              <a:t>Détail complet dans le dashboard.</a:t>
            </a:r>
          </a:p>
        </p:txBody>
      </p:sp>
      <p:sp>
        <p:nvSpPr>
          <p:cNvPr id="686" name="Google Shape;299;p39"/>
          <p:cNvSpPr/>
          <p:nvPr/>
        </p:nvSpPr>
        <p:spPr>
          <a:xfrm>
            <a:off x="10924087" y="-1464010"/>
            <a:ext cx="3268137" cy="2988705"/>
          </a:xfrm>
          <a:prstGeom prst="ellipse">
            <a:avLst/>
          </a:prstGeom>
          <a:solidFill>
            <a:srgbClr val="10274D"/>
          </a:solidFill>
          <a:ln w="6350">
            <a:solidFill>
              <a:schemeClr val="accent5"/>
            </a:solidFill>
            <a:miter/>
          </a:ln>
        </p:spPr>
        <p:txBody>
          <a:bodyPr lIns="0" tIns="0" rIns="0" bIns="0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91" name="Google Shape;13353;p110"/>
          <p:cNvGrpSpPr/>
          <p:nvPr/>
        </p:nvGrpSpPr>
        <p:grpSpPr>
          <a:xfrm>
            <a:off x="3641333" y="4644575"/>
            <a:ext cx="5111761" cy="2684082"/>
            <a:chOff x="0" y="0"/>
            <a:chExt cx="5111760" cy="2684081"/>
          </a:xfrm>
        </p:grpSpPr>
        <p:sp>
          <p:nvSpPr>
            <p:cNvPr id="687" name="Google Shape;13354;p110"/>
            <p:cNvSpPr/>
            <p:nvPr/>
          </p:nvSpPr>
          <p:spPr>
            <a:xfrm>
              <a:off x="188953" y="435929"/>
              <a:ext cx="4766025" cy="186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294" fill="norm" stroke="1" extrusionOk="0">
                  <a:moveTo>
                    <a:pt x="0" y="16420"/>
                  </a:moveTo>
                  <a:cubicBezTo>
                    <a:pt x="403" y="15767"/>
                    <a:pt x="1529" y="12249"/>
                    <a:pt x="2418" y="12502"/>
                  </a:cubicBezTo>
                  <a:cubicBezTo>
                    <a:pt x="3308" y="12754"/>
                    <a:pt x="4552" y="19963"/>
                    <a:pt x="5339" y="17936"/>
                  </a:cubicBezTo>
                  <a:cubicBezTo>
                    <a:pt x="6125" y="15908"/>
                    <a:pt x="6445" y="2310"/>
                    <a:pt x="7139" y="337"/>
                  </a:cubicBezTo>
                  <a:cubicBezTo>
                    <a:pt x="7832" y="-1637"/>
                    <a:pt x="8616" y="5710"/>
                    <a:pt x="9499" y="6095"/>
                  </a:cubicBezTo>
                  <a:cubicBezTo>
                    <a:pt x="10382" y="6480"/>
                    <a:pt x="11636" y="1884"/>
                    <a:pt x="12439" y="2648"/>
                  </a:cubicBezTo>
                  <a:cubicBezTo>
                    <a:pt x="13243" y="3412"/>
                    <a:pt x="13575" y="9171"/>
                    <a:pt x="14320" y="10677"/>
                  </a:cubicBezTo>
                  <a:cubicBezTo>
                    <a:pt x="15065" y="12183"/>
                    <a:pt x="16068" y="10652"/>
                    <a:pt x="16908" y="11685"/>
                  </a:cubicBezTo>
                  <a:cubicBezTo>
                    <a:pt x="17748" y="12719"/>
                    <a:pt x="18578" y="17281"/>
                    <a:pt x="19360" y="16881"/>
                  </a:cubicBezTo>
                  <a:cubicBezTo>
                    <a:pt x="20142" y="16481"/>
                    <a:pt x="21227" y="10552"/>
                    <a:pt x="21600" y="9286"/>
                  </a:cubicBezTo>
                </a:path>
              </a:pathLst>
            </a:custGeom>
            <a:noFill/>
            <a:ln w="19050" cap="flat">
              <a:solidFill>
                <a:srgbClr val="5F7D95"/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grpSp>
          <p:nvGrpSpPr>
            <p:cNvPr id="690" name="Google Shape;13355;p110"/>
            <p:cNvGrpSpPr/>
            <p:nvPr/>
          </p:nvGrpSpPr>
          <p:grpSpPr>
            <a:xfrm>
              <a:off x="-1" y="-1"/>
              <a:ext cx="5111762" cy="2684083"/>
              <a:chOff x="0" y="0"/>
              <a:chExt cx="5111760" cy="2684081"/>
            </a:xfrm>
          </p:grpSpPr>
          <p:sp>
            <p:nvSpPr>
              <p:cNvPr id="688" name="Google Shape;13356;p110"/>
              <p:cNvSpPr/>
              <p:nvPr/>
            </p:nvSpPr>
            <p:spPr>
              <a:xfrm flipH="1">
                <a:off x="-1" y="0"/>
                <a:ext cx="2" cy="2684082"/>
              </a:xfrm>
              <a:prstGeom prst="line">
                <a:avLst/>
              </a:prstGeom>
              <a:noFill/>
              <a:ln w="9525" cap="flat">
                <a:solidFill>
                  <a:srgbClr val="E3E9ED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1400">
                    <a:solidFill>
                      <a:srgbClr val="3B3C41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689" name="Google Shape;13357;p110"/>
              <p:cNvSpPr/>
              <p:nvPr/>
            </p:nvSpPr>
            <p:spPr>
              <a:xfrm>
                <a:off x="5804" y="2673267"/>
                <a:ext cx="5105957" cy="1"/>
              </a:xfrm>
              <a:prstGeom prst="line">
                <a:avLst/>
              </a:prstGeom>
              <a:noFill/>
              <a:ln w="9525" cap="flat">
                <a:solidFill>
                  <a:srgbClr val="E3E9ED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1400">
                    <a:solidFill>
                      <a:srgbClr val="3B3C41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ÉVALUATION PRÉDICTIVE</a:t>
            </a:r>
          </a:p>
        </p:txBody>
      </p:sp>
      <p:sp>
        <p:nvSpPr>
          <p:cNvPr id="696" name="Text 1"/>
          <p:cNvSpPr txBox="1"/>
          <p:nvPr/>
        </p:nvSpPr>
        <p:spPr>
          <a:xfrm>
            <a:off x="758951" y="874569"/>
            <a:ext cx="10607042" cy="50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900">
                <a:solidFill>
                  <a:srgbClr val="18181E"/>
                </a:solidFill>
              </a:defRPr>
            </a:pPr>
            <a:r>
              <a:t>Modèles &amp; Performances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697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8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9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700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1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2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3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4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5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6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7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8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9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0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1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2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3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4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5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6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7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718" name="Text 23"/>
          <p:cNvSpPr txBox="1"/>
          <p:nvPr/>
        </p:nvSpPr>
        <p:spPr>
          <a:xfrm>
            <a:off x="777240" y="1917000"/>
            <a:ext cx="6400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10" sz="1400">
                <a:solidFill>
                  <a:srgbClr val="7A6F60"/>
                </a:solidFill>
              </a:defRPr>
            </a:lvl1pPr>
          </a:lstStyle>
          <a:p>
            <a:pPr/>
            <a:r>
              <a:t>RMSE SUR DONNÉES DE VALIDATION — PLUS BAS = MEILLEUR</a:t>
            </a:r>
          </a:p>
        </p:txBody>
      </p:sp>
      <p:sp>
        <p:nvSpPr>
          <p:cNvPr id="719" name="Text 24"/>
          <p:cNvSpPr txBox="1"/>
          <p:nvPr/>
        </p:nvSpPr>
        <p:spPr>
          <a:xfrm>
            <a:off x="777239" y="2346015"/>
            <a:ext cx="187452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600">
                <a:solidFill>
                  <a:srgbClr val="E8721C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720" name="Shape 25"/>
          <p:cNvSpPr/>
          <p:nvPr/>
        </p:nvSpPr>
        <p:spPr>
          <a:xfrm>
            <a:off x="2743200" y="2286000"/>
            <a:ext cx="2639541" cy="329185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1" name="Text 26"/>
          <p:cNvSpPr txBox="1"/>
          <p:nvPr/>
        </p:nvSpPr>
        <p:spPr>
          <a:xfrm>
            <a:off x="5474179" y="2346015"/>
            <a:ext cx="11887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E8721C"/>
                </a:solidFill>
              </a:defRPr>
            </a:lvl1pPr>
          </a:lstStyle>
          <a:p>
            <a:pPr/>
            <a:r>
              <a:t>28 324 $</a:t>
            </a:r>
          </a:p>
        </p:txBody>
      </p:sp>
      <p:sp>
        <p:nvSpPr>
          <p:cNvPr id="722" name="Text 27"/>
          <p:cNvSpPr txBox="1"/>
          <p:nvPr/>
        </p:nvSpPr>
        <p:spPr>
          <a:xfrm>
            <a:off x="777239" y="3015682"/>
            <a:ext cx="18745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500">
                <a:solidFill>
                  <a:srgbClr val="18181E"/>
                </a:solidFill>
              </a:defRPr>
            </a:lvl1pPr>
          </a:lstStyle>
          <a:p>
            <a:pPr/>
            <a:r>
              <a:t>Stepwise (AIC)</a:t>
            </a:r>
          </a:p>
        </p:txBody>
      </p:sp>
      <p:sp>
        <p:nvSpPr>
          <p:cNvPr id="723" name="Shape 28"/>
          <p:cNvSpPr/>
          <p:nvPr/>
        </p:nvSpPr>
        <p:spPr>
          <a:xfrm>
            <a:off x="2743200" y="2944367"/>
            <a:ext cx="3042592" cy="329185"/>
          </a:xfrm>
          <a:prstGeom prst="rect">
            <a:avLst/>
          </a:prstGeom>
          <a:solidFill>
            <a:srgbClr val="D9D2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4" name="Text 29"/>
          <p:cNvSpPr txBox="1"/>
          <p:nvPr/>
        </p:nvSpPr>
        <p:spPr>
          <a:xfrm>
            <a:off x="5877231" y="3015682"/>
            <a:ext cx="1188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7A6F60"/>
                </a:solidFill>
              </a:defRPr>
            </a:lvl1pPr>
          </a:lstStyle>
          <a:p>
            <a:pPr/>
            <a:r>
              <a:t>32 649 $</a:t>
            </a:r>
          </a:p>
        </p:txBody>
      </p:sp>
      <p:sp>
        <p:nvSpPr>
          <p:cNvPr id="725" name="Text 30"/>
          <p:cNvSpPr txBox="1"/>
          <p:nvPr/>
        </p:nvSpPr>
        <p:spPr>
          <a:xfrm>
            <a:off x="777239" y="3674049"/>
            <a:ext cx="18745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500">
                <a:solidFill>
                  <a:srgbClr val="18181E"/>
                </a:solidFill>
              </a:defRPr>
            </a:lvl1pPr>
          </a:lstStyle>
          <a:p>
            <a:pPr/>
            <a:r>
              <a:t>Ridge</a:t>
            </a:r>
          </a:p>
        </p:txBody>
      </p:sp>
      <p:sp>
        <p:nvSpPr>
          <p:cNvPr id="726" name="Shape 31"/>
          <p:cNvSpPr/>
          <p:nvPr/>
        </p:nvSpPr>
        <p:spPr>
          <a:xfrm>
            <a:off x="2743200" y="3602735"/>
            <a:ext cx="3122550" cy="329185"/>
          </a:xfrm>
          <a:prstGeom prst="rect">
            <a:avLst/>
          </a:prstGeom>
          <a:solidFill>
            <a:srgbClr val="D9D2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7" name="Text 32"/>
          <p:cNvSpPr txBox="1"/>
          <p:nvPr/>
        </p:nvSpPr>
        <p:spPr>
          <a:xfrm>
            <a:off x="5957189" y="3674049"/>
            <a:ext cx="1188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7A6F60"/>
                </a:solidFill>
              </a:defRPr>
            </a:lvl1pPr>
          </a:lstStyle>
          <a:p>
            <a:pPr/>
            <a:r>
              <a:t>33 507 $</a:t>
            </a:r>
          </a:p>
        </p:txBody>
      </p:sp>
      <p:sp>
        <p:nvSpPr>
          <p:cNvPr id="728" name="Text 33"/>
          <p:cNvSpPr txBox="1"/>
          <p:nvPr/>
        </p:nvSpPr>
        <p:spPr>
          <a:xfrm>
            <a:off x="777239" y="4332418"/>
            <a:ext cx="18745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500">
                <a:solidFill>
                  <a:srgbClr val="18181E"/>
                </a:solidFill>
              </a:defRPr>
            </a:lvl1pPr>
          </a:lstStyle>
          <a:p>
            <a:pPr/>
            <a:r>
              <a:t>Lasso</a:t>
            </a:r>
          </a:p>
        </p:txBody>
      </p:sp>
      <p:sp>
        <p:nvSpPr>
          <p:cNvPr id="729" name="Shape 34"/>
          <p:cNvSpPr/>
          <p:nvPr/>
        </p:nvSpPr>
        <p:spPr>
          <a:xfrm>
            <a:off x="2743200" y="4261103"/>
            <a:ext cx="3222916" cy="329185"/>
          </a:xfrm>
          <a:prstGeom prst="rect">
            <a:avLst/>
          </a:prstGeom>
          <a:solidFill>
            <a:srgbClr val="D9D2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0" name="Text 35"/>
          <p:cNvSpPr txBox="1"/>
          <p:nvPr/>
        </p:nvSpPr>
        <p:spPr>
          <a:xfrm>
            <a:off x="6057555" y="4332418"/>
            <a:ext cx="1188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7A6F60"/>
                </a:solidFill>
              </a:defRPr>
            </a:lvl1pPr>
          </a:lstStyle>
          <a:p>
            <a:pPr/>
            <a:r>
              <a:t>34 584 $</a:t>
            </a:r>
          </a:p>
        </p:txBody>
      </p:sp>
      <p:sp>
        <p:nvSpPr>
          <p:cNvPr id="731" name="Text 36"/>
          <p:cNvSpPr txBox="1"/>
          <p:nvPr/>
        </p:nvSpPr>
        <p:spPr>
          <a:xfrm>
            <a:off x="777239" y="4990786"/>
            <a:ext cx="18745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500">
                <a:solidFill>
                  <a:srgbClr val="18181E"/>
                </a:solidFill>
              </a:defRPr>
            </a:lvl1pPr>
          </a:lstStyle>
          <a:p>
            <a:pPr/>
            <a:r>
              <a:t>Régression linéaire</a:t>
            </a:r>
          </a:p>
        </p:txBody>
      </p:sp>
      <p:sp>
        <p:nvSpPr>
          <p:cNvPr id="732" name="Shape 37"/>
          <p:cNvSpPr/>
          <p:nvPr/>
        </p:nvSpPr>
        <p:spPr>
          <a:xfrm>
            <a:off x="2743200" y="4919471"/>
            <a:ext cx="3246121" cy="329185"/>
          </a:xfrm>
          <a:prstGeom prst="rect">
            <a:avLst/>
          </a:prstGeom>
          <a:solidFill>
            <a:srgbClr val="D9D2C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3" name="Text 38"/>
          <p:cNvSpPr txBox="1"/>
          <p:nvPr/>
        </p:nvSpPr>
        <p:spPr>
          <a:xfrm>
            <a:off x="6080759" y="4989384"/>
            <a:ext cx="11887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7A6F60"/>
                </a:solidFill>
              </a:defRPr>
            </a:lvl1pPr>
          </a:lstStyle>
          <a:p>
            <a:pPr/>
            <a:r>
              <a:t>34 833 $</a:t>
            </a:r>
          </a:p>
        </p:txBody>
      </p:sp>
      <p:sp>
        <p:nvSpPr>
          <p:cNvPr id="734" name="Shape 39"/>
          <p:cNvSpPr/>
          <p:nvPr/>
        </p:nvSpPr>
        <p:spPr>
          <a:xfrm flipH="1">
            <a:off x="2743200" y="2194559"/>
            <a:ext cx="1" cy="329184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5" name="Shape 40"/>
          <p:cNvSpPr/>
          <p:nvPr/>
        </p:nvSpPr>
        <p:spPr>
          <a:xfrm>
            <a:off x="7635240" y="2331720"/>
            <a:ext cx="374904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6" name="Text 41"/>
          <p:cNvSpPr txBox="1"/>
          <p:nvPr/>
        </p:nvSpPr>
        <p:spPr>
          <a:xfrm>
            <a:off x="7635240" y="2578637"/>
            <a:ext cx="3749041" cy="44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500">
                <a:solidFill>
                  <a:srgbClr val="E8721C"/>
                </a:solidFill>
              </a:defRPr>
            </a:lvl1pPr>
          </a:lstStyle>
          <a:p>
            <a:pPr/>
            <a:r>
              <a:t>87,8 %</a:t>
            </a:r>
          </a:p>
        </p:txBody>
      </p:sp>
      <p:sp>
        <p:nvSpPr>
          <p:cNvPr id="737" name="Text 42"/>
          <p:cNvSpPr txBox="1"/>
          <p:nvPr/>
        </p:nvSpPr>
        <p:spPr>
          <a:xfrm>
            <a:off x="7635240" y="3242880"/>
            <a:ext cx="3749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90" sz="1400">
                <a:solidFill>
                  <a:srgbClr val="18181E"/>
                </a:solidFill>
              </a:defRPr>
            </a:lvl1pPr>
          </a:lstStyle>
          <a:p>
            <a:pPr/>
            <a:r>
              <a:t>VARIANCE EXPLIQUÉE</a:t>
            </a:r>
          </a:p>
        </p:txBody>
      </p:sp>
      <p:sp>
        <p:nvSpPr>
          <p:cNvPr id="738" name="Text 43"/>
          <p:cNvSpPr txBox="1"/>
          <p:nvPr/>
        </p:nvSpPr>
        <p:spPr>
          <a:xfrm>
            <a:off x="7635240" y="3660333"/>
            <a:ext cx="37490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4A443C"/>
                </a:solidFill>
              </a:defRPr>
            </a:lvl1pPr>
          </a:lstStyle>
          <a:p>
            <a:pPr/>
            <a:r>
              <a:t>Sur des données jamais vues par le modèle.</a:t>
            </a:r>
          </a:p>
        </p:txBody>
      </p:sp>
      <p:sp>
        <p:nvSpPr>
          <p:cNvPr id="739" name="Shape 44"/>
          <p:cNvSpPr/>
          <p:nvPr/>
        </p:nvSpPr>
        <p:spPr>
          <a:xfrm>
            <a:off x="7635240" y="4160520"/>
            <a:ext cx="374904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0" name="Text 45"/>
          <p:cNvSpPr txBox="1"/>
          <p:nvPr/>
        </p:nvSpPr>
        <p:spPr>
          <a:xfrm>
            <a:off x="7635240" y="4407437"/>
            <a:ext cx="3749041" cy="44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500">
                <a:solidFill>
                  <a:srgbClr val="E8721C"/>
                </a:solidFill>
              </a:defRPr>
            </a:lvl1pPr>
          </a:lstStyle>
          <a:p>
            <a:pPr/>
            <a:r>
              <a:t>0,12714</a:t>
            </a:r>
          </a:p>
        </p:txBody>
      </p:sp>
      <p:sp>
        <p:nvSpPr>
          <p:cNvPr id="741" name="Text 46"/>
          <p:cNvSpPr txBox="1"/>
          <p:nvPr/>
        </p:nvSpPr>
        <p:spPr>
          <a:xfrm>
            <a:off x="7635240" y="5082978"/>
            <a:ext cx="3749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77" sz="1300">
                <a:solidFill>
                  <a:srgbClr val="18181E"/>
                </a:solidFill>
              </a:defRPr>
            </a:lvl1pPr>
          </a:lstStyle>
          <a:p>
            <a:pPr/>
            <a:r>
              <a:t>SCORE KAGGLE (XGBOOST)</a:t>
            </a:r>
          </a:p>
        </p:txBody>
      </p:sp>
      <p:sp>
        <p:nvSpPr>
          <p:cNvPr id="742" name="Text 47"/>
          <p:cNvSpPr txBox="1"/>
          <p:nvPr/>
        </p:nvSpPr>
        <p:spPr>
          <a:xfrm>
            <a:off x="7635240" y="5487732"/>
            <a:ext cx="3749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4A443C"/>
                </a:solidFill>
              </a:defRPr>
            </a:lvl1pPr>
          </a:lstStyle>
          <a:p>
            <a:pPr/>
            <a:r>
              <a:t>Validation externe sur 1 459 biens du fichier test.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AIDE À LA DÉCISION</a:t>
            </a:r>
          </a:p>
        </p:txBody>
      </p:sp>
      <p:sp>
        <p:nvSpPr>
          <p:cNvPr id="747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Recommandations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748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9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0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751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2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3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4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5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6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7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8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9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0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1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2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3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4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5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6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7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8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69" name="Text 23"/>
          <p:cNvSpPr txBox="1"/>
          <p:nvPr/>
        </p:nvSpPr>
        <p:spPr>
          <a:xfrm>
            <a:off x="777240" y="2343598"/>
            <a:ext cx="5486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8721C"/>
                </a:solidFill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770" name="Text 24"/>
          <p:cNvSpPr txBox="1"/>
          <p:nvPr/>
        </p:nvSpPr>
        <p:spPr>
          <a:xfrm>
            <a:off x="1371600" y="2327350"/>
            <a:ext cx="2011679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8181E"/>
                </a:solidFill>
              </a:defRPr>
            </a:lvl1pPr>
          </a:lstStyle>
          <a:p>
            <a:pPr/>
            <a:r>
              <a:t>Acheteur</a:t>
            </a:r>
          </a:p>
        </p:txBody>
      </p:sp>
      <p:sp>
        <p:nvSpPr>
          <p:cNvPr id="771" name="Text 25"/>
          <p:cNvSpPr txBox="1"/>
          <p:nvPr/>
        </p:nvSpPr>
        <p:spPr>
          <a:xfrm>
            <a:off x="3520440" y="2332299"/>
            <a:ext cx="585216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Cibler les sous-évaluations : profils similaires à</a:t>
            </a:r>
          </a:p>
        </p:txBody>
      </p:sp>
      <p:sp>
        <p:nvSpPr>
          <p:cNvPr id="772" name="Text 26"/>
          <p:cNvSpPr txBox="1"/>
          <p:nvPr/>
        </p:nvSpPr>
        <p:spPr>
          <a:xfrm>
            <a:off x="9400031" y="2312505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2000">
                <a:solidFill>
                  <a:srgbClr val="E8721C"/>
                </a:solidFill>
              </a:defRPr>
            </a:lvl1pPr>
          </a:lstStyle>
          <a:p>
            <a:pPr/>
            <a:r>
              <a:t>−30 %</a:t>
            </a:r>
          </a:p>
        </p:txBody>
      </p:sp>
      <p:sp>
        <p:nvSpPr>
          <p:cNvPr id="773" name="Shape 27"/>
          <p:cNvSpPr/>
          <p:nvPr/>
        </p:nvSpPr>
        <p:spPr>
          <a:xfrm>
            <a:off x="777240" y="2770632"/>
            <a:ext cx="10634472" cy="1"/>
          </a:xfrm>
          <a:prstGeom prst="line">
            <a:avLst/>
          </a:prstGeom>
          <a:ln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4" name="Text 28"/>
          <p:cNvSpPr txBox="1"/>
          <p:nvPr/>
        </p:nvSpPr>
        <p:spPr>
          <a:xfrm>
            <a:off x="777240" y="3011110"/>
            <a:ext cx="5486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8721C"/>
                </a:solidFill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775" name="Text 29"/>
          <p:cNvSpPr txBox="1"/>
          <p:nvPr/>
        </p:nvSpPr>
        <p:spPr>
          <a:xfrm>
            <a:off x="1371600" y="2994862"/>
            <a:ext cx="2011679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8181E"/>
                </a:solidFill>
              </a:defRPr>
            </a:lvl1pPr>
          </a:lstStyle>
          <a:p>
            <a:pPr/>
            <a:r>
              <a:t>Vendeur</a:t>
            </a:r>
          </a:p>
        </p:txBody>
      </p:sp>
      <p:sp>
        <p:nvSpPr>
          <p:cNvPr id="776" name="Text 30"/>
          <p:cNvSpPr txBox="1"/>
          <p:nvPr/>
        </p:nvSpPr>
        <p:spPr>
          <a:xfrm>
            <a:off x="3520440" y="2999811"/>
            <a:ext cx="585216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Rénovation cuisine et extérieur : plus-value de</a:t>
            </a:r>
          </a:p>
        </p:txBody>
      </p:sp>
      <p:sp>
        <p:nvSpPr>
          <p:cNvPr id="777" name="Text 31"/>
          <p:cNvSpPr txBox="1"/>
          <p:nvPr/>
        </p:nvSpPr>
        <p:spPr>
          <a:xfrm>
            <a:off x="9400031" y="2980017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2000">
                <a:solidFill>
                  <a:srgbClr val="E8721C"/>
                </a:solidFill>
              </a:defRPr>
            </a:lvl1pPr>
          </a:lstStyle>
          <a:p>
            <a:pPr/>
            <a:r>
              <a:t>+20 000 $</a:t>
            </a:r>
          </a:p>
        </p:txBody>
      </p:sp>
      <p:sp>
        <p:nvSpPr>
          <p:cNvPr id="778" name="Shape 32"/>
          <p:cNvSpPr/>
          <p:nvPr/>
        </p:nvSpPr>
        <p:spPr>
          <a:xfrm>
            <a:off x="777240" y="3438144"/>
            <a:ext cx="10634472" cy="1"/>
          </a:xfrm>
          <a:prstGeom prst="line">
            <a:avLst/>
          </a:prstGeom>
          <a:ln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9" name="Text 33"/>
          <p:cNvSpPr txBox="1"/>
          <p:nvPr/>
        </p:nvSpPr>
        <p:spPr>
          <a:xfrm>
            <a:off x="777240" y="3678621"/>
            <a:ext cx="54864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8721C"/>
                </a:solidFill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780" name="Text 34"/>
          <p:cNvSpPr txBox="1"/>
          <p:nvPr/>
        </p:nvSpPr>
        <p:spPr>
          <a:xfrm>
            <a:off x="1371600" y="3662374"/>
            <a:ext cx="2011679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8181E"/>
                </a:solidFill>
              </a:defRPr>
            </a:lvl1pPr>
          </a:lstStyle>
          <a:p>
            <a:pPr/>
            <a:r>
              <a:t>Investisseur</a:t>
            </a:r>
          </a:p>
        </p:txBody>
      </p:sp>
      <p:sp>
        <p:nvSpPr>
          <p:cNvPr id="781" name="Text 35"/>
          <p:cNvSpPr txBox="1"/>
          <p:nvPr/>
        </p:nvSpPr>
        <p:spPr>
          <a:xfrm>
            <a:off x="3520440" y="3667323"/>
            <a:ext cx="585216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Saisir les ventes en condition anormale : décote de</a:t>
            </a:r>
          </a:p>
        </p:txBody>
      </p:sp>
      <p:sp>
        <p:nvSpPr>
          <p:cNvPr id="782" name="Text 36"/>
          <p:cNvSpPr txBox="1"/>
          <p:nvPr/>
        </p:nvSpPr>
        <p:spPr>
          <a:xfrm>
            <a:off x="9400031" y="3647529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2000">
                <a:solidFill>
                  <a:srgbClr val="E8721C"/>
                </a:solidFill>
              </a:defRPr>
            </a:lvl1pPr>
          </a:lstStyle>
          <a:p>
            <a:pPr/>
            <a:r>
              <a:t>−18 %</a:t>
            </a:r>
          </a:p>
        </p:txBody>
      </p:sp>
      <p:sp>
        <p:nvSpPr>
          <p:cNvPr id="783" name="Shape 37"/>
          <p:cNvSpPr/>
          <p:nvPr/>
        </p:nvSpPr>
        <p:spPr>
          <a:xfrm>
            <a:off x="777240" y="4105655"/>
            <a:ext cx="10634472" cy="1"/>
          </a:xfrm>
          <a:prstGeom prst="line">
            <a:avLst/>
          </a:prstGeom>
          <a:ln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4" name="Text 38"/>
          <p:cNvSpPr txBox="1"/>
          <p:nvPr/>
        </p:nvSpPr>
        <p:spPr>
          <a:xfrm>
            <a:off x="777240" y="4346133"/>
            <a:ext cx="54864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8721C"/>
                </a:solidFill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785" name="Text 39"/>
          <p:cNvSpPr txBox="1"/>
          <p:nvPr/>
        </p:nvSpPr>
        <p:spPr>
          <a:xfrm>
            <a:off x="1371600" y="4329886"/>
            <a:ext cx="2011679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8181E"/>
                </a:solidFill>
              </a:defRPr>
            </a:lvl1pPr>
          </a:lstStyle>
          <a:p>
            <a:pPr/>
            <a:r>
              <a:t>Promoteur</a:t>
            </a:r>
          </a:p>
        </p:txBody>
      </p:sp>
      <p:sp>
        <p:nvSpPr>
          <p:cNvPr id="786" name="Text 40"/>
          <p:cNvSpPr txBox="1"/>
          <p:nvPr/>
        </p:nvSpPr>
        <p:spPr>
          <a:xfrm>
            <a:off x="3520440" y="4334835"/>
            <a:ext cx="585216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Construire avec espaces verts intégrés : prime de</a:t>
            </a:r>
          </a:p>
        </p:txBody>
      </p:sp>
      <p:sp>
        <p:nvSpPr>
          <p:cNvPr id="787" name="Text 41"/>
          <p:cNvSpPr txBox="1"/>
          <p:nvPr/>
        </p:nvSpPr>
        <p:spPr>
          <a:xfrm>
            <a:off x="9400031" y="4315041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2000">
                <a:solidFill>
                  <a:srgbClr val="E8721C"/>
                </a:solidFill>
              </a:defRPr>
            </a:lvl1pPr>
          </a:lstStyle>
          <a:p>
            <a:pPr/>
            <a:r>
              <a:t>+41 %</a:t>
            </a:r>
          </a:p>
        </p:txBody>
      </p:sp>
      <p:sp>
        <p:nvSpPr>
          <p:cNvPr id="788" name="Shape 42"/>
          <p:cNvSpPr/>
          <p:nvPr/>
        </p:nvSpPr>
        <p:spPr>
          <a:xfrm>
            <a:off x="777240" y="4773167"/>
            <a:ext cx="10634472" cy="1"/>
          </a:xfrm>
          <a:prstGeom prst="line">
            <a:avLst/>
          </a:prstGeom>
          <a:ln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9" name="Text 43"/>
          <p:cNvSpPr txBox="1"/>
          <p:nvPr/>
        </p:nvSpPr>
        <p:spPr>
          <a:xfrm>
            <a:off x="777240" y="5013645"/>
            <a:ext cx="5486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E8721C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790" name="Text 44"/>
          <p:cNvSpPr txBox="1"/>
          <p:nvPr/>
        </p:nvSpPr>
        <p:spPr>
          <a:xfrm>
            <a:off x="1371600" y="4997398"/>
            <a:ext cx="2011679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8181E"/>
                </a:solidFill>
              </a:defRPr>
            </a:lvl1pPr>
          </a:lstStyle>
          <a:p>
            <a:pPr/>
            <a:r>
              <a:t>Urbaniste</a:t>
            </a:r>
          </a:p>
        </p:txBody>
      </p:sp>
      <p:sp>
        <p:nvSpPr>
          <p:cNvPr id="791" name="Text 45"/>
          <p:cNvSpPr txBox="1"/>
          <p:nvPr/>
        </p:nvSpPr>
        <p:spPr>
          <a:xfrm>
            <a:off x="3520440" y="5002347"/>
            <a:ext cx="585216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Valoriser le parc public : impact de</a:t>
            </a:r>
          </a:p>
        </p:txBody>
      </p:sp>
      <p:sp>
        <p:nvSpPr>
          <p:cNvPr id="792" name="Text 46"/>
          <p:cNvSpPr txBox="1"/>
          <p:nvPr/>
        </p:nvSpPr>
        <p:spPr>
          <a:xfrm>
            <a:off x="9400031" y="4982553"/>
            <a:ext cx="201168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2000">
                <a:solidFill>
                  <a:srgbClr val="E8721C"/>
                </a:solidFill>
              </a:defRPr>
            </a:lvl1pPr>
          </a:lstStyle>
          <a:p>
            <a:pPr/>
            <a:r>
              <a:t>5-10 M$</a:t>
            </a:r>
          </a:p>
        </p:txBody>
      </p:sp>
      <p:grpSp>
        <p:nvGrpSpPr>
          <p:cNvPr id="817" name="Google Shape;13259;p110"/>
          <p:cNvGrpSpPr/>
          <p:nvPr/>
        </p:nvGrpSpPr>
        <p:grpSpPr>
          <a:xfrm>
            <a:off x="10489138" y="-115842"/>
            <a:ext cx="2211251" cy="1786400"/>
            <a:chOff x="0" y="0"/>
            <a:chExt cx="2211250" cy="1786399"/>
          </a:xfrm>
        </p:grpSpPr>
        <p:grpSp>
          <p:nvGrpSpPr>
            <p:cNvPr id="798" name="Google Shape;13260;p110"/>
            <p:cNvGrpSpPr/>
            <p:nvPr/>
          </p:nvGrpSpPr>
          <p:grpSpPr>
            <a:xfrm>
              <a:off x="4" y="0"/>
              <a:ext cx="2211247" cy="442494"/>
              <a:chOff x="0" y="0"/>
              <a:chExt cx="2211245" cy="442493"/>
            </a:xfrm>
          </p:grpSpPr>
          <p:sp>
            <p:nvSpPr>
              <p:cNvPr id="793" name="Google Shape;13261;p110"/>
              <p:cNvSpPr/>
              <p:nvPr/>
            </p:nvSpPr>
            <p:spPr>
              <a:xfrm>
                <a:off x="0" y="0"/>
                <a:ext cx="442494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794" name="Google Shape;13262;p110"/>
              <p:cNvSpPr/>
              <p:nvPr/>
            </p:nvSpPr>
            <p:spPr>
              <a:xfrm>
                <a:off x="442187" y="0"/>
                <a:ext cx="442495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795" name="Google Shape;13263;p110"/>
              <p:cNvSpPr/>
              <p:nvPr/>
            </p:nvSpPr>
            <p:spPr>
              <a:xfrm>
                <a:off x="884374" y="0"/>
                <a:ext cx="442495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796" name="Google Shape;13264;p110"/>
              <p:cNvSpPr/>
              <p:nvPr/>
            </p:nvSpPr>
            <p:spPr>
              <a:xfrm>
                <a:off x="1326564" y="0"/>
                <a:ext cx="442495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797" name="Google Shape;13265;p110"/>
              <p:cNvSpPr/>
              <p:nvPr/>
            </p:nvSpPr>
            <p:spPr>
              <a:xfrm>
                <a:off x="1768751" y="0"/>
                <a:ext cx="442495" cy="442494"/>
              </a:xfrm>
              <a:prstGeom prst="diamond">
                <a:avLst/>
              </a:prstGeom>
              <a:solidFill>
                <a:srgbClr val="CFD9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804" name="Google Shape;13266;p110"/>
            <p:cNvGrpSpPr/>
            <p:nvPr/>
          </p:nvGrpSpPr>
          <p:grpSpPr>
            <a:xfrm>
              <a:off x="0" y="450859"/>
              <a:ext cx="2211246" cy="442494"/>
              <a:chOff x="0" y="0"/>
              <a:chExt cx="2211245" cy="442493"/>
            </a:xfrm>
          </p:grpSpPr>
          <p:sp>
            <p:nvSpPr>
              <p:cNvPr id="799" name="Google Shape;13267;p110"/>
              <p:cNvSpPr/>
              <p:nvPr/>
            </p:nvSpPr>
            <p:spPr>
              <a:xfrm>
                <a:off x="0" y="0"/>
                <a:ext cx="442494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00" name="Google Shape;13268;p110"/>
              <p:cNvSpPr/>
              <p:nvPr/>
            </p:nvSpPr>
            <p:spPr>
              <a:xfrm>
                <a:off x="442189" y="0"/>
                <a:ext cx="442494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01" name="Google Shape;13269;p110"/>
              <p:cNvSpPr/>
              <p:nvPr/>
            </p:nvSpPr>
            <p:spPr>
              <a:xfrm>
                <a:off x="884376" y="0"/>
                <a:ext cx="442495" cy="442494"/>
              </a:xfrm>
              <a:prstGeom prst="diamond">
                <a:avLst/>
              </a:prstGeom>
              <a:solidFill>
                <a:srgbClr val="CFD9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02" name="Google Shape;13270;p110"/>
              <p:cNvSpPr/>
              <p:nvPr/>
            </p:nvSpPr>
            <p:spPr>
              <a:xfrm>
                <a:off x="1326564" y="0"/>
                <a:ext cx="442495" cy="442494"/>
              </a:xfrm>
              <a:prstGeom prst="diamond">
                <a:avLst/>
              </a:prstGeom>
              <a:solidFill>
                <a:srgbClr val="CFD9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03" name="Google Shape;13271;p110"/>
              <p:cNvSpPr/>
              <p:nvPr/>
            </p:nvSpPr>
            <p:spPr>
              <a:xfrm>
                <a:off x="1768751" y="0"/>
                <a:ext cx="442495" cy="442494"/>
              </a:xfrm>
              <a:prstGeom prst="diamond">
                <a:avLst/>
              </a:prstGeom>
              <a:solidFill>
                <a:srgbClr val="CFD9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810" name="Google Shape;13272;p110"/>
            <p:cNvGrpSpPr/>
            <p:nvPr/>
          </p:nvGrpSpPr>
          <p:grpSpPr>
            <a:xfrm>
              <a:off x="4" y="893046"/>
              <a:ext cx="2211247" cy="442495"/>
              <a:chOff x="0" y="0"/>
              <a:chExt cx="2211245" cy="442493"/>
            </a:xfrm>
          </p:grpSpPr>
          <p:sp>
            <p:nvSpPr>
              <p:cNvPr id="805" name="Google Shape;13273;p110"/>
              <p:cNvSpPr/>
              <p:nvPr/>
            </p:nvSpPr>
            <p:spPr>
              <a:xfrm>
                <a:off x="0" y="0"/>
                <a:ext cx="442494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06" name="Google Shape;13274;p110"/>
              <p:cNvSpPr/>
              <p:nvPr/>
            </p:nvSpPr>
            <p:spPr>
              <a:xfrm>
                <a:off x="442187" y="0"/>
                <a:ext cx="442495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07" name="Google Shape;13275;p110"/>
              <p:cNvSpPr/>
              <p:nvPr/>
            </p:nvSpPr>
            <p:spPr>
              <a:xfrm>
                <a:off x="884374" y="0"/>
                <a:ext cx="442495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08" name="Google Shape;13276;p110"/>
              <p:cNvSpPr/>
              <p:nvPr/>
            </p:nvSpPr>
            <p:spPr>
              <a:xfrm>
                <a:off x="1326564" y="0"/>
                <a:ext cx="442495" cy="442494"/>
              </a:xfrm>
              <a:prstGeom prst="diamond">
                <a:avLst/>
              </a:prstGeom>
              <a:solidFill>
                <a:srgbClr val="CFD9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09" name="Google Shape;13277;p110"/>
              <p:cNvSpPr/>
              <p:nvPr/>
            </p:nvSpPr>
            <p:spPr>
              <a:xfrm>
                <a:off x="1768751" y="0"/>
                <a:ext cx="442495" cy="442494"/>
              </a:xfrm>
              <a:prstGeom prst="diamond">
                <a:avLst/>
              </a:prstGeom>
              <a:solidFill>
                <a:srgbClr val="CFD9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  <p:grpSp>
          <p:nvGrpSpPr>
            <p:cNvPr id="816" name="Google Shape;13278;p110"/>
            <p:cNvGrpSpPr/>
            <p:nvPr/>
          </p:nvGrpSpPr>
          <p:grpSpPr>
            <a:xfrm>
              <a:off x="0" y="1343905"/>
              <a:ext cx="2211246" cy="442495"/>
              <a:chOff x="0" y="0"/>
              <a:chExt cx="2211245" cy="442493"/>
            </a:xfrm>
          </p:grpSpPr>
          <p:sp>
            <p:nvSpPr>
              <p:cNvPr id="811" name="Google Shape;13279;p110"/>
              <p:cNvSpPr/>
              <p:nvPr/>
            </p:nvSpPr>
            <p:spPr>
              <a:xfrm>
                <a:off x="0" y="0"/>
                <a:ext cx="442494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12" name="Google Shape;13280;p110"/>
              <p:cNvSpPr/>
              <p:nvPr/>
            </p:nvSpPr>
            <p:spPr>
              <a:xfrm>
                <a:off x="442189" y="0"/>
                <a:ext cx="442494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13" name="Google Shape;13281;p110"/>
              <p:cNvSpPr/>
              <p:nvPr/>
            </p:nvSpPr>
            <p:spPr>
              <a:xfrm>
                <a:off x="884376" y="0"/>
                <a:ext cx="442495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14" name="Google Shape;13282;p110"/>
              <p:cNvSpPr/>
              <p:nvPr/>
            </p:nvSpPr>
            <p:spPr>
              <a:xfrm>
                <a:off x="1326564" y="0"/>
                <a:ext cx="442495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  <p:sp>
            <p:nvSpPr>
              <p:cNvPr id="815" name="Google Shape;13283;p110"/>
              <p:cNvSpPr/>
              <p:nvPr/>
            </p:nvSpPr>
            <p:spPr>
              <a:xfrm>
                <a:off x="1768751" y="0"/>
                <a:ext cx="442495" cy="442494"/>
              </a:xfrm>
              <a:prstGeom prst="diamond">
                <a:avLst/>
              </a:prstGeom>
              <a:solidFill>
                <a:srgbClr val="5F7D9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400">
                    <a:latin typeface="Arial"/>
                    <a:ea typeface="Arial"/>
                    <a:cs typeface="Arial"/>
                    <a:sym typeface="Arial"/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Text 0"/>
          <p:cNvSpPr txBox="1"/>
          <p:nvPr/>
        </p:nvSpPr>
        <p:spPr>
          <a:xfrm>
            <a:off x="777240" y="527112"/>
            <a:ext cx="8229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91" sz="1400">
                <a:solidFill>
                  <a:srgbClr val="7A6F60"/>
                </a:solidFill>
              </a:defRPr>
            </a:lvl1pPr>
          </a:lstStyle>
          <a:p>
            <a:pPr/>
            <a:r>
              <a:t>CRITIQUE &amp; HORIZON</a:t>
            </a:r>
          </a:p>
        </p:txBody>
      </p:sp>
      <p:sp>
        <p:nvSpPr>
          <p:cNvPr id="822" name="Text 1"/>
          <p:cNvSpPr txBox="1"/>
          <p:nvPr/>
        </p:nvSpPr>
        <p:spPr>
          <a:xfrm>
            <a:off x="758951" y="879517"/>
            <a:ext cx="10607042" cy="490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800">
                <a:solidFill>
                  <a:srgbClr val="18181E"/>
                </a:solidFill>
              </a:defRPr>
            </a:pPr>
            <a:r>
              <a:t>Limites &amp; Perspectives</a:t>
            </a:r>
            <a:r>
              <a:rPr>
                <a:solidFill>
                  <a:srgbClr val="E8721C"/>
                </a:solidFill>
              </a:rPr>
              <a:t>.</a:t>
            </a:r>
          </a:p>
        </p:txBody>
      </p:sp>
      <p:sp>
        <p:nvSpPr>
          <p:cNvPr id="823" name="Shape 2"/>
          <p:cNvSpPr/>
          <p:nvPr/>
        </p:nvSpPr>
        <p:spPr>
          <a:xfrm>
            <a:off x="777240" y="1664207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4" name="Shape 3"/>
          <p:cNvSpPr/>
          <p:nvPr/>
        </p:nvSpPr>
        <p:spPr>
          <a:xfrm>
            <a:off x="777240" y="6199632"/>
            <a:ext cx="10634472" cy="1"/>
          </a:xfrm>
          <a:prstGeom prst="line">
            <a:avLst/>
          </a:prstGeom>
          <a:ln w="12700">
            <a:solidFill>
              <a:srgbClr val="E7E2D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5" name="Text 4"/>
          <p:cNvSpPr txBox="1"/>
          <p:nvPr/>
        </p:nvSpPr>
        <p:spPr>
          <a:xfrm>
            <a:off x="777240" y="6368087"/>
            <a:ext cx="5486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7A6F60"/>
                </a:solidFill>
              </a:defRPr>
            </a:lvl1pPr>
          </a:lstStyle>
          <a:p>
            <a:pPr/>
            <a:r>
              <a:t>UFHB · Master 1 Data Science &amp; IA</a:t>
            </a:r>
          </a:p>
        </p:txBody>
      </p:sp>
      <p:sp>
        <p:nvSpPr>
          <p:cNvPr id="826" name="Shape 5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7" name="Shape 6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8" name="Shape 7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9" name="Shape 8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0" name="Shape 9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1" name="Shape 10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2" name="Shape 11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3" name="Shape 12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4" name="Shape 13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5" name="Shape 14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6" name="Shape 15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7" name="Shape 16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8" name="Shape 17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9" name="Shape 18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0" name="Shape 19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1" name="Shape 20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2" name="Shape 21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7E2D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3" name="Text 22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844" name="Text 23"/>
          <p:cNvSpPr txBox="1"/>
          <p:nvPr/>
        </p:nvSpPr>
        <p:spPr>
          <a:xfrm>
            <a:off x="777240" y="228276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54" sz="1400">
                <a:solidFill>
                  <a:srgbClr val="7A6F60"/>
                </a:solidFill>
              </a:defRPr>
            </a:lvl1pPr>
          </a:lstStyle>
          <a:p>
            <a:pPr/>
            <a:r>
              <a:t>LIMITES</a:t>
            </a:r>
          </a:p>
        </p:txBody>
      </p:sp>
      <p:sp>
        <p:nvSpPr>
          <p:cNvPr id="845" name="Shape 24"/>
          <p:cNvSpPr/>
          <p:nvPr/>
        </p:nvSpPr>
        <p:spPr>
          <a:xfrm>
            <a:off x="777240" y="260603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6" name="Text 25"/>
          <p:cNvSpPr txBox="1"/>
          <p:nvPr/>
        </p:nvSpPr>
        <p:spPr>
          <a:xfrm>
            <a:off x="777240" y="2779112"/>
            <a:ext cx="50292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8181E"/>
                </a:solidFill>
              </a:defRPr>
            </a:lvl1pPr>
          </a:lstStyle>
          <a:p>
            <a:pPr/>
            <a:r>
              <a:t>Période 2006-2010 uniquement</a:t>
            </a:r>
          </a:p>
        </p:txBody>
      </p:sp>
      <p:sp>
        <p:nvSpPr>
          <p:cNvPr id="847" name="Text 26"/>
          <p:cNvSpPr txBox="1"/>
          <p:nvPr/>
        </p:nvSpPr>
        <p:spPr>
          <a:xfrm>
            <a:off x="777240" y="336760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Dépendance directe au marché passé.</a:t>
            </a:r>
          </a:p>
        </p:txBody>
      </p:sp>
      <p:sp>
        <p:nvSpPr>
          <p:cNvPr id="848" name="Shape 27"/>
          <p:cNvSpPr/>
          <p:nvPr/>
        </p:nvSpPr>
        <p:spPr>
          <a:xfrm>
            <a:off x="777240" y="406907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9" name="Text 28"/>
          <p:cNvSpPr txBox="1"/>
          <p:nvPr/>
        </p:nvSpPr>
        <p:spPr>
          <a:xfrm>
            <a:off x="777240" y="4242152"/>
            <a:ext cx="50292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8181E"/>
                </a:solidFill>
              </a:defRPr>
            </a:lvl1pPr>
          </a:lstStyle>
          <a:p>
            <a:pPr/>
            <a:r>
              <a:t>Année 2010 incomplète</a:t>
            </a:r>
          </a:p>
        </p:txBody>
      </p:sp>
      <p:sp>
        <p:nvSpPr>
          <p:cNvPr id="850" name="Text 29"/>
          <p:cNvSpPr txBox="1"/>
          <p:nvPr/>
        </p:nvSpPr>
        <p:spPr>
          <a:xfrm>
            <a:off x="777240" y="485604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Fichier arrêté en juillet 2010.</a:t>
            </a:r>
          </a:p>
        </p:txBody>
      </p:sp>
      <p:sp>
        <p:nvSpPr>
          <p:cNvPr id="851" name="Text 30"/>
          <p:cNvSpPr txBox="1"/>
          <p:nvPr/>
        </p:nvSpPr>
        <p:spPr>
          <a:xfrm>
            <a:off x="6382511" y="2282760"/>
            <a:ext cx="5029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54" sz="1400">
                <a:solidFill>
                  <a:srgbClr val="7A6F60"/>
                </a:solidFill>
              </a:defRPr>
            </a:lvl1pPr>
          </a:lstStyle>
          <a:p>
            <a:pPr/>
            <a:r>
              <a:t>PERSPECTIVES</a:t>
            </a:r>
          </a:p>
        </p:txBody>
      </p:sp>
      <p:sp>
        <p:nvSpPr>
          <p:cNvPr id="852" name="Shape 31"/>
          <p:cNvSpPr/>
          <p:nvPr/>
        </p:nvSpPr>
        <p:spPr>
          <a:xfrm>
            <a:off x="6382511" y="2606039"/>
            <a:ext cx="5029201" cy="1"/>
          </a:xfrm>
          <a:prstGeom prst="line">
            <a:avLst/>
          </a:prstGeom>
          <a:ln w="25400">
            <a:solidFill>
              <a:srgbClr val="E8721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3" name="Text 32"/>
          <p:cNvSpPr txBox="1"/>
          <p:nvPr/>
        </p:nvSpPr>
        <p:spPr>
          <a:xfrm>
            <a:off x="6382511" y="2779112"/>
            <a:ext cx="50292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18181E"/>
                </a:solidFill>
              </a:defRPr>
            </a:lvl1pPr>
          </a:lstStyle>
          <a:p>
            <a:pPr/>
            <a:r>
              <a:t>Données récentes</a:t>
            </a:r>
          </a:p>
        </p:txBody>
      </p:sp>
      <p:sp>
        <p:nvSpPr>
          <p:cNvPr id="854" name="Text 33"/>
          <p:cNvSpPr txBox="1"/>
          <p:nvPr/>
        </p:nvSpPr>
        <p:spPr>
          <a:xfrm>
            <a:off x="6382511" y="3393003"/>
            <a:ext cx="5029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A443C"/>
                </a:solidFill>
              </a:defRPr>
            </a:lvl1pPr>
          </a:lstStyle>
          <a:p>
            <a:pPr/>
            <a:r>
              <a:t>Étalonnage à l'aide de transactions actuelles.</a:t>
            </a:r>
          </a:p>
        </p:txBody>
      </p:sp>
      <p:grpSp>
        <p:nvGrpSpPr>
          <p:cNvPr id="860" name="Google Shape;12329;p107"/>
          <p:cNvGrpSpPr/>
          <p:nvPr/>
        </p:nvGrpSpPr>
        <p:grpSpPr>
          <a:xfrm>
            <a:off x="7556978" y="5135688"/>
            <a:ext cx="4726491" cy="447099"/>
            <a:chOff x="0" y="0"/>
            <a:chExt cx="4726489" cy="447097"/>
          </a:xfrm>
        </p:grpSpPr>
        <p:sp>
          <p:nvSpPr>
            <p:cNvPr id="855" name="Google Shape;12330;p107"/>
            <p:cNvSpPr/>
            <p:nvPr/>
          </p:nvSpPr>
          <p:spPr>
            <a:xfrm>
              <a:off x="-1" y="-1"/>
              <a:ext cx="1091465" cy="447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3543" y="10812"/>
                  </a:lnTo>
                  <a:lnTo>
                    <a:pt x="0" y="21600"/>
                  </a:lnTo>
                  <a:lnTo>
                    <a:pt x="18057" y="21600"/>
                  </a:lnTo>
                  <a:lnTo>
                    <a:pt x="21600" y="10812"/>
                  </a:lnTo>
                  <a:lnTo>
                    <a:pt x="18057" y="0"/>
                  </a:lnTo>
                  <a:close/>
                </a:path>
              </a:pathLst>
            </a:custGeom>
            <a:solidFill>
              <a:srgbClr val="A5B7C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56" name="Google Shape;12331;p107"/>
            <p:cNvSpPr/>
            <p:nvPr/>
          </p:nvSpPr>
          <p:spPr>
            <a:xfrm>
              <a:off x="908752" y="-1"/>
              <a:ext cx="1091996" cy="447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3542" y="10812"/>
                  </a:lnTo>
                  <a:lnTo>
                    <a:pt x="0" y="21600"/>
                  </a:lnTo>
                  <a:lnTo>
                    <a:pt x="18058" y="21600"/>
                  </a:lnTo>
                  <a:lnTo>
                    <a:pt x="21600" y="10812"/>
                  </a:lnTo>
                  <a:lnTo>
                    <a:pt x="18058" y="0"/>
                  </a:lnTo>
                  <a:close/>
                </a:path>
              </a:pathLst>
            </a:custGeom>
            <a:solidFill>
              <a:srgbClr val="445D7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57" name="Google Shape;12332;p107"/>
            <p:cNvSpPr/>
            <p:nvPr/>
          </p:nvSpPr>
          <p:spPr>
            <a:xfrm>
              <a:off x="1816990" y="-1"/>
              <a:ext cx="1091996" cy="447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3542" y="10812"/>
                  </a:lnTo>
                  <a:lnTo>
                    <a:pt x="0" y="21600"/>
                  </a:lnTo>
                  <a:lnTo>
                    <a:pt x="18058" y="21600"/>
                  </a:lnTo>
                  <a:lnTo>
                    <a:pt x="21600" y="10812"/>
                  </a:lnTo>
                  <a:lnTo>
                    <a:pt x="18058" y="0"/>
                  </a:lnTo>
                  <a:close/>
                </a:path>
              </a:pathLst>
            </a:custGeom>
            <a:solidFill>
              <a:srgbClr val="667E9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58" name="Google Shape;12333;p107"/>
            <p:cNvSpPr/>
            <p:nvPr/>
          </p:nvSpPr>
          <p:spPr>
            <a:xfrm>
              <a:off x="3634494" y="-1"/>
              <a:ext cx="1091996" cy="447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3542" y="10812"/>
                  </a:lnTo>
                  <a:lnTo>
                    <a:pt x="0" y="21600"/>
                  </a:lnTo>
                  <a:lnTo>
                    <a:pt x="18058" y="21600"/>
                  </a:lnTo>
                  <a:lnTo>
                    <a:pt x="21600" y="10812"/>
                  </a:lnTo>
                  <a:lnTo>
                    <a:pt x="18058" y="0"/>
                  </a:lnTo>
                  <a:close/>
                </a:path>
              </a:pathLst>
            </a:custGeom>
            <a:solidFill>
              <a:srgbClr val="869FB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59" name="Google Shape;12334;p107"/>
            <p:cNvSpPr/>
            <p:nvPr/>
          </p:nvSpPr>
          <p:spPr>
            <a:xfrm>
              <a:off x="2726273" y="-1"/>
              <a:ext cx="1091465" cy="447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3533" y="10812"/>
                  </a:lnTo>
                  <a:lnTo>
                    <a:pt x="0" y="21600"/>
                  </a:lnTo>
                  <a:lnTo>
                    <a:pt x="18057" y="21600"/>
                  </a:lnTo>
                  <a:lnTo>
                    <a:pt x="21600" y="10812"/>
                  </a:lnTo>
                  <a:lnTo>
                    <a:pt x="18057" y="0"/>
                  </a:lnTo>
                  <a:close/>
                </a:path>
              </a:pathLst>
            </a:custGeom>
            <a:solidFill>
              <a:srgbClr val="A5B7C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Shape 0"/>
          <p:cNvSpPr/>
          <p:nvPr/>
        </p:nvSpPr>
        <p:spPr>
          <a:xfrm>
            <a:off x="777240" y="7772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5" name="Shape 1"/>
          <p:cNvSpPr/>
          <p:nvPr/>
        </p:nvSpPr>
        <p:spPr>
          <a:xfrm>
            <a:off x="932688" y="7772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6" name="Shape 2"/>
          <p:cNvSpPr/>
          <p:nvPr/>
        </p:nvSpPr>
        <p:spPr>
          <a:xfrm>
            <a:off x="1088136" y="7772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7" name="Shape 3"/>
          <p:cNvSpPr/>
          <p:nvPr/>
        </p:nvSpPr>
        <p:spPr>
          <a:xfrm>
            <a:off x="1243583" y="7772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8" name="Shape 4"/>
          <p:cNvSpPr/>
          <p:nvPr/>
        </p:nvSpPr>
        <p:spPr>
          <a:xfrm>
            <a:off x="1399032" y="7772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9" name="Shape 5"/>
          <p:cNvSpPr/>
          <p:nvPr/>
        </p:nvSpPr>
        <p:spPr>
          <a:xfrm>
            <a:off x="1554480" y="777240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0" name="Shape 6"/>
          <p:cNvSpPr/>
          <p:nvPr/>
        </p:nvSpPr>
        <p:spPr>
          <a:xfrm>
            <a:off x="777240" y="9326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1" name="Shape 7"/>
          <p:cNvSpPr/>
          <p:nvPr/>
        </p:nvSpPr>
        <p:spPr>
          <a:xfrm>
            <a:off x="932688" y="9326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2" name="Shape 8"/>
          <p:cNvSpPr/>
          <p:nvPr/>
        </p:nvSpPr>
        <p:spPr>
          <a:xfrm>
            <a:off x="1088136" y="9326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3" name="Shape 9"/>
          <p:cNvSpPr/>
          <p:nvPr/>
        </p:nvSpPr>
        <p:spPr>
          <a:xfrm>
            <a:off x="1243583" y="9326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4" name="Shape 10"/>
          <p:cNvSpPr/>
          <p:nvPr/>
        </p:nvSpPr>
        <p:spPr>
          <a:xfrm>
            <a:off x="1399032" y="9326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5" name="Shape 11"/>
          <p:cNvSpPr/>
          <p:nvPr/>
        </p:nvSpPr>
        <p:spPr>
          <a:xfrm>
            <a:off x="1554480" y="93268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6" name="Shape 12"/>
          <p:cNvSpPr/>
          <p:nvPr/>
        </p:nvSpPr>
        <p:spPr>
          <a:xfrm>
            <a:off x="777240" y="1088136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7" name="Shape 13"/>
          <p:cNvSpPr/>
          <p:nvPr/>
        </p:nvSpPr>
        <p:spPr>
          <a:xfrm>
            <a:off x="932688" y="1088136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8" name="Shape 14"/>
          <p:cNvSpPr/>
          <p:nvPr/>
        </p:nvSpPr>
        <p:spPr>
          <a:xfrm>
            <a:off x="1088136" y="1088136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9" name="Shape 15"/>
          <p:cNvSpPr/>
          <p:nvPr/>
        </p:nvSpPr>
        <p:spPr>
          <a:xfrm>
            <a:off x="1243583" y="1088136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0" name="Shape 16"/>
          <p:cNvSpPr/>
          <p:nvPr/>
        </p:nvSpPr>
        <p:spPr>
          <a:xfrm>
            <a:off x="1399032" y="1088136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1" name="Shape 17"/>
          <p:cNvSpPr/>
          <p:nvPr/>
        </p:nvSpPr>
        <p:spPr>
          <a:xfrm>
            <a:off x="1554480" y="1088136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2" name="Shape 18"/>
          <p:cNvSpPr/>
          <p:nvPr/>
        </p:nvSpPr>
        <p:spPr>
          <a:xfrm>
            <a:off x="10497311" y="5394959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3" name="Shape 19"/>
          <p:cNvSpPr/>
          <p:nvPr/>
        </p:nvSpPr>
        <p:spPr>
          <a:xfrm>
            <a:off x="10652759" y="5394959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4" name="Shape 20"/>
          <p:cNvSpPr/>
          <p:nvPr/>
        </p:nvSpPr>
        <p:spPr>
          <a:xfrm>
            <a:off x="10808207" y="5394959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5" name="Shape 21"/>
          <p:cNvSpPr/>
          <p:nvPr/>
        </p:nvSpPr>
        <p:spPr>
          <a:xfrm>
            <a:off x="10963656" y="5394959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6" name="Shape 22"/>
          <p:cNvSpPr/>
          <p:nvPr/>
        </p:nvSpPr>
        <p:spPr>
          <a:xfrm>
            <a:off x="11119104" y="5394959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7" name="Shape 23"/>
          <p:cNvSpPr/>
          <p:nvPr/>
        </p:nvSpPr>
        <p:spPr>
          <a:xfrm>
            <a:off x="11274552" y="5394959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8" name="Shape 24"/>
          <p:cNvSpPr/>
          <p:nvPr/>
        </p:nvSpPr>
        <p:spPr>
          <a:xfrm>
            <a:off x="10497311" y="555040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9" name="Shape 25"/>
          <p:cNvSpPr/>
          <p:nvPr/>
        </p:nvSpPr>
        <p:spPr>
          <a:xfrm>
            <a:off x="10652759" y="555040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0" name="Shape 26"/>
          <p:cNvSpPr/>
          <p:nvPr/>
        </p:nvSpPr>
        <p:spPr>
          <a:xfrm>
            <a:off x="10808207" y="555040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1" name="Shape 27"/>
          <p:cNvSpPr/>
          <p:nvPr/>
        </p:nvSpPr>
        <p:spPr>
          <a:xfrm>
            <a:off x="10963656" y="555040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2" name="Shape 28"/>
          <p:cNvSpPr/>
          <p:nvPr/>
        </p:nvSpPr>
        <p:spPr>
          <a:xfrm>
            <a:off x="11119104" y="555040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3" name="Shape 29"/>
          <p:cNvSpPr/>
          <p:nvPr/>
        </p:nvSpPr>
        <p:spPr>
          <a:xfrm>
            <a:off x="11274552" y="5550408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4" name="Shape 30"/>
          <p:cNvSpPr/>
          <p:nvPr/>
        </p:nvSpPr>
        <p:spPr>
          <a:xfrm>
            <a:off x="10497311" y="5705855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5" name="Shape 31"/>
          <p:cNvSpPr/>
          <p:nvPr/>
        </p:nvSpPr>
        <p:spPr>
          <a:xfrm>
            <a:off x="10652759" y="5705855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6" name="Shape 32"/>
          <p:cNvSpPr/>
          <p:nvPr/>
        </p:nvSpPr>
        <p:spPr>
          <a:xfrm>
            <a:off x="10808207" y="5705855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7" name="Shape 33"/>
          <p:cNvSpPr/>
          <p:nvPr/>
        </p:nvSpPr>
        <p:spPr>
          <a:xfrm>
            <a:off x="10963656" y="5705855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8" name="Shape 34"/>
          <p:cNvSpPr/>
          <p:nvPr/>
        </p:nvSpPr>
        <p:spPr>
          <a:xfrm>
            <a:off x="11119104" y="5705855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9" name="Shape 35"/>
          <p:cNvSpPr/>
          <p:nvPr/>
        </p:nvSpPr>
        <p:spPr>
          <a:xfrm>
            <a:off x="11274552" y="5705855"/>
            <a:ext cx="41149" cy="41149"/>
          </a:xfrm>
          <a:prstGeom prst="ellipse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0" name="Text 36"/>
          <p:cNvSpPr txBox="1"/>
          <p:nvPr/>
        </p:nvSpPr>
        <p:spPr>
          <a:xfrm>
            <a:off x="914399" y="2307589"/>
            <a:ext cx="10360154" cy="205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400"/>
              </a:lnSpc>
              <a:defRPr b="1" sz="4400">
                <a:solidFill>
                  <a:srgbClr val="FFFFFF"/>
                </a:solidFill>
              </a:defRPr>
            </a:pPr>
            <a:r>
              <a:t>La suite se raconte</a:t>
            </a:r>
          </a:p>
          <a:p>
            <a:pPr algn="ctr">
              <a:lnSpc>
                <a:spcPts val="5400"/>
              </a:lnSpc>
              <a:defRPr b="1" sz="4400">
                <a:solidFill>
                  <a:srgbClr val="FFFFFF"/>
                </a:solidFill>
              </a:defRPr>
            </a:pPr>
            <a:r>
              <a:t>dans le dashboard</a:t>
            </a:r>
          </a:p>
          <a:p>
            <a:pPr algn="ctr">
              <a:lnSpc>
                <a:spcPts val="5400"/>
              </a:lnSpc>
              <a:defRPr b="1" sz="4400">
                <a:solidFill>
                  <a:srgbClr val="E8721C"/>
                </a:solidFill>
              </a:defRPr>
            </a:pPr>
            <a:r>
              <a:t>.</a:t>
            </a:r>
          </a:p>
        </p:txBody>
      </p:sp>
      <p:sp>
        <p:nvSpPr>
          <p:cNvPr id="901" name="Text 37"/>
          <p:cNvSpPr txBox="1"/>
          <p:nvPr/>
        </p:nvSpPr>
        <p:spPr>
          <a:xfrm>
            <a:off x="914399" y="4607912"/>
            <a:ext cx="10360154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57" sz="2200">
                <a:solidFill>
                  <a:srgbClr val="D8D0BE"/>
                </a:solidFill>
              </a:defRPr>
            </a:lvl1pPr>
          </a:lstStyle>
          <a:p>
            <a:pPr/>
            <a:r>
              <a:t>cam-s.shinyapps.io/ames-immobilier</a:t>
            </a:r>
          </a:p>
        </p:txBody>
      </p:sp>
      <p:sp>
        <p:nvSpPr>
          <p:cNvPr id="902" name="Shape 38"/>
          <p:cNvSpPr/>
          <p:nvPr/>
        </p:nvSpPr>
        <p:spPr>
          <a:xfrm>
            <a:off x="9665207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3" name="Shape 39"/>
          <p:cNvSpPr/>
          <p:nvPr/>
        </p:nvSpPr>
        <p:spPr>
          <a:xfrm>
            <a:off x="9770364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4" name="Shape 40"/>
          <p:cNvSpPr/>
          <p:nvPr/>
        </p:nvSpPr>
        <p:spPr>
          <a:xfrm>
            <a:off x="9875519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5" name="Shape 41"/>
          <p:cNvSpPr/>
          <p:nvPr/>
        </p:nvSpPr>
        <p:spPr>
          <a:xfrm>
            <a:off x="9980676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6" name="Shape 42"/>
          <p:cNvSpPr/>
          <p:nvPr/>
        </p:nvSpPr>
        <p:spPr>
          <a:xfrm>
            <a:off x="10085831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7" name="Shape 43"/>
          <p:cNvSpPr/>
          <p:nvPr/>
        </p:nvSpPr>
        <p:spPr>
          <a:xfrm>
            <a:off x="10190988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8" name="Shape 44"/>
          <p:cNvSpPr/>
          <p:nvPr/>
        </p:nvSpPr>
        <p:spPr>
          <a:xfrm>
            <a:off x="10296143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9" name="Shape 45"/>
          <p:cNvSpPr/>
          <p:nvPr/>
        </p:nvSpPr>
        <p:spPr>
          <a:xfrm>
            <a:off x="10401300" y="6355079"/>
            <a:ext cx="64008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0" name="Shape 46"/>
          <p:cNvSpPr/>
          <p:nvPr/>
        </p:nvSpPr>
        <p:spPr>
          <a:xfrm>
            <a:off x="10506456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1" name="Shape 47"/>
          <p:cNvSpPr/>
          <p:nvPr/>
        </p:nvSpPr>
        <p:spPr>
          <a:xfrm>
            <a:off x="10611611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2" name="Shape 48"/>
          <p:cNvSpPr/>
          <p:nvPr/>
        </p:nvSpPr>
        <p:spPr>
          <a:xfrm>
            <a:off x="10716768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3" name="Shape 49"/>
          <p:cNvSpPr/>
          <p:nvPr/>
        </p:nvSpPr>
        <p:spPr>
          <a:xfrm>
            <a:off x="10821923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4" name="Shape 50"/>
          <p:cNvSpPr/>
          <p:nvPr/>
        </p:nvSpPr>
        <p:spPr>
          <a:xfrm>
            <a:off x="10927080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5" name="Shape 51"/>
          <p:cNvSpPr/>
          <p:nvPr/>
        </p:nvSpPr>
        <p:spPr>
          <a:xfrm>
            <a:off x="11032235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6" name="Shape 52"/>
          <p:cNvSpPr/>
          <p:nvPr/>
        </p:nvSpPr>
        <p:spPr>
          <a:xfrm>
            <a:off x="11137392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7" name="Shape 53"/>
          <p:cNvSpPr/>
          <p:nvPr/>
        </p:nvSpPr>
        <p:spPr>
          <a:xfrm>
            <a:off x="11242547" y="6355079"/>
            <a:ext cx="64009" cy="45721"/>
          </a:xfrm>
          <a:prstGeom prst="rect">
            <a:avLst/>
          </a:prstGeom>
          <a:solidFill>
            <a:srgbClr val="2C4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8" name="Shape 54"/>
          <p:cNvSpPr/>
          <p:nvPr/>
        </p:nvSpPr>
        <p:spPr>
          <a:xfrm>
            <a:off x="11347704" y="6355079"/>
            <a:ext cx="64009" cy="45721"/>
          </a:xfrm>
          <a:prstGeom prst="rect">
            <a:avLst/>
          </a:prstGeom>
          <a:solidFill>
            <a:srgbClr val="E8721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9" name="Text 55"/>
          <p:cNvSpPr txBox="1"/>
          <p:nvPr/>
        </p:nvSpPr>
        <p:spPr>
          <a:xfrm>
            <a:off x="9162288" y="6304832"/>
            <a:ext cx="4114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E8721C"/>
                </a:solidFill>
              </a:defRPr>
            </a:lvl1pPr>
          </a:lstStyle>
          <a:p>
            <a:pPr/>
            <a:r>
              <a:t>17</a:t>
            </a:r>
          </a:p>
        </p:txBody>
      </p:sp>
      <p:grpSp>
        <p:nvGrpSpPr>
          <p:cNvPr id="930" name="Google Shape;12282;p107"/>
          <p:cNvGrpSpPr/>
          <p:nvPr/>
        </p:nvGrpSpPr>
        <p:grpSpPr>
          <a:xfrm>
            <a:off x="5051019" y="5242225"/>
            <a:ext cx="1617714" cy="346617"/>
            <a:chOff x="0" y="0"/>
            <a:chExt cx="1617713" cy="346615"/>
          </a:xfrm>
        </p:grpSpPr>
        <p:sp>
          <p:nvSpPr>
            <p:cNvPr id="920" name="Google Shape;12283;p107"/>
            <p:cNvSpPr/>
            <p:nvPr/>
          </p:nvSpPr>
          <p:spPr>
            <a:xfrm>
              <a:off x="46902" y="61844"/>
              <a:ext cx="252482" cy="252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4292"/>
                  </a:moveTo>
                  <a:cubicBezTo>
                    <a:pt x="14394" y="4292"/>
                    <a:pt x="17308" y="7206"/>
                    <a:pt x="17308" y="10800"/>
                  </a:cubicBezTo>
                  <a:cubicBezTo>
                    <a:pt x="17308" y="14395"/>
                    <a:pt x="14394" y="17308"/>
                    <a:pt x="10800" y="17308"/>
                  </a:cubicBezTo>
                  <a:lnTo>
                    <a:pt x="10800" y="17308"/>
                  </a:lnTo>
                  <a:cubicBezTo>
                    <a:pt x="7205" y="17308"/>
                    <a:pt x="4292" y="14395"/>
                    <a:pt x="4292" y="10800"/>
                  </a:cubicBezTo>
                  <a:cubicBezTo>
                    <a:pt x="4292" y="7206"/>
                    <a:pt x="7205" y="4292"/>
                    <a:pt x="10800" y="4292"/>
                  </a:cubicBezTo>
                  <a:close/>
                  <a:moveTo>
                    <a:pt x="9289" y="0"/>
                  </a:moveTo>
                  <a:cubicBezTo>
                    <a:pt x="8925" y="0"/>
                    <a:pt x="8631" y="294"/>
                    <a:pt x="8631" y="658"/>
                  </a:cubicBezTo>
                  <a:lnTo>
                    <a:pt x="8631" y="2418"/>
                  </a:lnTo>
                  <a:cubicBezTo>
                    <a:pt x="7850" y="2619"/>
                    <a:pt x="7101" y="2929"/>
                    <a:pt x="6406" y="3338"/>
                  </a:cubicBezTo>
                  <a:lnTo>
                    <a:pt x="5162" y="2095"/>
                  </a:lnTo>
                  <a:cubicBezTo>
                    <a:pt x="5034" y="1967"/>
                    <a:pt x="4865" y="1902"/>
                    <a:pt x="4697" y="1902"/>
                  </a:cubicBezTo>
                  <a:cubicBezTo>
                    <a:pt x="4528" y="1902"/>
                    <a:pt x="4360" y="1967"/>
                    <a:pt x="4231" y="2095"/>
                  </a:cubicBezTo>
                  <a:lnTo>
                    <a:pt x="2095" y="4232"/>
                  </a:lnTo>
                  <a:cubicBezTo>
                    <a:pt x="1837" y="4489"/>
                    <a:pt x="1837" y="4906"/>
                    <a:pt x="2095" y="5162"/>
                  </a:cubicBezTo>
                  <a:lnTo>
                    <a:pt x="3339" y="6405"/>
                  </a:lnTo>
                  <a:cubicBezTo>
                    <a:pt x="2929" y="7100"/>
                    <a:pt x="2618" y="7849"/>
                    <a:pt x="2417" y="8630"/>
                  </a:cubicBezTo>
                  <a:lnTo>
                    <a:pt x="658" y="8630"/>
                  </a:lnTo>
                  <a:cubicBezTo>
                    <a:pt x="294" y="8630"/>
                    <a:pt x="0" y="8924"/>
                    <a:pt x="0" y="9289"/>
                  </a:cubicBezTo>
                  <a:lnTo>
                    <a:pt x="0" y="12311"/>
                  </a:lnTo>
                  <a:cubicBezTo>
                    <a:pt x="0" y="12675"/>
                    <a:pt x="294" y="12970"/>
                    <a:pt x="658" y="12970"/>
                  </a:cubicBezTo>
                  <a:lnTo>
                    <a:pt x="2417" y="12970"/>
                  </a:lnTo>
                  <a:cubicBezTo>
                    <a:pt x="2618" y="13751"/>
                    <a:pt x="2928" y="14500"/>
                    <a:pt x="3339" y="15194"/>
                  </a:cubicBezTo>
                  <a:lnTo>
                    <a:pt x="2095" y="16437"/>
                  </a:lnTo>
                  <a:cubicBezTo>
                    <a:pt x="1837" y="16695"/>
                    <a:pt x="1837" y="17111"/>
                    <a:pt x="2095" y="17369"/>
                  </a:cubicBezTo>
                  <a:lnTo>
                    <a:pt x="4231" y="19506"/>
                  </a:lnTo>
                  <a:cubicBezTo>
                    <a:pt x="4360" y="19634"/>
                    <a:pt x="4528" y="19699"/>
                    <a:pt x="4697" y="19699"/>
                  </a:cubicBezTo>
                  <a:cubicBezTo>
                    <a:pt x="4865" y="19699"/>
                    <a:pt x="5034" y="19634"/>
                    <a:pt x="5162" y="19506"/>
                  </a:cubicBezTo>
                  <a:lnTo>
                    <a:pt x="6406" y="18262"/>
                  </a:lnTo>
                  <a:cubicBezTo>
                    <a:pt x="7101" y="18671"/>
                    <a:pt x="7850" y="18981"/>
                    <a:pt x="8631" y="19184"/>
                  </a:cubicBezTo>
                  <a:lnTo>
                    <a:pt x="8631" y="20943"/>
                  </a:lnTo>
                  <a:cubicBezTo>
                    <a:pt x="8631" y="21305"/>
                    <a:pt x="8925" y="21600"/>
                    <a:pt x="9289" y="21600"/>
                  </a:cubicBezTo>
                  <a:lnTo>
                    <a:pt x="12312" y="21600"/>
                  </a:lnTo>
                  <a:cubicBezTo>
                    <a:pt x="12674" y="21600"/>
                    <a:pt x="12968" y="21305"/>
                    <a:pt x="12968" y="20943"/>
                  </a:cubicBezTo>
                  <a:lnTo>
                    <a:pt x="12968" y="19184"/>
                  </a:lnTo>
                  <a:cubicBezTo>
                    <a:pt x="13751" y="18981"/>
                    <a:pt x="14498" y="18671"/>
                    <a:pt x="15193" y="18262"/>
                  </a:cubicBezTo>
                  <a:lnTo>
                    <a:pt x="16437" y="19505"/>
                  </a:lnTo>
                  <a:cubicBezTo>
                    <a:pt x="16566" y="19633"/>
                    <a:pt x="16734" y="19698"/>
                    <a:pt x="16903" y="19698"/>
                  </a:cubicBezTo>
                  <a:cubicBezTo>
                    <a:pt x="17071" y="19698"/>
                    <a:pt x="17240" y="19633"/>
                    <a:pt x="17368" y="19505"/>
                  </a:cubicBezTo>
                  <a:lnTo>
                    <a:pt x="19505" y="17368"/>
                  </a:lnTo>
                  <a:cubicBezTo>
                    <a:pt x="19762" y="17111"/>
                    <a:pt x="19762" y="16694"/>
                    <a:pt x="19505" y="16437"/>
                  </a:cubicBezTo>
                  <a:lnTo>
                    <a:pt x="18262" y="15194"/>
                  </a:lnTo>
                  <a:cubicBezTo>
                    <a:pt x="18672" y="14500"/>
                    <a:pt x="18981" y="13751"/>
                    <a:pt x="19182" y="12970"/>
                  </a:cubicBezTo>
                  <a:lnTo>
                    <a:pt x="20942" y="12970"/>
                  </a:lnTo>
                  <a:cubicBezTo>
                    <a:pt x="21306" y="12970"/>
                    <a:pt x="21600" y="12675"/>
                    <a:pt x="21600" y="12311"/>
                  </a:cubicBezTo>
                  <a:lnTo>
                    <a:pt x="21600" y="9290"/>
                  </a:lnTo>
                  <a:cubicBezTo>
                    <a:pt x="21600" y="8927"/>
                    <a:pt x="21307" y="8632"/>
                    <a:pt x="20945" y="8632"/>
                  </a:cubicBezTo>
                  <a:cubicBezTo>
                    <a:pt x="20944" y="8632"/>
                    <a:pt x="20943" y="8632"/>
                    <a:pt x="20942" y="8632"/>
                  </a:cubicBezTo>
                  <a:lnTo>
                    <a:pt x="19182" y="8632"/>
                  </a:lnTo>
                  <a:cubicBezTo>
                    <a:pt x="18981" y="7849"/>
                    <a:pt x="18672" y="7102"/>
                    <a:pt x="18262" y="6407"/>
                  </a:cubicBezTo>
                  <a:lnTo>
                    <a:pt x="19505" y="5162"/>
                  </a:lnTo>
                  <a:cubicBezTo>
                    <a:pt x="19762" y="4906"/>
                    <a:pt x="19762" y="4489"/>
                    <a:pt x="19505" y="4232"/>
                  </a:cubicBezTo>
                  <a:lnTo>
                    <a:pt x="17368" y="2095"/>
                  </a:lnTo>
                  <a:cubicBezTo>
                    <a:pt x="17240" y="1967"/>
                    <a:pt x="17071" y="1902"/>
                    <a:pt x="16903" y="1902"/>
                  </a:cubicBezTo>
                  <a:cubicBezTo>
                    <a:pt x="16734" y="1902"/>
                    <a:pt x="16566" y="1967"/>
                    <a:pt x="16437" y="2095"/>
                  </a:cubicBezTo>
                  <a:lnTo>
                    <a:pt x="15193" y="3340"/>
                  </a:lnTo>
                  <a:cubicBezTo>
                    <a:pt x="14498" y="2929"/>
                    <a:pt x="13751" y="2619"/>
                    <a:pt x="12968" y="2418"/>
                  </a:cubicBezTo>
                  <a:lnTo>
                    <a:pt x="12968" y="658"/>
                  </a:lnTo>
                  <a:cubicBezTo>
                    <a:pt x="12968" y="294"/>
                    <a:pt x="12674" y="0"/>
                    <a:pt x="12312" y="0"/>
                  </a:cubicBezTo>
                  <a:close/>
                </a:path>
              </a:pathLst>
            </a:custGeom>
            <a:solidFill>
              <a:srgbClr val="ABBC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1" name="Google Shape;12284;p107"/>
            <p:cNvSpPr/>
            <p:nvPr/>
          </p:nvSpPr>
          <p:spPr>
            <a:xfrm>
              <a:off x="953528" y="173328"/>
              <a:ext cx="346431" cy="173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2952"/>
                    <a:pt x="306" y="5877"/>
                    <a:pt x="891" y="8589"/>
                  </a:cubicBezTo>
                  <a:cubicBezTo>
                    <a:pt x="2561" y="16242"/>
                    <a:pt x="6372" y="21600"/>
                    <a:pt x="10803" y="21600"/>
                  </a:cubicBezTo>
                  <a:cubicBezTo>
                    <a:pt x="16759" y="21600"/>
                    <a:pt x="21600" y="11907"/>
                    <a:pt x="21600" y="0"/>
                  </a:cubicBezTo>
                  <a:lnTo>
                    <a:pt x="19810" y="0"/>
                  </a:lnTo>
                  <a:cubicBezTo>
                    <a:pt x="19810" y="9939"/>
                    <a:pt x="15769" y="18019"/>
                    <a:pt x="10803" y="18019"/>
                  </a:cubicBezTo>
                  <a:cubicBezTo>
                    <a:pt x="5833" y="18019"/>
                    <a:pt x="1793" y="9939"/>
                    <a:pt x="1793" y="0"/>
                  </a:cubicBezTo>
                  <a:close/>
                </a:path>
              </a:pathLst>
            </a:custGeom>
            <a:solidFill>
              <a:srgbClr val="A5B7C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2" name="Google Shape;12285;p107"/>
            <p:cNvSpPr/>
            <p:nvPr/>
          </p:nvSpPr>
          <p:spPr>
            <a:xfrm>
              <a:off x="635773" y="0"/>
              <a:ext cx="346387" cy="173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1" y="0"/>
                  </a:moveTo>
                  <a:cubicBezTo>
                    <a:pt x="6370" y="0"/>
                    <a:pt x="2556" y="5369"/>
                    <a:pt x="894" y="13011"/>
                  </a:cubicBezTo>
                  <a:cubicBezTo>
                    <a:pt x="303" y="15712"/>
                    <a:pt x="0" y="18637"/>
                    <a:pt x="0" y="21600"/>
                  </a:cubicBezTo>
                  <a:lnTo>
                    <a:pt x="1785" y="21600"/>
                  </a:lnTo>
                  <a:cubicBezTo>
                    <a:pt x="1785" y="11672"/>
                    <a:pt x="5831" y="3592"/>
                    <a:pt x="10801" y="3592"/>
                  </a:cubicBezTo>
                  <a:cubicBezTo>
                    <a:pt x="15766" y="3592"/>
                    <a:pt x="19809" y="11672"/>
                    <a:pt x="19809" y="21600"/>
                  </a:cubicBezTo>
                  <a:lnTo>
                    <a:pt x="21600" y="21600"/>
                  </a:lnTo>
                  <a:cubicBezTo>
                    <a:pt x="21600" y="18648"/>
                    <a:pt x="21299" y="15723"/>
                    <a:pt x="20706" y="13017"/>
                  </a:cubicBezTo>
                  <a:cubicBezTo>
                    <a:pt x="19044" y="5369"/>
                    <a:pt x="15230" y="0"/>
                    <a:pt x="10801" y="0"/>
                  </a:cubicBezTo>
                  <a:close/>
                </a:path>
              </a:pathLst>
            </a:custGeom>
            <a:solidFill>
              <a:srgbClr val="869FB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3" name="Google Shape;12286;p107"/>
            <p:cNvSpPr/>
            <p:nvPr/>
          </p:nvSpPr>
          <p:spPr>
            <a:xfrm>
              <a:off x="-1" y="0"/>
              <a:ext cx="346476" cy="173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600" fill="norm" stroke="1" extrusionOk="0">
                  <a:moveTo>
                    <a:pt x="10794" y="0"/>
                  </a:moveTo>
                  <a:cubicBezTo>
                    <a:pt x="10783" y="0"/>
                    <a:pt x="10772" y="0"/>
                    <a:pt x="10761" y="0"/>
                  </a:cubicBezTo>
                  <a:cubicBezTo>
                    <a:pt x="4813" y="33"/>
                    <a:pt x="-16" y="9724"/>
                    <a:pt x="0" y="21600"/>
                  </a:cubicBezTo>
                  <a:lnTo>
                    <a:pt x="1789" y="21595"/>
                  </a:lnTo>
                  <a:cubicBezTo>
                    <a:pt x="1778" y="11686"/>
                    <a:pt x="5804" y="3603"/>
                    <a:pt x="10764" y="3570"/>
                  </a:cubicBezTo>
                  <a:cubicBezTo>
                    <a:pt x="10774" y="3570"/>
                    <a:pt x="10785" y="3570"/>
                    <a:pt x="10796" y="3570"/>
                  </a:cubicBezTo>
                  <a:cubicBezTo>
                    <a:pt x="15745" y="3570"/>
                    <a:pt x="19779" y="11593"/>
                    <a:pt x="19795" y="21469"/>
                  </a:cubicBezTo>
                  <a:lnTo>
                    <a:pt x="19801" y="21469"/>
                  </a:lnTo>
                  <a:lnTo>
                    <a:pt x="21584" y="21464"/>
                  </a:lnTo>
                  <a:cubicBezTo>
                    <a:pt x="21579" y="18521"/>
                    <a:pt x="21273" y="15605"/>
                    <a:pt x="20680" y="12907"/>
                  </a:cubicBezTo>
                  <a:cubicBezTo>
                    <a:pt x="19009" y="5320"/>
                    <a:pt x="15204" y="0"/>
                    <a:pt x="10794" y="0"/>
                  </a:cubicBezTo>
                  <a:close/>
                </a:path>
              </a:pathLst>
            </a:custGeom>
            <a:solidFill>
              <a:srgbClr val="869FB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4" name="Google Shape;12287;p107"/>
            <p:cNvSpPr/>
            <p:nvPr/>
          </p:nvSpPr>
          <p:spPr>
            <a:xfrm>
              <a:off x="317974" y="173328"/>
              <a:ext cx="346431" cy="1732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2952"/>
                    <a:pt x="301" y="5877"/>
                    <a:pt x="894" y="8589"/>
                  </a:cubicBezTo>
                  <a:cubicBezTo>
                    <a:pt x="2561" y="16242"/>
                    <a:pt x="6372" y="21600"/>
                    <a:pt x="10803" y="21600"/>
                  </a:cubicBezTo>
                  <a:cubicBezTo>
                    <a:pt x="15234" y="21600"/>
                    <a:pt x="19041" y="16242"/>
                    <a:pt x="20703" y="8600"/>
                  </a:cubicBezTo>
                  <a:cubicBezTo>
                    <a:pt x="21294" y="5882"/>
                    <a:pt x="21600" y="2958"/>
                    <a:pt x="21600" y="0"/>
                  </a:cubicBezTo>
                  <a:lnTo>
                    <a:pt x="19812" y="0"/>
                  </a:lnTo>
                  <a:cubicBezTo>
                    <a:pt x="19812" y="9939"/>
                    <a:pt x="15769" y="18019"/>
                    <a:pt x="10803" y="18019"/>
                  </a:cubicBezTo>
                  <a:cubicBezTo>
                    <a:pt x="5833" y="18019"/>
                    <a:pt x="1793" y="9939"/>
                    <a:pt x="1793" y="0"/>
                  </a:cubicBezTo>
                  <a:close/>
                </a:path>
              </a:pathLst>
            </a:custGeom>
            <a:solidFill>
              <a:srgbClr val="CFD9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5" name="Google Shape;12288;p107"/>
            <p:cNvSpPr/>
            <p:nvPr/>
          </p:nvSpPr>
          <p:spPr>
            <a:xfrm>
              <a:off x="1271238" y="0"/>
              <a:ext cx="346476" cy="173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600" fill="norm" stroke="1" extrusionOk="0">
                  <a:moveTo>
                    <a:pt x="10794" y="0"/>
                  </a:moveTo>
                  <a:cubicBezTo>
                    <a:pt x="10783" y="0"/>
                    <a:pt x="10772" y="0"/>
                    <a:pt x="10761" y="0"/>
                  </a:cubicBezTo>
                  <a:cubicBezTo>
                    <a:pt x="4813" y="44"/>
                    <a:pt x="-16" y="9734"/>
                    <a:pt x="0" y="21600"/>
                  </a:cubicBezTo>
                  <a:lnTo>
                    <a:pt x="1795" y="21595"/>
                  </a:lnTo>
                  <a:cubicBezTo>
                    <a:pt x="1778" y="11686"/>
                    <a:pt x="5804" y="3603"/>
                    <a:pt x="10764" y="3581"/>
                  </a:cubicBezTo>
                  <a:cubicBezTo>
                    <a:pt x="10774" y="3581"/>
                    <a:pt x="10785" y="3581"/>
                    <a:pt x="10796" y="3581"/>
                  </a:cubicBezTo>
                  <a:cubicBezTo>
                    <a:pt x="15745" y="3581"/>
                    <a:pt x="19779" y="11593"/>
                    <a:pt x="19795" y="21480"/>
                  </a:cubicBezTo>
                  <a:lnTo>
                    <a:pt x="19801" y="21480"/>
                  </a:lnTo>
                  <a:lnTo>
                    <a:pt x="21584" y="21469"/>
                  </a:lnTo>
                  <a:cubicBezTo>
                    <a:pt x="21579" y="18521"/>
                    <a:pt x="21273" y="15615"/>
                    <a:pt x="20677" y="12917"/>
                  </a:cubicBezTo>
                  <a:cubicBezTo>
                    <a:pt x="19009" y="5320"/>
                    <a:pt x="15204" y="0"/>
                    <a:pt x="10794" y="0"/>
                  </a:cubicBezTo>
                  <a:close/>
                </a:path>
              </a:pathLst>
            </a:custGeom>
            <a:solidFill>
              <a:srgbClr val="667E9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6" name="Google Shape;12289;p107"/>
            <p:cNvSpPr/>
            <p:nvPr/>
          </p:nvSpPr>
          <p:spPr>
            <a:xfrm>
              <a:off x="364908" y="27414"/>
              <a:ext cx="252482" cy="2525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4292"/>
                  </a:moveTo>
                  <a:cubicBezTo>
                    <a:pt x="14394" y="4292"/>
                    <a:pt x="17308" y="7206"/>
                    <a:pt x="17308" y="10800"/>
                  </a:cubicBezTo>
                  <a:cubicBezTo>
                    <a:pt x="17308" y="14395"/>
                    <a:pt x="14394" y="17308"/>
                    <a:pt x="10800" y="17308"/>
                  </a:cubicBezTo>
                  <a:lnTo>
                    <a:pt x="10800" y="17308"/>
                  </a:lnTo>
                  <a:cubicBezTo>
                    <a:pt x="7205" y="17308"/>
                    <a:pt x="4292" y="14395"/>
                    <a:pt x="4292" y="10800"/>
                  </a:cubicBezTo>
                  <a:cubicBezTo>
                    <a:pt x="4292" y="7206"/>
                    <a:pt x="7205" y="4292"/>
                    <a:pt x="10800" y="4292"/>
                  </a:cubicBezTo>
                  <a:close/>
                  <a:moveTo>
                    <a:pt x="9289" y="0"/>
                  </a:moveTo>
                  <a:cubicBezTo>
                    <a:pt x="8925" y="0"/>
                    <a:pt x="8631" y="294"/>
                    <a:pt x="8631" y="658"/>
                  </a:cubicBezTo>
                  <a:lnTo>
                    <a:pt x="8631" y="2418"/>
                  </a:lnTo>
                  <a:cubicBezTo>
                    <a:pt x="7850" y="2619"/>
                    <a:pt x="7101" y="2929"/>
                    <a:pt x="6406" y="3338"/>
                  </a:cubicBezTo>
                  <a:lnTo>
                    <a:pt x="5162" y="2095"/>
                  </a:lnTo>
                  <a:cubicBezTo>
                    <a:pt x="5034" y="1967"/>
                    <a:pt x="4865" y="1902"/>
                    <a:pt x="4697" y="1902"/>
                  </a:cubicBezTo>
                  <a:cubicBezTo>
                    <a:pt x="4528" y="1902"/>
                    <a:pt x="4360" y="1967"/>
                    <a:pt x="4231" y="2095"/>
                  </a:cubicBezTo>
                  <a:lnTo>
                    <a:pt x="2095" y="4232"/>
                  </a:lnTo>
                  <a:cubicBezTo>
                    <a:pt x="1837" y="4489"/>
                    <a:pt x="1837" y="4906"/>
                    <a:pt x="2095" y="5162"/>
                  </a:cubicBezTo>
                  <a:lnTo>
                    <a:pt x="3339" y="6405"/>
                  </a:lnTo>
                  <a:cubicBezTo>
                    <a:pt x="2929" y="7100"/>
                    <a:pt x="2618" y="7849"/>
                    <a:pt x="2417" y="8630"/>
                  </a:cubicBezTo>
                  <a:lnTo>
                    <a:pt x="658" y="8630"/>
                  </a:lnTo>
                  <a:cubicBezTo>
                    <a:pt x="294" y="8630"/>
                    <a:pt x="0" y="8924"/>
                    <a:pt x="0" y="9289"/>
                  </a:cubicBezTo>
                  <a:lnTo>
                    <a:pt x="0" y="12311"/>
                  </a:lnTo>
                  <a:cubicBezTo>
                    <a:pt x="0" y="12675"/>
                    <a:pt x="294" y="12970"/>
                    <a:pt x="658" y="12970"/>
                  </a:cubicBezTo>
                  <a:lnTo>
                    <a:pt x="2417" y="12970"/>
                  </a:lnTo>
                  <a:cubicBezTo>
                    <a:pt x="2618" y="13751"/>
                    <a:pt x="2928" y="14500"/>
                    <a:pt x="3339" y="15194"/>
                  </a:cubicBezTo>
                  <a:lnTo>
                    <a:pt x="2095" y="16437"/>
                  </a:lnTo>
                  <a:cubicBezTo>
                    <a:pt x="1837" y="16695"/>
                    <a:pt x="1837" y="17111"/>
                    <a:pt x="2095" y="17369"/>
                  </a:cubicBezTo>
                  <a:lnTo>
                    <a:pt x="4231" y="19506"/>
                  </a:lnTo>
                  <a:cubicBezTo>
                    <a:pt x="4360" y="19634"/>
                    <a:pt x="4528" y="19699"/>
                    <a:pt x="4697" y="19699"/>
                  </a:cubicBezTo>
                  <a:cubicBezTo>
                    <a:pt x="4865" y="19699"/>
                    <a:pt x="5034" y="19634"/>
                    <a:pt x="5162" y="19506"/>
                  </a:cubicBezTo>
                  <a:lnTo>
                    <a:pt x="6406" y="18262"/>
                  </a:lnTo>
                  <a:cubicBezTo>
                    <a:pt x="7101" y="18671"/>
                    <a:pt x="7850" y="18981"/>
                    <a:pt x="8631" y="19184"/>
                  </a:cubicBezTo>
                  <a:lnTo>
                    <a:pt x="8631" y="20943"/>
                  </a:lnTo>
                  <a:cubicBezTo>
                    <a:pt x="8631" y="21305"/>
                    <a:pt x="8925" y="21600"/>
                    <a:pt x="9289" y="21600"/>
                  </a:cubicBezTo>
                  <a:lnTo>
                    <a:pt x="12312" y="21600"/>
                  </a:lnTo>
                  <a:cubicBezTo>
                    <a:pt x="12674" y="21600"/>
                    <a:pt x="12968" y="21305"/>
                    <a:pt x="12968" y="20943"/>
                  </a:cubicBezTo>
                  <a:lnTo>
                    <a:pt x="12968" y="19184"/>
                  </a:lnTo>
                  <a:cubicBezTo>
                    <a:pt x="13751" y="18981"/>
                    <a:pt x="14498" y="18671"/>
                    <a:pt x="15193" y="18262"/>
                  </a:cubicBezTo>
                  <a:lnTo>
                    <a:pt x="16437" y="19505"/>
                  </a:lnTo>
                  <a:cubicBezTo>
                    <a:pt x="16566" y="19633"/>
                    <a:pt x="16734" y="19698"/>
                    <a:pt x="16903" y="19698"/>
                  </a:cubicBezTo>
                  <a:cubicBezTo>
                    <a:pt x="17071" y="19698"/>
                    <a:pt x="17240" y="19633"/>
                    <a:pt x="17368" y="19505"/>
                  </a:cubicBezTo>
                  <a:lnTo>
                    <a:pt x="19505" y="17368"/>
                  </a:lnTo>
                  <a:cubicBezTo>
                    <a:pt x="19762" y="17111"/>
                    <a:pt x="19762" y="16694"/>
                    <a:pt x="19505" y="16437"/>
                  </a:cubicBezTo>
                  <a:lnTo>
                    <a:pt x="18262" y="15194"/>
                  </a:lnTo>
                  <a:cubicBezTo>
                    <a:pt x="18672" y="14500"/>
                    <a:pt x="18981" y="13751"/>
                    <a:pt x="19182" y="12970"/>
                  </a:cubicBezTo>
                  <a:lnTo>
                    <a:pt x="20942" y="12970"/>
                  </a:lnTo>
                  <a:cubicBezTo>
                    <a:pt x="21306" y="12970"/>
                    <a:pt x="21600" y="12675"/>
                    <a:pt x="21600" y="12311"/>
                  </a:cubicBezTo>
                  <a:lnTo>
                    <a:pt x="21600" y="9290"/>
                  </a:lnTo>
                  <a:cubicBezTo>
                    <a:pt x="21600" y="8927"/>
                    <a:pt x="21307" y="8632"/>
                    <a:pt x="20945" y="8632"/>
                  </a:cubicBezTo>
                  <a:cubicBezTo>
                    <a:pt x="20944" y="8632"/>
                    <a:pt x="20943" y="8632"/>
                    <a:pt x="20942" y="8632"/>
                  </a:cubicBezTo>
                  <a:lnTo>
                    <a:pt x="19182" y="8632"/>
                  </a:lnTo>
                  <a:cubicBezTo>
                    <a:pt x="18981" y="7849"/>
                    <a:pt x="18672" y="7102"/>
                    <a:pt x="18262" y="6407"/>
                  </a:cubicBezTo>
                  <a:lnTo>
                    <a:pt x="19505" y="5162"/>
                  </a:lnTo>
                  <a:cubicBezTo>
                    <a:pt x="19762" y="4906"/>
                    <a:pt x="19762" y="4489"/>
                    <a:pt x="19505" y="4232"/>
                  </a:cubicBezTo>
                  <a:lnTo>
                    <a:pt x="17368" y="2095"/>
                  </a:lnTo>
                  <a:cubicBezTo>
                    <a:pt x="17240" y="1967"/>
                    <a:pt x="17071" y="1902"/>
                    <a:pt x="16903" y="1902"/>
                  </a:cubicBezTo>
                  <a:cubicBezTo>
                    <a:pt x="16734" y="1902"/>
                    <a:pt x="16566" y="1967"/>
                    <a:pt x="16437" y="2095"/>
                  </a:cubicBezTo>
                  <a:lnTo>
                    <a:pt x="15193" y="3340"/>
                  </a:lnTo>
                  <a:cubicBezTo>
                    <a:pt x="14498" y="2929"/>
                    <a:pt x="13751" y="2619"/>
                    <a:pt x="12968" y="2418"/>
                  </a:cubicBezTo>
                  <a:lnTo>
                    <a:pt x="12968" y="658"/>
                  </a:lnTo>
                  <a:cubicBezTo>
                    <a:pt x="12968" y="294"/>
                    <a:pt x="12674" y="0"/>
                    <a:pt x="12312" y="0"/>
                  </a:cubicBezTo>
                  <a:close/>
                </a:path>
              </a:pathLst>
            </a:custGeom>
            <a:solidFill>
              <a:srgbClr val="ABBC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7" name="Google Shape;12290;p107"/>
            <p:cNvSpPr/>
            <p:nvPr/>
          </p:nvSpPr>
          <p:spPr>
            <a:xfrm>
              <a:off x="683182" y="61844"/>
              <a:ext cx="252482" cy="252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4292"/>
                  </a:moveTo>
                  <a:cubicBezTo>
                    <a:pt x="14394" y="4292"/>
                    <a:pt x="17308" y="7206"/>
                    <a:pt x="17308" y="10800"/>
                  </a:cubicBezTo>
                  <a:cubicBezTo>
                    <a:pt x="17308" y="14395"/>
                    <a:pt x="14394" y="17308"/>
                    <a:pt x="10800" y="17308"/>
                  </a:cubicBezTo>
                  <a:lnTo>
                    <a:pt x="10800" y="17308"/>
                  </a:lnTo>
                  <a:cubicBezTo>
                    <a:pt x="7205" y="17308"/>
                    <a:pt x="4292" y="14395"/>
                    <a:pt x="4292" y="10800"/>
                  </a:cubicBezTo>
                  <a:cubicBezTo>
                    <a:pt x="4292" y="7206"/>
                    <a:pt x="7205" y="4292"/>
                    <a:pt x="10800" y="4292"/>
                  </a:cubicBezTo>
                  <a:close/>
                  <a:moveTo>
                    <a:pt x="9289" y="0"/>
                  </a:moveTo>
                  <a:cubicBezTo>
                    <a:pt x="8925" y="0"/>
                    <a:pt x="8631" y="294"/>
                    <a:pt x="8631" y="658"/>
                  </a:cubicBezTo>
                  <a:lnTo>
                    <a:pt x="8631" y="2418"/>
                  </a:lnTo>
                  <a:cubicBezTo>
                    <a:pt x="7850" y="2619"/>
                    <a:pt x="7101" y="2929"/>
                    <a:pt x="6406" y="3338"/>
                  </a:cubicBezTo>
                  <a:lnTo>
                    <a:pt x="5162" y="2095"/>
                  </a:lnTo>
                  <a:cubicBezTo>
                    <a:pt x="5034" y="1967"/>
                    <a:pt x="4865" y="1902"/>
                    <a:pt x="4697" y="1902"/>
                  </a:cubicBezTo>
                  <a:cubicBezTo>
                    <a:pt x="4528" y="1902"/>
                    <a:pt x="4360" y="1967"/>
                    <a:pt x="4231" y="2095"/>
                  </a:cubicBezTo>
                  <a:lnTo>
                    <a:pt x="2095" y="4232"/>
                  </a:lnTo>
                  <a:cubicBezTo>
                    <a:pt x="1837" y="4489"/>
                    <a:pt x="1837" y="4906"/>
                    <a:pt x="2095" y="5162"/>
                  </a:cubicBezTo>
                  <a:lnTo>
                    <a:pt x="3339" y="6405"/>
                  </a:lnTo>
                  <a:cubicBezTo>
                    <a:pt x="2929" y="7100"/>
                    <a:pt x="2618" y="7849"/>
                    <a:pt x="2417" y="8630"/>
                  </a:cubicBezTo>
                  <a:lnTo>
                    <a:pt x="658" y="8630"/>
                  </a:lnTo>
                  <a:cubicBezTo>
                    <a:pt x="294" y="8630"/>
                    <a:pt x="0" y="8924"/>
                    <a:pt x="0" y="9289"/>
                  </a:cubicBezTo>
                  <a:lnTo>
                    <a:pt x="0" y="12311"/>
                  </a:lnTo>
                  <a:cubicBezTo>
                    <a:pt x="0" y="12675"/>
                    <a:pt x="294" y="12970"/>
                    <a:pt x="658" y="12970"/>
                  </a:cubicBezTo>
                  <a:lnTo>
                    <a:pt x="2417" y="12970"/>
                  </a:lnTo>
                  <a:cubicBezTo>
                    <a:pt x="2618" y="13751"/>
                    <a:pt x="2928" y="14500"/>
                    <a:pt x="3339" y="15194"/>
                  </a:cubicBezTo>
                  <a:lnTo>
                    <a:pt x="2095" y="16437"/>
                  </a:lnTo>
                  <a:cubicBezTo>
                    <a:pt x="1837" y="16695"/>
                    <a:pt x="1837" y="17111"/>
                    <a:pt x="2095" y="17369"/>
                  </a:cubicBezTo>
                  <a:lnTo>
                    <a:pt x="4231" y="19506"/>
                  </a:lnTo>
                  <a:cubicBezTo>
                    <a:pt x="4360" y="19634"/>
                    <a:pt x="4528" y="19699"/>
                    <a:pt x="4697" y="19699"/>
                  </a:cubicBezTo>
                  <a:cubicBezTo>
                    <a:pt x="4865" y="19699"/>
                    <a:pt x="5034" y="19634"/>
                    <a:pt x="5162" y="19506"/>
                  </a:cubicBezTo>
                  <a:lnTo>
                    <a:pt x="6406" y="18262"/>
                  </a:lnTo>
                  <a:cubicBezTo>
                    <a:pt x="7101" y="18671"/>
                    <a:pt x="7850" y="18981"/>
                    <a:pt x="8631" y="19184"/>
                  </a:cubicBezTo>
                  <a:lnTo>
                    <a:pt x="8631" y="20943"/>
                  </a:lnTo>
                  <a:cubicBezTo>
                    <a:pt x="8631" y="21305"/>
                    <a:pt x="8925" y="21600"/>
                    <a:pt x="9289" y="21600"/>
                  </a:cubicBezTo>
                  <a:lnTo>
                    <a:pt x="12312" y="21600"/>
                  </a:lnTo>
                  <a:cubicBezTo>
                    <a:pt x="12674" y="21600"/>
                    <a:pt x="12968" y="21305"/>
                    <a:pt x="12968" y="20943"/>
                  </a:cubicBezTo>
                  <a:lnTo>
                    <a:pt x="12968" y="19184"/>
                  </a:lnTo>
                  <a:cubicBezTo>
                    <a:pt x="13751" y="18981"/>
                    <a:pt x="14498" y="18671"/>
                    <a:pt x="15193" y="18262"/>
                  </a:cubicBezTo>
                  <a:lnTo>
                    <a:pt x="16437" y="19505"/>
                  </a:lnTo>
                  <a:cubicBezTo>
                    <a:pt x="16566" y="19633"/>
                    <a:pt x="16734" y="19698"/>
                    <a:pt x="16903" y="19698"/>
                  </a:cubicBezTo>
                  <a:cubicBezTo>
                    <a:pt x="17071" y="19698"/>
                    <a:pt x="17240" y="19633"/>
                    <a:pt x="17368" y="19505"/>
                  </a:cubicBezTo>
                  <a:lnTo>
                    <a:pt x="19505" y="17368"/>
                  </a:lnTo>
                  <a:cubicBezTo>
                    <a:pt x="19762" y="17111"/>
                    <a:pt x="19762" y="16694"/>
                    <a:pt x="19505" y="16437"/>
                  </a:cubicBezTo>
                  <a:lnTo>
                    <a:pt x="18262" y="15194"/>
                  </a:lnTo>
                  <a:cubicBezTo>
                    <a:pt x="18672" y="14500"/>
                    <a:pt x="18981" y="13751"/>
                    <a:pt x="19182" y="12970"/>
                  </a:cubicBezTo>
                  <a:lnTo>
                    <a:pt x="20942" y="12970"/>
                  </a:lnTo>
                  <a:cubicBezTo>
                    <a:pt x="21306" y="12970"/>
                    <a:pt x="21600" y="12675"/>
                    <a:pt x="21600" y="12311"/>
                  </a:cubicBezTo>
                  <a:lnTo>
                    <a:pt x="21600" y="9290"/>
                  </a:lnTo>
                  <a:cubicBezTo>
                    <a:pt x="21600" y="8927"/>
                    <a:pt x="21307" y="8632"/>
                    <a:pt x="20945" y="8632"/>
                  </a:cubicBezTo>
                  <a:cubicBezTo>
                    <a:pt x="20944" y="8632"/>
                    <a:pt x="20943" y="8632"/>
                    <a:pt x="20942" y="8632"/>
                  </a:cubicBezTo>
                  <a:lnTo>
                    <a:pt x="19182" y="8632"/>
                  </a:lnTo>
                  <a:cubicBezTo>
                    <a:pt x="18981" y="7849"/>
                    <a:pt x="18672" y="7102"/>
                    <a:pt x="18262" y="6407"/>
                  </a:cubicBezTo>
                  <a:lnTo>
                    <a:pt x="19505" y="5162"/>
                  </a:lnTo>
                  <a:cubicBezTo>
                    <a:pt x="19762" y="4906"/>
                    <a:pt x="19762" y="4489"/>
                    <a:pt x="19505" y="4232"/>
                  </a:cubicBezTo>
                  <a:lnTo>
                    <a:pt x="17368" y="2095"/>
                  </a:lnTo>
                  <a:cubicBezTo>
                    <a:pt x="17240" y="1967"/>
                    <a:pt x="17071" y="1902"/>
                    <a:pt x="16903" y="1902"/>
                  </a:cubicBezTo>
                  <a:cubicBezTo>
                    <a:pt x="16734" y="1902"/>
                    <a:pt x="16566" y="1967"/>
                    <a:pt x="16437" y="2095"/>
                  </a:cubicBezTo>
                  <a:lnTo>
                    <a:pt x="15193" y="3340"/>
                  </a:lnTo>
                  <a:cubicBezTo>
                    <a:pt x="14498" y="2929"/>
                    <a:pt x="13751" y="2619"/>
                    <a:pt x="12968" y="2418"/>
                  </a:cubicBezTo>
                  <a:lnTo>
                    <a:pt x="12968" y="658"/>
                  </a:lnTo>
                  <a:cubicBezTo>
                    <a:pt x="12968" y="294"/>
                    <a:pt x="12674" y="0"/>
                    <a:pt x="12312" y="0"/>
                  </a:cubicBezTo>
                  <a:close/>
                </a:path>
              </a:pathLst>
            </a:custGeom>
            <a:solidFill>
              <a:srgbClr val="ABBC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8" name="Google Shape;12291;p107"/>
            <p:cNvSpPr/>
            <p:nvPr/>
          </p:nvSpPr>
          <p:spPr>
            <a:xfrm>
              <a:off x="1001188" y="27414"/>
              <a:ext cx="252482" cy="2525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4292"/>
                  </a:moveTo>
                  <a:cubicBezTo>
                    <a:pt x="14394" y="4292"/>
                    <a:pt x="17308" y="7206"/>
                    <a:pt x="17308" y="10800"/>
                  </a:cubicBezTo>
                  <a:cubicBezTo>
                    <a:pt x="17308" y="14395"/>
                    <a:pt x="14394" y="17308"/>
                    <a:pt x="10800" y="17308"/>
                  </a:cubicBezTo>
                  <a:lnTo>
                    <a:pt x="10800" y="17308"/>
                  </a:lnTo>
                  <a:cubicBezTo>
                    <a:pt x="7205" y="17308"/>
                    <a:pt x="4292" y="14395"/>
                    <a:pt x="4292" y="10800"/>
                  </a:cubicBezTo>
                  <a:cubicBezTo>
                    <a:pt x="4292" y="7206"/>
                    <a:pt x="7205" y="4292"/>
                    <a:pt x="10800" y="4292"/>
                  </a:cubicBezTo>
                  <a:close/>
                  <a:moveTo>
                    <a:pt x="9289" y="0"/>
                  </a:moveTo>
                  <a:cubicBezTo>
                    <a:pt x="8925" y="0"/>
                    <a:pt x="8631" y="294"/>
                    <a:pt x="8631" y="658"/>
                  </a:cubicBezTo>
                  <a:lnTo>
                    <a:pt x="8631" y="2418"/>
                  </a:lnTo>
                  <a:cubicBezTo>
                    <a:pt x="7850" y="2619"/>
                    <a:pt x="7101" y="2929"/>
                    <a:pt x="6406" y="3338"/>
                  </a:cubicBezTo>
                  <a:lnTo>
                    <a:pt x="5162" y="2095"/>
                  </a:lnTo>
                  <a:cubicBezTo>
                    <a:pt x="5034" y="1967"/>
                    <a:pt x="4865" y="1902"/>
                    <a:pt x="4697" y="1902"/>
                  </a:cubicBezTo>
                  <a:cubicBezTo>
                    <a:pt x="4528" y="1902"/>
                    <a:pt x="4360" y="1967"/>
                    <a:pt x="4231" y="2095"/>
                  </a:cubicBezTo>
                  <a:lnTo>
                    <a:pt x="2095" y="4232"/>
                  </a:lnTo>
                  <a:cubicBezTo>
                    <a:pt x="1837" y="4489"/>
                    <a:pt x="1837" y="4906"/>
                    <a:pt x="2095" y="5162"/>
                  </a:cubicBezTo>
                  <a:lnTo>
                    <a:pt x="3339" y="6405"/>
                  </a:lnTo>
                  <a:cubicBezTo>
                    <a:pt x="2929" y="7100"/>
                    <a:pt x="2618" y="7849"/>
                    <a:pt x="2417" y="8630"/>
                  </a:cubicBezTo>
                  <a:lnTo>
                    <a:pt x="658" y="8630"/>
                  </a:lnTo>
                  <a:cubicBezTo>
                    <a:pt x="294" y="8630"/>
                    <a:pt x="0" y="8924"/>
                    <a:pt x="0" y="9289"/>
                  </a:cubicBezTo>
                  <a:lnTo>
                    <a:pt x="0" y="12311"/>
                  </a:lnTo>
                  <a:cubicBezTo>
                    <a:pt x="0" y="12675"/>
                    <a:pt x="294" y="12970"/>
                    <a:pt x="658" y="12970"/>
                  </a:cubicBezTo>
                  <a:lnTo>
                    <a:pt x="2417" y="12970"/>
                  </a:lnTo>
                  <a:cubicBezTo>
                    <a:pt x="2618" y="13751"/>
                    <a:pt x="2928" y="14500"/>
                    <a:pt x="3339" y="15194"/>
                  </a:cubicBezTo>
                  <a:lnTo>
                    <a:pt x="2095" y="16437"/>
                  </a:lnTo>
                  <a:cubicBezTo>
                    <a:pt x="1837" y="16695"/>
                    <a:pt x="1837" y="17111"/>
                    <a:pt x="2095" y="17369"/>
                  </a:cubicBezTo>
                  <a:lnTo>
                    <a:pt x="4231" y="19506"/>
                  </a:lnTo>
                  <a:cubicBezTo>
                    <a:pt x="4360" y="19634"/>
                    <a:pt x="4528" y="19699"/>
                    <a:pt x="4697" y="19699"/>
                  </a:cubicBezTo>
                  <a:cubicBezTo>
                    <a:pt x="4865" y="19699"/>
                    <a:pt x="5034" y="19634"/>
                    <a:pt x="5162" y="19506"/>
                  </a:cubicBezTo>
                  <a:lnTo>
                    <a:pt x="6406" y="18262"/>
                  </a:lnTo>
                  <a:cubicBezTo>
                    <a:pt x="7101" y="18671"/>
                    <a:pt x="7850" y="18981"/>
                    <a:pt x="8631" y="19184"/>
                  </a:cubicBezTo>
                  <a:lnTo>
                    <a:pt x="8631" y="20943"/>
                  </a:lnTo>
                  <a:cubicBezTo>
                    <a:pt x="8631" y="21305"/>
                    <a:pt x="8925" y="21600"/>
                    <a:pt x="9289" y="21600"/>
                  </a:cubicBezTo>
                  <a:lnTo>
                    <a:pt x="12312" y="21600"/>
                  </a:lnTo>
                  <a:cubicBezTo>
                    <a:pt x="12674" y="21600"/>
                    <a:pt x="12968" y="21305"/>
                    <a:pt x="12968" y="20943"/>
                  </a:cubicBezTo>
                  <a:lnTo>
                    <a:pt x="12968" y="19184"/>
                  </a:lnTo>
                  <a:cubicBezTo>
                    <a:pt x="13751" y="18981"/>
                    <a:pt x="14498" y="18671"/>
                    <a:pt x="15193" y="18262"/>
                  </a:cubicBezTo>
                  <a:lnTo>
                    <a:pt x="16437" y="19505"/>
                  </a:lnTo>
                  <a:cubicBezTo>
                    <a:pt x="16566" y="19633"/>
                    <a:pt x="16734" y="19698"/>
                    <a:pt x="16903" y="19698"/>
                  </a:cubicBezTo>
                  <a:cubicBezTo>
                    <a:pt x="17071" y="19698"/>
                    <a:pt x="17240" y="19633"/>
                    <a:pt x="17368" y="19505"/>
                  </a:cubicBezTo>
                  <a:lnTo>
                    <a:pt x="19505" y="17368"/>
                  </a:lnTo>
                  <a:cubicBezTo>
                    <a:pt x="19762" y="17111"/>
                    <a:pt x="19762" y="16694"/>
                    <a:pt x="19505" y="16437"/>
                  </a:cubicBezTo>
                  <a:lnTo>
                    <a:pt x="18262" y="15194"/>
                  </a:lnTo>
                  <a:cubicBezTo>
                    <a:pt x="18672" y="14500"/>
                    <a:pt x="18981" y="13751"/>
                    <a:pt x="19182" y="12970"/>
                  </a:cubicBezTo>
                  <a:lnTo>
                    <a:pt x="20942" y="12970"/>
                  </a:lnTo>
                  <a:cubicBezTo>
                    <a:pt x="21306" y="12970"/>
                    <a:pt x="21600" y="12675"/>
                    <a:pt x="21600" y="12311"/>
                  </a:cubicBezTo>
                  <a:lnTo>
                    <a:pt x="21600" y="9290"/>
                  </a:lnTo>
                  <a:cubicBezTo>
                    <a:pt x="21600" y="8927"/>
                    <a:pt x="21307" y="8632"/>
                    <a:pt x="20945" y="8632"/>
                  </a:cubicBezTo>
                  <a:cubicBezTo>
                    <a:pt x="20944" y="8632"/>
                    <a:pt x="20943" y="8632"/>
                    <a:pt x="20942" y="8632"/>
                  </a:cubicBezTo>
                  <a:lnTo>
                    <a:pt x="19182" y="8632"/>
                  </a:lnTo>
                  <a:cubicBezTo>
                    <a:pt x="18981" y="7849"/>
                    <a:pt x="18672" y="7102"/>
                    <a:pt x="18262" y="6407"/>
                  </a:cubicBezTo>
                  <a:lnTo>
                    <a:pt x="19505" y="5162"/>
                  </a:lnTo>
                  <a:cubicBezTo>
                    <a:pt x="19762" y="4906"/>
                    <a:pt x="19762" y="4489"/>
                    <a:pt x="19505" y="4232"/>
                  </a:cubicBezTo>
                  <a:lnTo>
                    <a:pt x="17368" y="2095"/>
                  </a:lnTo>
                  <a:cubicBezTo>
                    <a:pt x="17240" y="1967"/>
                    <a:pt x="17071" y="1902"/>
                    <a:pt x="16903" y="1902"/>
                  </a:cubicBezTo>
                  <a:cubicBezTo>
                    <a:pt x="16734" y="1902"/>
                    <a:pt x="16566" y="1967"/>
                    <a:pt x="16437" y="2095"/>
                  </a:cubicBezTo>
                  <a:lnTo>
                    <a:pt x="15193" y="3340"/>
                  </a:lnTo>
                  <a:cubicBezTo>
                    <a:pt x="14498" y="2929"/>
                    <a:pt x="13751" y="2619"/>
                    <a:pt x="12968" y="2418"/>
                  </a:cubicBezTo>
                  <a:lnTo>
                    <a:pt x="12968" y="658"/>
                  </a:lnTo>
                  <a:cubicBezTo>
                    <a:pt x="12968" y="294"/>
                    <a:pt x="12674" y="0"/>
                    <a:pt x="12312" y="0"/>
                  </a:cubicBezTo>
                  <a:close/>
                </a:path>
              </a:pathLst>
            </a:custGeom>
            <a:solidFill>
              <a:srgbClr val="ABBC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29" name="Google Shape;12292;p107"/>
            <p:cNvSpPr/>
            <p:nvPr/>
          </p:nvSpPr>
          <p:spPr>
            <a:xfrm>
              <a:off x="1321138" y="61844"/>
              <a:ext cx="252482" cy="252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4292"/>
                  </a:moveTo>
                  <a:cubicBezTo>
                    <a:pt x="14394" y="4292"/>
                    <a:pt x="17308" y="7206"/>
                    <a:pt x="17308" y="10800"/>
                  </a:cubicBezTo>
                  <a:cubicBezTo>
                    <a:pt x="17308" y="14395"/>
                    <a:pt x="14394" y="17308"/>
                    <a:pt x="10800" y="17308"/>
                  </a:cubicBezTo>
                  <a:lnTo>
                    <a:pt x="10800" y="17308"/>
                  </a:lnTo>
                  <a:cubicBezTo>
                    <a:pt x="7205" y="17308"/>
                    <a:pt x="4292" y="14395"/>
                    <a:pt x="4292" y="10800"/>
                  </a:cubicBezTo>
                  <a:cubicBezTo>
                    <a:pt x="4292" y="7206"/>
                    <a:pt x="7205" y="4292"/>
                    <a:pt x="10800" y="4292"/>
                  </a:cubicBezTo>
                  <a:close/>
                  <a:moveTo>
                    <a:pt x="9289" y="0"/>
                  </a:moveTo>
                  <a:cubicBezTo>
                    <a:pt x="8925" y="0"/>
                    <a:pt x="8631" y="294"/>
                    <a:pt x="8631" y="658"/>
                  </a:cubicBezTo>
                  <a:lnTo>
                    <a:pt x="8631" y="2418"/>
                  </a:lnTo>
                  <a:cubicBezTo>
                    <a:pt x="7850" y="2619"/>
                    <a:pt x="7101" y="2929"/>
                    <a:pt x="6406" y="3338"/>
                  </a:cubicBezTo>
                  <a:lnTo>
                    <a:pt x="5162" y="2095"/>
                  </a:lnTo>
                  <a:cubicBezTo>
                    <a:pt x="5034" y="1967"/>
                    <a:pt x="4865" y="1902"/>
                    <a:pt x="4697" y="1902"/>
                  </a:cubicBezTo>
                  <a:cubicBezTo>
                    <a:pt x="4528" y="1902"/>
                    <a:pt x="4360" y="1967"/>
                    <a:pt x="4231" y="2095"/>
                  </a:cubicBezTo>
                  <a:lnTo>
                    <a:pt x="2095" y="4232"/>
                  </a:lnTo>
                  <a:cubicBezTo>
                    <a:pt x="1837" y="4489"/>
                    <a:pt x="1837" y="4906"/>
                    <a:pt x="2095" y="5162"/>
                  </a:cubicBezTo>
                  <a:lnTo>
                    <a:pt x="3339" y="6405"/>
                  </a:lnTo>
                  <a:cubicBezTo>
                    <a:pt x="2929" y="7100"/>
                    <a:pt x="2618" y="7849"/>
                    <a:pt x="2417" y="8630"/>
                  </a:cubicBezTo>
                  <a:lnTo>
                    <a:pt x="658" y="8630"/>
                  </a:lnTo>
                  <a:cubicBezTo>
                    <a:pt x="294" y="8630"/>
                    <a:pt x="0" y="8924"/>
                    <a:pt x="0" y="9289"/>
                  </a:cubicBezTo>
                  <a:lnTo>
                    <a:pt x="0" y="12311"/>
                  </a:lnTo>
                  <a:cubicBezTo>
                    <a:pt x="0" y="12675"/>
                    <a:pt x="294" y="12970"/>
                    <a:pt x="658" y="12970"/>
                  </a:cubicBezTo>
                  <a:lnTo>
                    <a:pt x="2417" y="12970"/>
                  </a:lnTo>
                  <a:cubicBezTo>
                    <a:pt x="2618" y="13751"/>
                    <a:pt x="2928" y="14500"/>
                    <a:pt x="3339" y="15194"/>
                  </a:cubicBezTo>
                  <a:lnTo>
                    <a:pt x="2095" y="16437"/>
                  </a:lnTo>
                  <a:cubicBezTo>
                    <a:pt x="1837" y="16695"/>
                    <a:pt x="1837" y="17111"/>
                    <a:pt x="2095" y="17369"/>
                  </a:cubicBezTo>
                  <a:lnTo>
                    <a:pt x="4231" y="19506"/>
                  </a:lnTo>
                  <a:cubicBezTo>
                    <a:pt x="4360" y="19634"/>
                    <a:pt x="4528" y="19699"/>
                    <a:pt x="4697" y="19699"/>
                  </a:cubicBezTo>
                  <a:cubicBezTo>
                    <a:pt x="4865" y="19699"/>
                    <a:pt x="5034" y="19634"/>
                    <a:pt x="5162" y="19506"/>
                  </a:cubicBezTo>
                  <a:lnTo>
                    <a:pt x="6406" y="18262"/>
                  </a:lnTo>
                  <a:cubicBezTo>
                    <a:pt x="7101" y="18671"/>
                    <a:pt x="7850" y="18981"/>
                    <a:pt x="8631" y="19184"/>
                  </a:cubicBezTo>
                  <a:lnTo>
                    <a:pt x="8631" y="20943"/>
                  </a:lnTo>
                  <a:cubicBezTo>
                    <a:pt x="8631" y="21305"/>
                    <a:pt x="8925" y="21600"/>
                    <a:pt x="9289" y="21600"/>
                  </a:cubicBezTo>
                  <a:lnTo>
                    <a:pt x="12312" y="21600"/>
                  </a:lnTo>
                  <a:cubicBezTo>
                    <a:pt x="12674" y="21600"/>
                    <a:pt x="12968" y="21305"/>
                    <a:pt x="12968" y="20943"/>
                  </a:cubicBezTo>
                  <a:lnTo>
                    <a:pt x="12968" y="19184"/>
                  </a:lnTo>
                  <a:cubicBezTo>
                    <a:pt x="13751" y="18981"/>
                    <a:pt x="14498" y="18671"/>
                    <a:pt x="15193" y="18262"/>
                  </a:cubicBezTo>
                  <a:lnTo>
                    <a:pt x="16437" y="19505"/>
                  </a:lnTo>
                  <a:cubicBezTo>
                    <a:pt x="16566" y="19633"/>
                    <a:pt x="16734" y="19698"/>
                    <a:pt x="16903" y="19698"/>
                  </a:cubicBezTo>
                  <a:cubicBezTo>
                    <a:pt x="17071" y="19698"/>
                    <a:pt x="17240" y="19633"/>
                    <a:pt x="17368" y="19505"/>
                  </a:cubicBezTo>
                  <a:lnTo>
                    <a:pt x="19505" y="17368"/>
                  </a:lnTo>
                  <a:cubicBezTo>
                    <a:pt x="19762" y="17111"/>
                    <a:pt x="19762" y="16694"/>
                    <a:pt x="19505" y="16437"/>
                  </a:cubicBezTo>
                  <a:lnTo>
                    <a:pt x="18262" y="15194"/>
                  </a:lnTo>
                  <a:cubicBezTo>
                    <a:pt x="18672" y="14500"/>
                    <a:pt x="18981" y="13751"/>
                    <a:pt x="19182" y="12970"/>
                  </a:cubicBezTo>
                  <a:lnTo>
                    <a:pt x="20942" y="12970"/>
                  </a:lnTo>
                  <a:cubicBezTo>
                    <a:pt x="21306" y="12970"/>
                    <a:pt x="21600" y="12675"/>
                    <a:pt x="21600" y="12311"/>
                  </a:cubicBezTo>
                  <a:lnTo>
                    <a:pt x="21600" y="9290"/>
                  </a:lnTo>
                  <a:cubicBezTo>
                    <a:pt x="21600" y="8927"/>
                    <a:pt x="21307" y="8632"/>
                    <a:pt x="20945" y="8632"/>
                  </a:cubicBezTo>
                  <a:cubicBezTo>
                    <a:pt x="20944" y="8632"/>
                    <a:pt x="20943" y="8632"/>
                    <a:pt x="20942" y="8632"/>
                  </a:cubicBezTo>
                  <a:lnTo>
                    <a:pt x="19182" y="8632"/>
                  </a:lnTo>
                  <a:cubicBezTo>
                    <a:pt x="18981" y="7849"/>
                    <a:pt x="18672" y="7102"/>
                    <a:pt x="18262" y="6407"/>
                  </a:cubicBezTo>
                  <a:lnTo>
                    <a:pt x="19505" y="5162"/>
                  </a:lnTo>
                  <a:cubicBezTo>
                    <a:pt x="19762" y="4906"/>
                    <a:pt x="19762" y="4489"/>
                    <a:pt x="19505" y="4232"/>
                  </a:cubicBezTo>
                  <a:lnTo>
                    <a:pt x="17368" y="2095"/>
                  </a:lnTo>
                  <a:cubicBezTo>
                    <a:pt x="17240" y="1967"/>
                    <a:pt x="17071" y="1902"/>
                    <a:pt x="16903" y="1902"/>
                  </a:cubicBezTo>
                  <a:cubicBezTo>
                    <a:pt x="16734" y="1902"/>
                    <a:pt x="16566" y="1967"/>
                    <a:pt x="16437" y="2095"/>
                  </a:cubicBezTo>
                  <a:lnTo>
                    <a:pt x="15193" y="3340"/>
                  </a:lnTo>
                  <a:cubicBezTo>
                    <a:pt x="14498" y="2929"/>
                    <a:pt x="13751" y="2619"/>
                    <a:pt x="12968" y="2418"/>
                  </a:cubicBezTo>
                  <a:lnTo>
                    <a:pt x="12968" y="658"/>
                  </a:lnTo>
                  <a:cubicBezTo>
                    <a:pt x="12968" y="294"/>
                    <a:pt x="12674" y="0"/>
                    <a:pt x="12312" y="0"/>
                  </a:cubicBezTo>
                  <a:close/>
                </a:path>
              </a:pathLst>
            </a:custGeom>
            <a:solidFill>
              <a:srgbClr val="ABBCC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40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